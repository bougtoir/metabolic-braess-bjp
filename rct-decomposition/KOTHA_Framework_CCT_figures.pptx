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frame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2866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1. Overview of the KOTHA Framework. Module K (Counterfactual Power Simulation) quantifies risk-profile shift and estimates power under counterfactual enrollment scenarios. Module T (Bayesian Evidence Integration) combines RCT and observational evidence using power-prior discounting. Module H (Guideline Interpreter) synthesizes outputs into a structured GRADE-compatible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risk_profi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51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2. Risk-profile shift in the magnesium-in-AMI case. (A) Control-group mortality rates over time, with bubble size proportional to study sample size and colors indicating era. (B) Weighted mean control mortality by 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32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3. Estimated power by enrollment scenario and true effect size. (A) Magnesium in AMI at the ISIS-4 sample size (N = 58,050). (B) Statins in HF at the combined RCT sample size (N = 9,585). S1 = real-world/observational event rate; S2 = RCT event rate; S3 = intermediate/enriched rate. Horizontal dashed lines indicate 80%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forest_plot_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108998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4. Forest plot for magnesium in AMI. Individual study odds ratios are shown with 95% confidence intervals, color-coded by era. Pooled estimates include frequentist random-effects (pre-ISIS-4 and all trials) and Bayesian integrated estimates at selected discounting levels (α = 0.3, 0.5, 1.0).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tsa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6198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5. Trial sequential analysis for magnesium in AMI. The cumulative Z-curve is plotted against cumulative events. Vertical dashed line indicates the optimal information size (OIS). Curved lines show O'Brien-Fleming monitoring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6</a:t>
            </a:r>
          </a:p>
        </p:txBody>
      </p:sp>
      <p:pic>
        <p:nvPicPr>
          <p:cNvPr id="3" name="Picture 2" descr="fig6_forest_stat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9050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6. Forest plot for statins in heart failure. Individual study hazard ratios are shown with 95% confidence intervals, grouped by design. Pooled estimates include design-specific frequentist pooling and KOTHA-integrated estimates at selected discounting levels (α = 0.1, 0.3, 0.5).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7</a:t>
            </a:r>
          </a:p>
        </p:txBody>
      </p:sp>
      <p:pic>
        <p:nvPicPr>
          <p:cNvPr id="3" name="Picture 2" descr="fig7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51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7. Sensitivity analysis of Bayesian integration to the discounting parameter α. (A) Magnesium in AMI. (B) Statins in HF. Three posterior probability thresholds are shown: P(effect &lt; 1.0), P(effect &lt; 0.90), and P(effect &lt; 0.80). Horizontal dashed line indicates 95%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8</a:t>
            </a:r>
          </a:p>
        </p:txBody>
      </p:sp>
      <p:pic>
        <p:nvPicPr>
          <p:cNvPr id="3" name="Picture 2" descr="fig8_module_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5596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8. Module H assessment comparison: standard GRADE vs. KOTHA-enhanced evaluation for both illustrative cases. Color coding indicates severity of concern (green = no concern, yellow = moderate, red = serious).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