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1. Two universal pathways under scrutiny</a:t>
            </a:r>
          </a:p>
        </p:txBody>
      </p:sp>
      <p:pic>
        <p:nvPicPr>
          <p:cNvPr id="3" name="Picture 2" descr="fig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212" y="960120"/>
            <a:ext cx="6089271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(A) Country fertility-transition onsets span ~185 years; the pooled change point (95% CI 1946-1969) is a summary of asynchronous transitions. (B) Aligning each country at its own onset collapses the between-country spread of lambda (3.4x variance reduction). (C) Under event alignment only the Phase I conserved quantity tightens; Phase II does not. (D) Within single countries, regions at nearly identical e0 scatter off the 'universal' curve.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Panel A. Transition onsets span ~185 years</a:t>
            </a:r>
          </a:p>
        </p:txBody>
      </p:sp>
      <p:pic>
        <p:nvPicPr>
          <p:cNvPr id="3" name="Picture 2" descr="panel_A_o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07" y="960120"/>
            <a:ext cx="60222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Distribution of country-specific fertility-transition onset years (Gapminder, n=185). Red band: bootstrap 95% CI of the single pooled calendar change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Panel B. Event alignment collapses the spread</a:t>
            </a:r>
          </a:p>
        </p:txBody>
      </p:sp>
      <p:pic>
        <p:nvPicPr>
          <p:cNvPr id="3" name="Picture 2" descr="panel_B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54" y="960120"/>
            <a:ext cx="603078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Between-country SD of the crude birth rate around the alignment point, in calendar time (1950) versus event time (each country's onset).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Panel C. Asymmetric universality of the two pathways</a:t>
            </a:r>
          </a:p>
        </p:txBody>
      </p:sp>
      <p:pic>
        <p:nvPicPr>
          <p:cNvPr id="3" name="Picture 2" descr="panel_C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54" y="960120"/>
            <a:ext cx="603078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Coefficient of variation of the two conserved quantities within the paper's fitting windows, comparing the calendar split with event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Panel D. Sub-national heterogeneity</a:t>
            </a:r>
          </a:p>
        </p:txBody>
      </p:sp>
      <p:pic>
        <p:nvPicPr>
          <p:cNvPr id="3" name="Picture 2" descr="panel_D_sub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54" y="960120"/>
            <a:ext cx="603078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Region-level crude birth rate versus life expectancy (2019) for five decentralised states, against the fitted national Phase II isocline.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5. Time-axis rescaling does not create universality</a:t>
            </a:r>
          </a:p>
        </p:txBody>
      </p:sp>
      <p:pic>
        <p:nvPicPr>
          <p:cNvPr id="3" name="Picture 2" descr="fig_time_re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60120"/>
            <a:ext cx="10972800" cy="45483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Left: crude birth rate versus years since each country's transition onset. Right: versus duration-normalised time s=(t-onset)/D. Rescaling the time axis does not shrink the raw between-country spread of lambda beyond onset alignment; only the amplitude-normalised shape collapses, and the relationship at matched e0 is invariant to any monotone time warp.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