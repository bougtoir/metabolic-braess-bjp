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none">
            <a:spAutoFit/>
          </a:bodyPr>
          <a:lstStyle/>
          <a:p>
            <a:r>
              <a:rPr sz="2200" b="1"/>
              <a:t>Fig</a:t>
            </a:r>
          </a:p>
        </p:txBody>
      </p:sp>
      <p:pic>
        <p:nvPicPr>
          <p:cNvPr id="3" name="Picture 2" descr="fig1_method.png"/>
          <p:cNvPicPr>
            <a:picLocks noChangeAspect="1"/>
          </p:cNvPicPr>
          <p:nvPr/>
        </p:nvPicPr>
        <p:blipFill>
          <a:blip r:embed="rId2"/>
          <a:stretch>
            <a:fillRect/>
          </a:stretch>
        </p:blipFill>
        <p:spPr>
          <a:xfrm>
            <a:off x="1115398" y="822960"/>
            <a:ext cx="9960899" cy="4572000"/>
          </a:xfrm>
          <a:prstGeom prst="rect">
            <a:avLst/>
          </a:prstGeom>
        </p:spPr>
      </p:pic>
      <p:sp>
        <p:nvSpPr>
          <p:cNvPr id="4" name="TextBox 3"/>
          <p:cNvSpPr txBox="1"/>
          <p:nvPr/>
        </p:nvSpPr>
        <p:spPr>
          <a:xfrm>
            <a:off x="365760" y="5486400"/>
            <a:ext cx="11430000" cy="1188719"/>
          </a:xfrm>
          <a:prstGeom prst="rect">
            <a:avLst/>
          </a:prstGeom>
          <a:noFill/>
        </p:spPr>
        <p:txBody>
          <a:bodyPr wrap="square">
            <a:spAutoFit/>
          </a:bodyPr>
          <a:lstStyle/>
          <a:p>
            <a:r>
              <a:rPr sz="1100"/>
              <a:t>Fig. 1. Event-driven Poisson likelihood-ratio detector. Each event is scored from the estimated background rate of its neighbourhood and the number of events that arrived in that neighbourhood during the preceding window W, which is stated as an expected background count k rather than a fixed number of milliseconds; the tail probability is used directly as the noise probability. Blue boxes: what the stream itself delivers without labels, the operating point at a requested false-alarm rate, a window W that carries across sensor models and can set the time constant of another filter, and a per-event cost without a voxel grid.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none">
            <a:spAutoFit/>
          </a:bodyPr>
          <a:lstStyle/>
          <a:p>
            <a:r>
              <a:rPr sz="2200" b="1"/>
              <a:t>Fig</a:t>
            </a:r>
          </a:p>
        </p:txBody>
      </p:sp>
      <p:pic>
        <p:nvPicPr>
          <p:cNvPr id="3" name="Picture 2" descr="fig2_methods_auc.png"/>
          <p:cNvPicPr>
            <a:picLocks noChangeAspect="1"/>
          </p:cNvPicPr>
          <p:nvPr/>
        </p:nvPicPr>
        <p:blipFill>
          <a:blip r:embed="rId2"/>
          <a:stretch>
            <a:fillRect/>
          </a:stretch>
        </p:blipFill>
        <p:spPr>
          <a:xfrm>
            <a:off x="3420883" y="822960"/>
            <a:ext cx="5349929" cy="4572000"/>
          </a:xfrm>
          <a:prstGeom prst="rect">
            <a:avLst/>
          </a:prstGeom>
        </p:spPr>
      </p:pic>
      <p:sp>
        <p:nvSpPr>
          <p:cNvPr id="4" name="TextBox 3"/>
          <p:cNvSpPr txBox="1"/>
          <p:nvPr/>
        </p:nvSpPr>
        <p:spPr>
          <a:xfrm>
            <a:off x="365760" y="5486400"/>
            <a:ext cx="11430000" cy="1188719"/>
          </a:xfrm>
          <a:prstGeom prst="rect">
            <a:avLst/>
          </a:prstGeom>
          <a:noFill/>
        </p:spPr>
        <p:txBody>
          <a:bodyPr wrap="square">
            <a:spAutoFit/>
          </a:bodyPr>
          <a:lstStyle/>
          <a:p>
            <a:r>
              <a:rPr sz="1100"/>
              <a:t>Fig. 2. Mean ROC-AUC with SD over the 43 EBSSA recordings for all methods in Table 1. Bars: configuration tuned on labels by grouped cross-validation (supervised networks: trained). Open circles: the same method at one fixed configuration chosen without labels (published default; deployment configuration of the proposal), where one exists. Dashed line: the proposed rate-adaptive detector without labels; dotted line: chance. Colours group the proposed method, published unsupervised event filters, event-driven ablations, frame-based and label-free learned ablations, and supervised networks.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none">
            <a:spAutoFit/>
          </a:bodyPr>
          <a:lstStyle/>
          <a:p>
            <a:r>
              <a:rPr sz="2200" b="1"/>
              <a:t>Fig</a:t>
            </a:r>
          </a:p>
        </p:txBody>
      </p:sp>
      <p:pic>
        <p:nvPicPr>
          <p:cNvPr id="3" name="Picture 2" descr="fig3_paired.png"/>
          <p:cNvPicPr>
            <a:picLocks noChangeAspect="1"/>
          </p:cNvPicPr>
          <p:nvPr/>
        </p:nvPicPr>
        <p:blipFill>
          <a:blip r:embed="rId2"/>
          <a:stretch>
            <a:fillRect/>
          </a:stretch>
        </p:blipFill>
        <p:spPr>
          <a:xfrm>
            <a:off x="3913917" y="822960"/>
            <a:ext cx="4363859" cy="4572000"/>
          </a:xfrm>
          <a:prstGeom prst="rect">
            <a:avLst/>
          </a:prstGeom>
        </p:spPr>
      </p:pic>
      <p:sp>
        <p:nvSpPr>
          <p:cNvPr id="4" name="TextBox 3"/>
          <p:cNvSpPr txBox="1"/>
          <p:nvPr/>
        </p:nvSpPr>
        <p:spPr>
          <a:xfrm>
            <a:off x="365760" y="5486400"/>
            <a:ext cx="11430000" cy="1188719"/>
          </a:xfrm>
          <a:prstGeom prst="rect">
            <a:avLst/>
          </a:prstGeom>
          <a:noFill/>
        </p:spPr>
        <p:txBody>
          <a:bodyPr wrap="square">
            <a:spAutoFit/>
          </a:bodyPr>
          <a:lstStyle/>
          <a:p>
            <a:r>
              <a:rPr sz="1100"/>
              <a:t>Fig. 3. Per-recording ROC-AUC of the proposed detector against (a) the event bilateral filter, (b) YNoise, (c) its voxelised, frame-based form and (d) the supervised MLPF-style network. Circles: 180 x 240-pixel sensor; squares: 240 x 304-pixel sensor. Points above the diagonal favour the proposed detector. ΔAUC and Holm-adjusted p refer to the paired Wilcoxon test over 43 recordings.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none">
            <a:spAutoFit/>
          </a:bodyPr>
          <a:lstStyle/>
          <a:p>
            <a:r>
              <a:rPr sz="2200" b="1"/>
              <a:t>Fig</a:t>
            </a:r>
          </a:p>
        </p:txBody>
      </p:sp>
      <p:pic>
        <p:nvPicPr>
          <p:cNvPr id="3" name="Picture 2" descr="fig5_calibration.png"/>
          <p:cNvPicPr>
            <a:picLocks noChangeAspect="1"/>
          </p:cNvPicPr>
          <p:nvPr/>
        </p:nvPicPr>
        <p:blipFill>
          <a:blip r:embed="rId2"/>
          <a:stretch>
            <a:fillRect/>
          </a:stretch>
        </p:blipFill>
        <p:spPr>
          <a:xfrm>
            <a:off x="380847" y="822960"/>
            <a:ext cx="11430000" cy="4487474"/>
          </a:xfrm>
          <a:prstGeom prst="rect">
            <a:avLst/>
          </a:prstGeom>
        </p:spPr>
      </p:pic>
      <p:sp>
        <p:nvSpPr>
          <p:cNvPr id="4" name="TextBox 3"/>
          <p:cNvSpPr txBox="1"/>
          <p:nvPr/>
        </p:nvSpPr>
        <p:spPr>
          <a:xfrm>
            <a:off x="365760" y="5401874"/>
            <a:ext cx="11430000" cy="1273245"/>
          </a:xfrm>
          <a:prstGeom prst="rect">
            <a:avLst/>
          </a:prstGeom>
          <a:noFill/>
        </p:spPr>
        <p:txBody>
          <a:bodyPr wrap="square">
            <a:spAutoFit/>
          </a:bodyPr>
          <a:lstStyle/>
          <a:p>
            <a:r>
              <a:rPr sz="1100"/>
              <a:t>Fig. 4. Self-calibrated operating points and low-false-positive performance on EBSSA. (a) Median achieved false-positive rate on background events against the requested budget α when each score is cut at its own α-quantile (Eq. (5)); dotted line: ideal calibration. (b) Median detection rate of object events at the same budgets. (c) Standardised partial AUC below false-positive rates of 0.01 and 0.001 (0.5 is chance).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none">
            <a:spAutoFit/>
          </a:bodyPr>
          <a:lstStyle/>
          <a:p>
            <a:r>
              <a:rPr sz="2200" b="1"/>
              <a:t>Fig</a:t>
            </a:r>
          </a:p>
        </p:txBody>
      </p:sp>
      <p:pic>
        <p:nvPicPr>
          <p:cNvPr id="3" name="Picture 2" descr="fig6_zero_knowledge.png"/>
          <p:cNvPicPr>
            <a:picLocks noChangeAspect="1"/>
          </p:cNvPicPr>
          <p:nvPr/>
        </p:nvPicPr>
        <p:blipFill>
          <a:blip r:embed="rId2"/>
          <a:stretch>
            <a:fillRect/>
          </a:stretch>
        </p:blipFill>
        <p:spPr>
          <a:xfrm>
            <a:off x="1025354" y="822960"/>
            <a:ext cx="10140986" cy="4572000"/>
          </a:xfrm>
          <a:prstGeom prst="rect">
            <a:avLst/>
          </a:prstGeom>
        </p:spPr>
      </p:pic>
      <p:sp>
        <p:nvSpPr>
          <p:cNvPr id="4" name="TextBox 3"/>
          <p:cNvSpPr txBox="1"/>
          <p:nvPr/>
        </p:nvSpPr>
        <p:spPr>
          <a:xfrm>
            <a:off x="365760" y="5486400"/>
            <a:ext cx="11430000" cy="1188719"/>
          </a:xfrm>
          <a:prstGeom prst="rect">
            <a:avLst/>
          </a:prstGeom>
          <a:noFill/>
        </p:spPr>
        <p:txBody>
          <a:bodyPr wrap="square">
            <a:spAutoFit/>
          </a:bodyPr>
          <a:lstStyle/>
          <a:p>
            <a:r>
              <a:rPr sz="1100"/>
              <a:t>Fig. 5. Zero-knowledge deployment on EBSSA. (a) Mean AUC (red) and median fraction of saturated scores (grey) of the rate-adaptive proposal against the dimensionless window k on the two sensor models; dotted line: deployment value. (b) AUC lost when the configuration selected on one sensor is applied to the other. (c) Median achieved false-positive rate on the target sensor with a threshold carried over from the other sensor (dashed) and recalibrated on the target stream without labels (solid); dotted line: ideal calibration.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none">
            <a:spAutoFit/>
          </a:bodyPr>
          <a:lstStyle/>
          <a:p>
            <a:r>
              <a:rPr sz="2200" b="1"/>
              <a:t>Fig</a:t>
            </a:r>
          </a:p>
        </p:txBody>
      </p:sp>
      <p:pic>
        <p:nvPicPr>
          <p:cNvPr id="3" name="Picture 2" descr="fig7_hybrid.png"/>
          <p:cNvPicPr>
            <a:picLocks noChangeAspect="1"/>
          </p:cNvPicPr>
          <p:nvPr/>
        </p:nvPicPr>
        <p:blipFill>
          <a:blip r:embed="rId2"/>
          <a:stretch>
            <a:fillRect/>
          </a:stretch>
        </p:blipFill>
        <p:spPr>
          <a:xfrm>
            <a:off x="647944" y="822960"/>
            <a:ext cx="10895807" cy="4572000"/>
          </a:xfrm>
          <a:prstGeom prst="rect">
            <a:avLst/>
          </a:prstGeom>
        </p:spPr>
      </p:pic>
      <p:sp>
        <p:nvSpPr>
          <p:cNvPr id="4" name="TextBox 3"/>
          <p:cNvSpPr txBox="1"/>
          <p:nvPr/>
        </p:nvSpPr>
        <p:spPr>
          <a:xfrm>
            <a:off x="365760" y="5486400"/>
            <a:ext cx="11430000" cy="1188719"/>
          </a:xfrm>
          <a:prstGeom prst="rect">
            <a:avLst/>
          </a:prstGeom>
          <a:noFill/>
        </p:spPr>
        <p:txBody>
          <a:bodyPr wrap="square">
            <a:spAutoFit/>
          </a:bodyPr>
          <a:lstStyle/>
          <a:p>
            <a:r>
              <a:rPr sz="1100"/>
              <a:t>Fig. 6. Parameter hand-over and two-stage cascade on EBSSA. (a) Mean AUC of the zero-knowledge proposal, of YNoise at its published default and of YNoise with dt set to the rate-adaptive window W handed over from the proposal, pooled and per sensor model; dotted line: YNoise with label-tuned cross-validation (Table 1). (b) Mean AUC of the two-stage score against the fraction of the stream passed by stage 1, with stage 2 parameterised by the hand-over, the published default and a pseudo-label choice; dashed line: stage 1 alone; black squares (right axis): median stage-2 time relative to YNoise on the whole stream.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none">
            <a:spAutoFit/>
          </a:bodyPr>
          <a:lstStyle/>
          <a:p>
            <a:r>
              <a:rPr sz="2200" b="1"/>
              <a:t>Fig</a:t>
            </a:r>
          </a:p>
        </p:txBody>
      </p:sp>
      <p:pic>
        <p:nvPicPr>
          <p:cNvPr id="3" name="Picture 2" descr="fig9_dnd21.png"/>
          <p:cNvPicPr>
            <a:picLocks noChangeAspect="1"/>
          </p:cNvPicPr>
          <p:nvPr/>
        </p:nvPicPr>
        <p:blipFill>
          <a:blip r:embed="rId2"/>
          <a:stretch>
            <a:fillRect/>
          </a:stretch>
        </p:blipFill>
        <p:spPr>
          <a:xfrm>
            <a:off x="2257092" y="822960"/>
            <a:ext cx="7677509" cy="4572000"/>
          </a:xfrm>
          <a:prstGeom prst="rect">
            <a:avLst/>
          </a:prstGeom>
        </p:spPr>
      </p:pic>
      <p:sp>
        <p:nvSpPr>
          <p:cNvPr id="4" name="TextBox 3"/>
          <p:cNvSpPr txBox="1"/>
          <p:nvPr/>
        </p:nvSpPr>
        <p:spPr>
          <a:xfrm>
            <a:off x="365760" y="5486400"/>
            <a:ext cx="11430000" cy="1188719"/>
          </a:xfrm>
          <a:prstGeom prst="rect">
            <a:avLst/>
          </a:prstGeom>
          <a:noFill/>
        </p:spPr>
        <p:txBody>
          <a:bodyPr wrap="square">
            <a:spAutoFit/>
          </a:bodyPr>
          <a:lstStyle/>
          <a:p>
            <a:r>
              <a:rPr sz="1100"/>
              <a:t>Fig. 7. DND21 evaluation on 80 mixtures recorded with a third sensor (DAVIS346). (a) Mean ROC-AUC with SD for every configuration of Table 4, grouped by how the parameters were obtained: without labels or tuning on DND21, by nested leave-one-scene-out selection, or by supervised training on the other scenes. (b) Mean AUC with SD of the label-free path (zero-knowledge proposal, YNoise at its default, YNoise with the handed-over window) against the measured-noise condition; the nominal per-pixel rate of the thinned dark recording is given, and "light (native)" is the unthinned recording under uniform illumination.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none">
            <a:spAutoFit/>
          </a:bodyPr>
          <a:lstStyle/>
          <a:p>
            <a:r>
              <a:rPr sz="2200" b="1"/>
              <a:t>Fig</a:t>
            </a:r>
          </a:p>
        </p:txBody>
      </p:sp>
      <p:pic>
        <p:nvPicPr>
          <p:cNvPr id="3" name="Picture 2" descr="fig4_sparsity_cost.png"/>
          <p:cNvPicPr>
            <a:picLocks noChangeAspect="1"/>
          </p:cNvPicPr>
          <p:nvPr/>
        </p:nvPicPr>
        <p:blipFill>
          <a:blip r:embed="rId2"/>
          <a:stretch>
            <a:fillRect/>
          </a:stretch>
        </p:blipFill>
        <p:spPr>
          <a:xfrm>
            <a:off x="1080728" y="822960"/>
            <a:ext cx="10030239" cy="4572000"/>
          </a:xfrm>
          <a:prstGeom prst="rect">
            <a:avLst/>
          </a:prstGeom>
        </p:spPr>
      </p:pic>
      <p:sp>
        <p:nvSpPr>
          <p:cNvPr id="4" name="TextBox 3"/>
          <p:cNvSpPr txBox="1"/>
          <p:nvPr/>
        </p:nvSpPr>
        <p:spPr>
          <a:xfrm>
            <a:off x="365760" y="5486400"/>
            <a:ext cx="11430000" cy="1188719"/>
          </a:xfrm>
          <a:prstGeom prst="rect">
            <a:avLst/>
          </a:prstGeom>
          <a:noFill/>
        </p:spPr>
        <p:txBody>
          <a:bodyPr wrap="square">
            <a:spAutoFit/>
          </a:bodyPr>
          <a:lstStyle/>
          <a:p>
            <a:r>
              <a:rPr sz="1100"/>
              <a:t>Fig. S1. Computational cost as the real EBSSA stream is thinned. (a) Wall-clock time per recording and (b) time per event, medians over 3 repeats, against the fraction of events kept (array and recording interval unchanged). Solid lines: event-driven methods; dashed lines: frame- or voxel-based methods. Legend entries give the fitted cost exponent β of Eq. (7).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none">
            <a:spAutoFit/>
          </a:bodyPr>
          <a:lstStyle/>
          <a:p>
            <a:r>
              <a:rPr sz="2200" b="1"/>
              <a:t>Fig</a:t>
            </a:r>
          </a:p>
        </p:txBody>
      </p:sp>
      <p:pic>
        <p:nvPicPr>
          <p:cNvPr id="3" name="Picture 2" descr="fig8_qualitative.png"/>
          <p:cNvPicPr>
            <a:picLocks noChangeAspect="1"/>
          </p:cNvPicPr>
          <p:nvPr/>
        </p:nvPicPr>
        <p:blipFill>
          <a:blip r:embed="rId2"/>
          <a:stretch>
            <a:fillRect/>
          </a:stretch>
        </p:blipFill>
        <p:spPr>
          <a:xfrm>
            <a:off x="380847" y="822960"/>
            <a:ext cx="11430000" cy="4363357"/>
          </a:xfrm>
          <a:prstGeom prst="rect">
            <a:avLst/>
          </a:prstGeom>
        </p:spPr>
      </p:pic>
      <p:sp>
        <p:nvSpPr>
          <p:cNvPr id="4" name="TextBox 3"/>
          <p:cNvSpPr txBox="1"/>
          <p:nvPr/>
        </p:nvSpPr>
        <p:spPr>
          <a:xfrm>
            <a:off x="365760" y="5277757"/>
            <a:ext cx="11430000" cy="1397362"/>
          </a:xfrm>
          <a:prstGeom prst="rect">
            <a:avLst/>
          </a:prstGeom>
          <a:noFill/>
        </p:spPr>
        <p:txBody>
          <a:bodyPr wrap="square">
            <a:spAutoFit/>
          </a:bodyPr>
          <a:lstStyle/>
          <a:p>
            <a:r>
              <a:rPr sz="1100"/>
              <a:t>Fig. S2. The same two EBSSA recordings processed by every stage. Rows: one recording per sensor model (SL8RB_1957_davis_td, canopus_leos_11_26_atis_td), the recording whose stage-1 AUC is closest to the median of that sensor, with its rate-adaptive window W. Columns: all events; events inside the annotated object boxes; events passed at a requested false-alarm rate of 0.01 by the zero-knowledge proposal alone, by YNoise at its published default, by the hand-over (YNoise with dt = W), by the two-stage cascade with f = 0.1, and by the Fano-factor score. Each panel is the per-pixel count of passed events over the analysed interval on a logarithmic grey scale; achieved detection and false-positive rates are given above each panel.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none">
            <a:spAutoFit/>
          </a:bodyPr>
          <a:lstStyle/>
          <a:p>
            <a:r>
              <a:rPr sz="2200" b="1"/>
              <a:t>Graphical abstract</a:t>
            </a:r>
          </a:p>
        </p:txBody>
      </p:sp>
      <p:pic>
        <p:nvPicPr>
          <p:cNvPr id="3" name="Picture 2" descr="graphical_abstract.png"/>
          <p:cNvPicPr>
            <a:picLocks noChangeAspect="1"/>
          </p:cNvPicPr>
          <p:nvPr/>
        </p:nvPicPr>
        <p:blipFill>
          <a:blip r:embed="rId2"/>
          <a:stretch>
            <a:fillRect/>
          </a:stretch>
        </p:blipFill>
        <p:spPr>
          <a:xfrm>
            <a:off x="1979567" y="822960"/>
            <a:ext cx="8232559" cy="4572000"/>
          </a:xfrm>
          <a:prstGeom prst="rect">
            <a:avLst/>
          </a:prstGeom>
        </p:spPr>
      </p:pic>
      <p:sp>
        <p:nvSpPr>
          <p:cNvPr id="4" name="TextBox 3"/>
          <p:cNvSpPr txBox="1"/>
          <p:nvPr/>
        </p:nvSpPr>
        <p:spPr>
          <a:xfrm>
            <a:off x="365760" y="5486400"/>
            <a:ext cx="11430000" cy="1188719"/>
          </a:xfrm>
          <a:prstGeom prst="rect">
            <a:avLst/>
          </a:prstGeom>
          <a:noFill/>
        </p:spPr>
        <p:txBody>
          <a:bodyPr wrap="square">
            <a:spAutoFit/>
          </a:bodyPr>
          <a:lstStyle/>
          <a:p>
            <a:r>
              <a:rPr sz="1100"/>
              <a:t>Graphical abstract. Label-free path of the proposed detector on EBSSA and DND21.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none">
            <a:spAutoFit/>
          </a:bodyPr>
          <a:lstStyle/>
          <a:p>
            <a:r>
              <a:rPr sz="2200" b="1"/>
              <a:t>Table 1</a:t>
            </a:r>
          </a:p>
        </p:txBody>
      </p:sp>
      <p:graphicFrame>
        <p:nvGraphicFramePr>
          <p:cNvPr id="3" name="Table 2"/>
          <p:cNvGraphicFramePr>
            <a:graphicFrameLocks noGrp="1"/>
          </p:cNvGraphicFramePr>
          <p:nvPr/>
        </p:nvGraphicFramePr>
        <p:xfrm>
          <a:off x="365760" y="822960"/>
          <a:ext cx="11430000" cy="4754880"/>
        </p:xfrm>
        <a:graphic>
          <a:graphicData uri="http://schemas.openxmlformats.org/drawingml/2006/table">
            <a:tbl>
              <a:tblPr firstRow="1" bandRow="1">
                <a:tableStyleId>{5C22544A-7EE6-4342-B048-85BDC9FD1C3A}</a:tableStyleId>
              </a:tblPr>
              <a:tblGrid>
                <a:gridCol w="1143000"/>
                <a:gridCol w="1143000"/>
                <a:gridCol w="1143000"/>
                <a:gridCol w="1143000"/>
                <a:gridCol w="1143000"/>
                <a:gridCol w="1143000"/>
                <a:gridCol w="1143000"/>
                <a:gridCol w="1143000"/>
                <a:gridCol w="1143000"/>
                <a:gridCol w="1143000"/>
              </a:tblGrid>
              <a:tr h="226422">
                <a:tc>
                  <a:txBody>
                    <a:bodyPr/>
                    <a:lstStyle/>
                    <a:p>
                      <a:r>
                        <a:rPr sz="700" b="1"/>
                        <a:t>Method</a:t>
                      </a:r>
                    </a:p>
                  </a:txBody>
                  <a:tcPr/>
                </a:tc>
                <a:tc>
                  <a:txBody>
                    <a:bodyPr/>
                    <a:lstStyle/>
                    <a:p>
                      <a:r>
                        <a:rPr sz="700" b="1"/>
                        <a:t>Labels used</a:t>
                      </a:r>
                    </a:p>
                  </a:txBody>
                  <a:tcPr/>
                </a:tc>
                <a:tc>
                  <a:txBody>
                    <a:bodyPr/>
                    <a:lstStyle/>
                    <a:p>
                      <a:r>
                        <a:rPr sz="700" b="1"/>
                        <a:t>AUC (mean ± SD)</a:t>
                      </a:r>
                    </a:p>
                  </a:txBody>
                  <a:tcPr/>
                </a:tc>
                <a:tc>
                  <a:txBody>
                    <a:bodyPr/>
                    <a:lstStyle/>
                    <a:p>
                      <a:r>
                        <a:rPr sz="700" b="1"/>
                        <a:t>AUC, no labels</a:t>
                      </a:r>
                    </a:p>
                  </a:txBody>
                  <a:tcPr/>
                </a:tc>
                <a:tc>
                  <a:txBody>
                    <a:bodyPr/>
                    <a:lstStyle/>
                    <a:p>
                      <a:r>
                        <a:rPr sz="700" b="1"/>
                        <a:t>F1</a:t>
                      </a:r>
                    </a:p>
                  </a:txBody>
                  <a:tcPr/>
                </a:tc>
                <a:tc>
                  <a:txBody>
                    <a:bodyPr/>
                    <a:lstStyle/>
                    <a:p>
                      <a:r>
                        <a:rPr sz="700" b="1"/>
                        <a:t>NRR</a:t>
                      </a:r>
                    </a:p>
                  </a:txBody>
                  <a:tcPr/>
                </a:tc>
                <a:tc>
                  <a:txBody>
                    <a:bodyPr/>
                    <a:lstStyle/>
                    <a:p>
                      <a:r>
                        <a:rPr sz="700" b="1"/>
                        <a:t>SPR</a:t>
                      </a:r>
                    </a:p>
                  </a:txBody>
                  <a:tcPr/>
                </a:tc>
                <a:tc>
                  <a:txBody>
                    <a:bodyPr/>
                    <a:lstStyle/>
                    <a:p>
                      <a:r>
                        <a:rPr sz="700" b="1"/>
                        <a:t>ΔAUC</a:t>
                      </a:r>
                    </a:p>
                  </a:txBody>
                  <a:tcPr/>
                </a:tc>
                <a:tc>
                  <a:txBody>
                    <a:bodyPr/>
                    <a:lstStyle/>
                    <a:p>
                      <a:r>
                        <a:rPr sz="700" b="1"/>
                        <a:t>95% CI</a:t>
                      </a:r>
                    </a:p>
                  </a:txBody>
                  <a:tcPr/>
                </a:tc>
                <a:tc>
                  <a:txBody>
                    <a:bodyPr/>
                    <a:lstStyle/>
                    <a:p>
                      <a:r>
                        <a:rPr sz="700" b="1"/>
                        <a:t>p (Holm)</a:t>
                      </a:r>
                    </a:p>
                  </a:txBody>
                  <a:tcPr/>
                </a:tc>
              </a:tr>
              <a:tr h="226422">
                <a:tc>
                  <a:txBody>
                    <a:bodyPr/>
                    <a:lstStyle/>
                    <a:p>
                      <a:r>
                        <a:rPr sz="700"/>
                        <a:t>Event-driven Poisson LR filter (proposed)</a:t>
                      </a:r>
                    </a:p>
                  </a:txBody>
                  <a:tcPr/>
                </a:tc>
                <a:tc>
                  <a:txBody>
                    <a:bodyPr/>
                    <a:lstStyle/>
                    <a:p>
                      <a:r>
                        <a:rPr sz="700"/>
                        <a:t>tuning</a:t>
                      </a:r>
                    </a:p>
                  </a:txBody>
                  <a:tcPr/>
                </a:tc>
                <a:tc>
                  <a:txBody>
                    <a:bodyPr/>
                    <a:lstStyle/>
                    <a:p>
                      <a:r>
                        <a:rPr sz="700"/>
                        <a:t>0.753 ± 0.157</a:t>
                      </a:r>
                    </a:p>
                  </a:txBody>
                  <a:tcPr/>
                </a:tc>
                <a:tc>
                  <a:txBody>
                    <a:bodyPr/>
                    <a:lstStyle/>
                    <a:p>
                      <a:r>
                        <a:rPr sz="700"/>
                        <a:t>0.754</a:t>
                      </a:r>
                    </a:p>
                  </a:txBody>
                  <a:tcPr/>
                </a:tc>
                <a:tc>
                  <a:txBody>
                    <a:bodyPr/>
                    <a:lstStyle/>
                    <a:p>
                      <a:r>
                        <a:rPr sz="700"/>
                        <a:t>0.204</a:t>
                      </a:r>
                    </a:p>
                  </a:txBody>
                  <a:tcPr/>
                </a:tc>
                <a:tc>
                  <a:txBody>
                    <a:bodyPr/>
                    <a:lstStyle/>
                    <a:p>
                      <a:r>
                        <a:rPr sz="700"/>
                        <a:t>0.979</a:t>
                      </a:r>
                    </a:p>
                  </a:txBody>
                  <a:tcPr/>
                </a:tc>
                <a:tc>
                  <a:txBody>
                    <a:bodyPr/>
                    <a:lstStyle/>
                    <a:p>
                      <a:r>
                        <a:rPr sz="700"/>
                        <a:t>0.269</a:t>
                      </a:r>
                    </a:p>
                  </a:txBody>
                  <a:tcPr/>
                </a:tc>
                <a:tc>
                  <a:txBody>
                    <a:bodyPr/>
                    <a:lstStyle/>
                    <a:p>
                      <a:r>
                        <a:rPr sz="700"/>
                        <a:t>-</a:t>
                      </a:r>
                    </a:p>
                  </a:txBody>
                  <a:tcPr/>
                </a:tc>
                <a:tc>
                  <a:txBody>
                    <a:bodyPr/>
                    <a:lstStyle/>
                    <a:p>
                      <a:r>
                        <a:rPr sz="700"/>
                        <a:t>-</a:t>
                      </a:r>
                    </a:p>
                  </a:txBody>
                  <a:tcPr/>
                </a:tc>
                <a:tc>
                  <a:txBody>
                    <a:bodyPr/>
                    <a:lstStyle/>
                    <a:p>
                      <a:r>
                        <a:rPr sz="700"/>
                        <a:t>-</a:t>
                      </a:r>
                    </a:p>
                  </a:txBody>
                  <a:tcPr/>
                </a:tc>
              </a:tr>
              <a:tr h="226422">
                <a:tc>
                  <a:txBody>
                    <a:bodyPr/>
                    <a:lstStyle/>
                    <a:p>
                      <a:r>
                        <a:rPr sz="700"/>
                        <a:t>Event-driven Poisson LR filter, rate-adaptive window (proposed)</a:t>
                      </a:r>
                    </a:p>
                  </a:txBody>
                  <a:tcPr/>
                </a:tc>
                <a:tc>
                  <a:txBody>
                    <a:bodyPr/>
                    <a:lstStyle/>
                    <a:p>
                      <a:r>
                        <a:rPr sz="700"/>
                        <a:t>tuning</a:t>
                      </a:r>
                    </a:p>
                  </a:txBody>
                  <a:tcPr/>
                </a:tc>
                <a:tc>
                  <a:txBody>
                    <a:bodyPr/>
                    <a:lstStyle/>
                    <a:p>
                      <a:r>
                        <a:rPr sz="700"/>
                        <a:t>0.774 ± 0.175</a:t>
                      </a:r>
                    </a:p>
                  </a:txBody>
                  <a:tcPr/>
                </a:tc>
                <a:tc>
                  <a:txBody>
                    <a:bodyPr/>
                    <a:lstStyle/>
                    <a:p>
                      <a:r>
                        <a:rPr sz="700"/>
                        <a:t>0.781</a:t>
                      </a:r>
                    </a:p>
                  </a:txBody>
                  <a:tcPr/>
                </a:tc>
                <a:tc>
                  <a:txBody>
                    <a:bodyPr/>
                    <a:lstStyle/>
                    <a:p>
                      <a:r>
                        <a:rPr sz="700"/>
                        <a:t>0.205</a:t>
                      </a:r>
                    </a:p>
                  </a:txBody>
                  <a:tcPr/>
                </a:tc>
                <a:tc>
                  <a:txBody>
                    <a:bodyPr/>
                    <a:lstStyle/>
                    <a:p>
                      <a:r>
                        <a:rPr sz="700"/>
                        <a:t>0.990</a:t>
                      </a:r>
                    </a:p>
                  </a:txBody>
                  <a:tcPr/>
                </a:tc>
                <a:tc>
                  <a:txBody>
                    <a:bodyPr/>
                    <a:lstStyle/>
                    <a:p>
                      <a:r>
                        <a:rPr sz="700"/>
                        <a:t>0.211</a:t>
                      </a:r>
                    </a:p>
                  </a:txBody>
                  <a:tcPr/>
                </a:tc>
                <a:tc>
                  <a:txBody>
                    <a:bodyPr/>
                    <a:lstStyle/>
                    <a:p>
                      <a:r>
                        <a:rPr sz="700"/>
                        <a:t>-0.022</a:t>
                      </a:r>
                    </a:p>
                  </a:txBody>
                  <a:tcPr/>
                </a:tc>
                <a:tc>
                  <a:txBody>
                    <a:bodyPr/>
                    <a:lstStyle/>
                    <a:p>
                      <a:r>
                        <a:rPr sz="700"/>
                        <a:t>[-0.044, +0.002]</a:t>
                      </a:r>
                    </a:p>
                  </a:txBody>
                  <a:tcPr/>
                </a:tc>
                <a:tc>
                  <a:txBody>
                    <a:bodyPr/>
                    <a:lstStyle/>
                    <a:p>
                      <a:r>
                        <a:rPr sz="700"/>
                        <a:t>0.041</a:t>
                      </a:r>
                    </a:p>
                  </a:txBody>
                  <a:tcPr/>
                </a:tc>
              </a:tr>
              <a:tr h="226422">
                <a:tc>
                  <a:txBody>
                    <a:bodyPr/>
                    <a:lstStyle/>
                    <a:p>
                      <a:r>
                        <a:rPr sz="700"/>
                        <a:t>Event bilateral filter</a:t>
                      </a:r>
                    </a:p>
                  </a:txBody>
                  <a:tcPr/>
                </a:tc>
                <a:tc>
                  <a:txBody>
                    <a:bodyPr/>
                    <a:lstStyle/>
                    <a:p>
                      <a:r>
                        <a:rPr sz="700"/>
                        <a:t>tuning</a:t>
                      </a:r>
                    </a:p>
                  </a:txBody>
                  <a:tcPr/>
                </a:tc>
                <a:tc>
                  <a:txBody>
                    <a:bodyPr/>
                    <a:lstStyle/>
                    <a:p>
                      <a:r>
                        <a:rPr sz="700"/>
                        <a:t>0.801 ± 0.158</a:t>
                      </a:r>
                    </a:p>
                  </a:txBody>
                  <a:tcPr/>
                </a:tc>
                <a:tc>
                  <a:txBody>
                    <a:bodyPr/>
                    <a:lstStyle/>
                    <a:p>
                      <a:r>
                        <a:rPr sz="700"/>
                        <a:t>0.774</a:t>
                      </a:r>
                    </a:p>
                  </a:txBody>
                  <a:tcPr/>
                </a:tc>
                <a:tc>
                  <a:txBody>
                    <a:bodyPr/>
                    <a:lstStyle/>
                    <a:p>
                      <a:r>
                        <a:rPr sz="700"/>
                        <a:t>0.069</a:t>
                      </a:r>
                    </a:p>
                  </a:txBody>
                  <a:tcPr/>
                </a:tc>
                <a:tc>
                  <a:txBody>
                    <a:bodyPr/>
                    <a:lstStyle/>
                    <a:p>
                      <a:r>
                        <a:rPr sz="700"/>
                        <a:t>0.568</a:t>
                      </a:r>
                    </a:p>
                  </a:txBody>
                  <a:tcPr/>
                </a:tc>
                <a:tc>
                  <a:txBody>
                    <a:bodyPr/>
                    <a:lstStyle/>
                    <a:p>
                      <a:r>
                        <a:rPr sz="700"/>
                        <a:t>0.843</a:t>
                      </a:r>
                    </a:p>
                  </a:txBody>
                  <a:tcPr/>
                </a:tc>
                <a:tc>
                  <a:txBody>
                    <a:bodyPr/>
                    <a:lstStyle/>
                    <a:p>
                      <a:r>
                        <a:rPr sz="700"/>
                        <a:t>-0.049</a:t>
                      </a:r>
                    </a:p>
                  </a:txBody>
                  <a:tcPr/>
                </a:tc>
                <a:tc>
                  <a:txBody>
                    <a:bodyPr/>
                    <a:lstStyle/>
                    <a:p>
                      <a:r>
                        <a:rPr sz="700"/>
                        <a:t>[-0.093, -0.007]</a:t>
                      </a:r>
                    </a:p>
                  </a:txBody>
                  <a:tcPr/>
                </a:tc>
                <a:tc>
                  <a:txBody>
                    <a:bodyPr/>
                    <a:lstStyle/>
                    <a:p>
                      <a:r>
                        <a:rPr sz="700"/>
                        <a:t>0.308</a:t>
                      </a:r>
                    </a:p>
                  </a:txBody>
                  <a:tcPr/>
                </a:tc>
              </a:tr>
              <a:tr h="226422">
                <a:tc>
                  <a:txBody>
                    <a:bodyPr/>
                    <a:lstStyle/>
                    <a:p>
                      <a:r>
                        <a:rPr sz="700"/>
                        <a:t>YNoise</a:t>
                      </a:r>
                    </a:p>
                  </a:txBody>
                  <a:tcPr/>
                </a:tc>
                <a:tc>
                  <a:txBody>
                    <a:bodyPr/>
                    <a:lstStyle/>
                    <a:p>
                      <a:r>
                        <a:rPr sz="700"/>
                        <a:t>tuning</a:t>
                      </a:r>
                    </a:p>
                  </a:txBody>
                  <a:tcPr/>
                </a:tc>
                <a:tc>
                  <a:txBody>
                    <a:bodyPr/>
                    <a:lstStyle/>
                    <a:p>
                      <a:r>
                        <a:rPr sz="700"/>
                        <a:t>0.844 ± 0.124</a:t>
                      </a:r>
                    </a:p>
                  </a:txBody>
                  <a:tcPr/>
                </a:tc>
                <a:tc>
                  <a:txBody>
                    <a:bodyPr/>
                    <a:lstStyle/>
                    <a:p>
                      <a:r>
                        <a:rPr sz="700"/>
                        <a:t>0.738</a:t>
                      </a:r>
                    </a:p>
                  </a:txBody>
                  <a:tcPr/>
                </a:tc>
                <a:tc>
                  <a:txBody>
                    <a:bodyPr/>
                    <a:lstStyle/>
                    <a:p>
                      <a:r>
                        <a:rPr sz="700"/>
                        <a:t>0.075</a:t>
                      </a:r>
                    </a:p>
                  </a:txBody>
                  <a:tcPr/>
                </a:tc>
                <a:tc>
                  <a:txBody>
                    <a:bodyPr/>
                    <a:lstStyle/>
                    <a:p>
                      <a:r>
                        <a:rPr sz="700"/>
                        <a:t>0.631</a:t>
                      </a:r>
                    </a:p>
                  </a:txBody>
                  <a:tcPr/>
                </a:tc>
                <a:tc>
                  <a:txBody>
                    <a:bodyPr/>
                    <a:lstStyle/>
                    <a:p>
                      <a:r>
                        <a:rPr sz="700"/>
                        <a:t>0.823</a:t>
                      </a:r>
                    </a:p>
                  </a:txBody>
                  <a:tcPr/>
                </a:tc>
                <a:tc>
                  <a:txBody>
                    <a:bodyPr/>
                    <a:lstStyle/>
                    <a:p>
                      <a:r>
                        <a:rPr sz="700"/>
                        <a:t>-0.091</a:t>
                      </a:r>
                    </a:p>
                  </a:txBody>
                  <a:tcPr/>
                </a:tc>
                <a:tc>
                  <a:txBody>
                    <a:bodyPr/>
                    <a:lstStyle/>
                    <a:p>
                      <a:r>
                        <a:rPr sz="700"/>
                        <a:t>[-0.123, -0.058]</a:t>
                      </a:r>
                    </a:p>
                  </a:txBody>
                  <a:tcPr/>
                </a:tc>
                <a:tc>
                  <a:txBody>
                    <a:bodyPr/>
                    <a:lstStyle/>
                    <a:p>
                      <a:r>
                        <a:rPr sz="700"/>
                        <a:t>&lt;0.001</a:t>
                      </a:r>
                    </a:p>
                  </a:txBody>
                  <a:tcPr/>
                </a:tc>
              </a:tr>
              <a:tr h="226422">
                <a:tc>
                  <a:txBody>
                    <a:bodyPr/>
                    <a:lstStyle/>
                    <a:p>
                      <a:r>
                        <a:rPr sz="700"/>
                        <a:t>Motion-compensated proxy</a:t>
                      </a:r>
                    </a:p>
                  </a:txBody>
                  <a:tcPr/>
                </a:tc>
                <a:tc>
                  <a:txBody>
                    <a:bodyPr/>
                    <a:lstStyle/>
                    <a:p>
                      <a:r>
                        <a:rPr sz="700"/>
                        <a:t>tuning</a:t>
                      </a:r>
                    </a:p>
                  </a:txBody>
                  <a:tcPr/>
                </a:tc>
                <a:tc>
                  <a:txBody>
                    <a:bodyPr/>
                    <a:lstStyle/>
                    <a:p>
                      <a:r>
                        <a:rPr sz="700"/>
                        <a:t>0.735 ± 0.179</a:t>
                      </a:r>
                    </a:p>
                  </a:txBody>
                  <a:tcPr/>
                </a:tc>
                <a:tc>
                  <a:txBody>
                    <a:bodyPr/>
                    <a:lstStyle/>
                    <a:p>
                      <a:r>
                        <a:rPr sz="700"/>
                        <a:t>-</a:t>
                      </a:r>
                    </a:p>
                  </a:txBody>
                  <a:tcPr/>
                </a:tc>
                <a:tc>
                  <a:txBody>
                    <a:bodyPr/>
                    <a:lstStyle/>
                    <a:p>
                      <a:r>
                        <a:rPr sz="700"/>
                        <a:t>0.064</a:t>
                      </a:r>
                    </a:p>
                  </a:txBody>
                  <a:tcPr/>
                </a:tc>
                <a:tc>
                  <a:txBody>
                    <a:bodyPr/>
                    <a:lstStyle/>
                    <a:p>
                      <a:r>
                        <a:rPr sz="700"/>
                        <a:t>0.561</a:t>
                      </a:r>
                    </a:p>
                  </a:txBody>
                  <a:tcPr/>
                </a:tc>
                <a:tc>
                  <a:txBody>
                    <a:bodyPr/>
                    <a:lstStyle/>
                    <a:p>
                      <a:r>
                        <a:rPr sz="700"/>
                        <a:t>0.773</a:t>
                      </a:r>
                    </a:p>
                  </a:txBody>
                  <a:tcPr/>
                </a:tc>
                <a:tc>
                  <a:txBody>
                    <a:bodyPr/>
                    <a:lstStyle/>
                    <a:p>
                      <a:r>
                        <a:rPr sz="700"/>
                        <a:t>+0.017</a:t>
                      </a:r>
                    </a:p>
                  </a:txBody>
                  <a:tcPr/>
                </a:tc>
                <a:tc>
                  <a:txBody>
                    <a:bodyPr/>
                    <a:lstStyle/>
                    <a:p>
                      <a:r>
                        <a:rPr sz="700"/>
                        <a:t>[-0.034, +0.068]</a:t>
                      </a:r>
                    </a:p>
                  </a:txBody>
                  <a:tcPr/>
                </a:tc>
                <a:tc>
                  <a:txBody>
                    <a:bodyPr/>
                    <a:lstStyle/>
                    <a:p>
                      <a:r>
                        <a:rPr sz="700"/>
                        <a:t>1.000</a:t>
                      </a:r>
                    </a:p>
                  </a:txBody>
                  <a:tcPr/>
                </a:tc>
              </a:tr>
              <a:tr h="226422">
                <a:tc>
                  <a:txBody>
                    <a:bodyPr/>
                    <a:lstStyle/>
                    <a:p>
                      <a:r>
                        <a:rPr sz="700"/>
                        <a:t>Background-activity filter</a:t>
                      </a:r>
                    </a:p>
                  </a:txBody>
                  <a:tcPr/>
                </a:tc>
                <a:tc>
                  <a:txBody>
                    <a:bodyPr/>
                    <a:lstStyle/>
                    <a:p>
                      <a:r>
                        <a:rPr sz="700"/>
                        <a:t>tuning</a:t>
                      </a:r>
                    </a:p>
                  </a:txBody>
                  <a:tcPr/>
                </a:tc>
                <a:tc>
                  <a:txBody>
                    <a:bodyPr/>
                    <a:lstStyle/>
                    <a:p>
                      <a:r>
                        <a:rPr sz="700"/>
                        <a:t>0.693 ± 0.121</a:t>
                      </a:r>
                    </a:p>
                  </a:txBody>
                  <a:tcPr/>
                </a:tc>
                <a:tc>
                  <a:txBody>
                    <a:bodyPr/>
                    <a:lstStyle/>
                    <a:p>
                      <a:r>
                        <a:rPr sz="700"/>
                        <a:t>0.696</a:t>
                      </a:r>
                    </a:p>
                  </a:txBody>
                  <a:tcPr/>
                </a:tc>
                <a:tc>
                  <a:txBody>
                    <a:bodyPr/>
                    <a:lstStyle/>
                    <a:p>
                      <a:r>
                        <a:rPr sz="700"/>
                        <a:t>0.102</a:t>
                      </a:r>
                    </a:p>
                  </a:txBody>
                  <a:tcPr/>
                </a:tc>
                <a:tc>
                  <a:txBody>
                    <a:bodyPr/>
                    <a:lstStyle/>
                    <a:p>
                      <a:r>
                        <a:rPr sz="700"/>
                        <a:t>0.798</a:t>
                      </a:r>
                    </a:p>
                  </a:txBody>
                  <a:tcPr/>
                </a:tc>
                <a:tc>
                  <a:txBody>
                    <a:bodyPr/>
                    <a:lstStyle/>
                    <a:p>
                      <a:r>
                        <a:rPr sz="700"/>
                        <a:t>0.588</a:t>
                      </a:r>
                    </a:p>
                  </a:txBody>
                  <a:tcPr/>
                </a:tc>
                <a:tc>
                  <a:txBody>
                    <a:bodyPr/>
                    <a:lstStyle/>
                    <a:p>
                      <a:r>
                        <a:rPr sz="700"/>
                        <a:t>+0.060</a:t>
                      </a:r>
                    </a:p>
                  </a:txBody>
                  <a:tcPr/>
                </a:tc>
                <a:tc>
                  <a:txBody>
                    <a:bodyPr/>
                    <a:lstStyle/>
                    <a:p>
                      <a:r>
                        <a:rPr sz="700"/>
                        <a:t>[+0.032, +0.086]</a:t>
                      </a:r>
                    </a:p>
                  </a:txBody>
                  <a:tcPr/>
                </a:tc>
                <a:tc>
                  <a:txBody>
                    <a:bodyPr/>
                    <a:lstStyle/>
                    <a:p>
                      <a:r>
                        <a:rPr sz="700"/>
                        <a:t>&lt;0.001</a:t>
                      </a:r>
                    </a:p>
                  </a:txBody>
                  <a:tcPr/>
                </a:tc>
              </a:tr>
              <a:tr h="226422">
                <a:tc>
                  <a:txBody>
                    <a:bodyPr/>
                    <a:lstStyle/>
                    <a:p>
                      <a:r>
                        <a:rPr sz="700"/>
                        <a:t>Double-window filter</a:t>
                      </a:r>
                    </a:p>
                  </a:txBody>
                  <a:tcPr/>
                </a:tc>
                <a:tc>
                  <a:txBody>
                    <a:bodyPr/>
                    <a:lstStyle/>
                    <a:p>
                      <a:r>
                        <a:rPr sz="700"/>
                        <a:t>tuning</a:t>
                      </a:r>
                    </a:p>
                  </a:txBody>
                  <a:tcPr/>
                </a:tc>
                <a:tc>
                  <a:txBody>
                    <a:bodyPr/>
                    <a:lstStyle/>
                    <a:p>
                      <a:r>
                        <a:rPr sz="700"/>
                        <a:t>0.758 ± 0.162</a:t>
                      </a:r>
                    </a:p>
                  </a:txBody>
                  <a:tcPr/>
                </a:tc>
                <a:tc>
                  <a:txBody>
                    <a:bodyPr/>
                    <a:lstStyle/>
                    <a:p>
                      <a:r>
                        <a:rPr sz="700"/>
                        <a:t>0.667</a:t>
                      </a:r>
                    </a:p>
                  </a:txBody>
                  <a:tcPr/>
                </a:tc>
                <a:tc>
                  <a:txBody>
                    <a:bodyPr/>
                    <a:lstStyle/>
                    <a:p>
                      <a:r>
                        <a:rPr sz="700"/>
                        <a:t>0.080</a:t>
                      </a:r>
                    </a:p>
                  </a:txBody>
                  <a:tcPr/>
                </a:tc>
                <a:tc>
                  <a:txBody>
                    <a:bodyPr/>
                    <a:lstStyle/>
                    <a:p>
                      <a:r>
                        <a:rPr sz="700"/>
                        <a:t>0.686</a:t>
                      </a:r>
                    </a:p>
                  </a:txBody>
                  <a:tcPr/>
                </a:tc>
                <a:tc>
                  <a:txBody>
                    <a:bodyPr/>
                    <a:lstStyle/>
                    <a:p>
                      <a:r>
                        <a:rPr sz="700"/>
                        <a:t>0.716</a:t>
                      </a:r>
                    </a:p>
                  </a:txBody>
                  <a:tcPr/>
                </a:tc>
                <a:tc>
                  <a:txBody>
                    <a:bodyPr/>
                    <a:lstStyle/>
                    <a:p>
                      <a:r>
                        <a:rPr sz="700"/>
                        <a:t>-0.006</a:t>
                      </a:r>
                    </a:p>
                  </a:txBody>
                  <a:tcPr/>
                </a:tc>
                <a:tc>
                  <a:txBody>
                    <a:bodyPr/>
                    <a:lstStyle/>
                    <a:p>
                      <a:r>
                        <a:rPr sz="700"/>
                        <a:t>[-0.049, +0.034]</a:t>
                      </a:r>
                    </a:p>
                  </a:txBody>
                  <a:tcPr/>
                </a:tc>
                <a:tc>
                  <a:txBody>
                    <a:bodyPr/>
                    <a:lstStyle/>
                    <a:p>
                      <a:r>
                        <a:rPr sz="700"/>
                        <a:t>1.000</a:t>
                      </a:r>
                    </a:p>
                  </a:txBody>
                  <a:tcPr/>
                </a:tc>
              </a:tr>
              <a:tr h="226422">
                <a:tc>
                  <a:txBody>
                    <a:bodyPr/>
                    <a:lstStyle/>
                    <a:p>
                      <a:r>
                        <a:rPr sz="700"/>
                        <a:t>Nearest-neighbour filter</a:t>
                      </a:r>
                    </a:p>
                  </a:txBody>
                  <a:tcPr/>
                </a:tc>
                <a:tc>
                  <a:txBody>
                    <a:bodyPr/>
                    <a:lstStyle/>
                    <a:p>
                      <a:r>
                        <a:rPr sz="700"/>
                        <a:t>tuning</a:t>
                      </a:r>
                    </a:p>
                  </a:txBody>
                  <a:tcPr/>
                </a:tc>
                <a:tc>
                  <a:txBody>
                    <a:bodyPr/>
                    <a:lstStyle/>
                    <a:p>
                      <a:r>
                        <a:rPr sz="700"/>
                        <a:t>0.655 ± 0.169</a:t>
                      </a:r>
                    </a:p>
                  </a:txBody>
                  <a:tcPr/>
                </a:tc>
                <a:tc>
                  <a:txBody>
                    <a:bodyPr/>
                    <a:lstStyle/>
                    <a:p>
                      <a:r>
                        <a:rPr sz="700"/>
                        <a:t>0.631</a:t>
                      </a:r>
                    </a:p>
                  </a:txBody>
                  <a:tcPr/>
                </a:tc>
                <a:tc>
                  <a:txBody>
                    <a:bodyPr/>
                    <a:lstStyle/>
                    <a:p>
                      <a:r>
                        <a:rPr sz="700"/>
                        <a:t>0.088</a:t>
                      </a:r>
                    </a:p>
                  </a:txBody>
                  <a:tcPr/>
                </a:tc>
                <a:tc>
                  <a:txBody>
                    <a:bodyPr/>
                    <a:lstStyle/>
                    <a:p>
                      <a:r>
                        <a:rPr sz="700"/>
                        <a:t>0.735</a:t>
                      </a:r>
                    </a:p>
                  </a:txBody>
                  <a:tcPr/>
                </a:tc>
                <a:tc>
                  <a:txBody>
                    <a:bodyPr/>
                    <a:lstStyle/>
                    <a:p>
                      <a:r>
                        <a:rPr sz="700"/>
                        <a:t>0.476</a:t>
                      </a:r>
                    </a:p>
                  </a:txBody>
                  <a:tcPr/>
                </a:tc>
                <a:tc>
                  <a:txBody>
                    <a:bodyPr/>
                    <a:lstStyle/>
                    <a:p>
                      <a:r>
                        <a:rPr sz="700"/>
                        <a:t>+0.098</a:t>
                      </a:r>
                    </a:p>
                  </a:txBody>
                  <a:tcPr/>
                </a:tc>
                <a:tc>
                  <a:txBody>
                    <a:bodyPr/>
                    <a:lstStyle/>
                    <a:p>
                      <a:r>
                        <a:rPr sz="700"/>
                        <a:t>[+0.049, +0.147]</a:t>
                      </a:r>
                    </a:p>
                  </a:txBody>
                  <a:tcPr/>
                </a:tc>
                <a:tc>
                  <a:txBody>
                    <a:bodyPr/>
                    <a:lstStyle/>
                    <a:p>
                      <a:r>
                        <a:rPr sz="700"/>
                        <a:t>0.003</a:t>
                      </a:r>
                    </a:p>
                  </a:txBody>
                  <a:tcPr/>
                </a:tc>
              </a:tr>
              <a:tr h="226422">
                <a:tc>
                  <a:txBody>
                    <a:bodyPr/>
                    <a:lstStyle/>
                    <a:p>
                      <a:r>
                        <a:rPr sz="700"/>
                        <a:t>kNoise</a:t>
                      </a:r>
                    </a:p>
                  </a:txBody>
                  <a:tcPr/>
                </a:tc>
                <a:tc>
                  <a:txBody>
                    <a:bodyPr/>
                    <a:lstStyle/>
                    <a:p>
                      <a:r>
                        <a:rPr sz="700"/>
                        <a:t>tuning</a:t>
                      </a:r>
                    </a:p>
                  </a:txBody>
                  <a:tcPr/>
                </a:tc>
                <a:tc>
                  <a:txBody>
                    <a:bodyPr/>
                    <a:lstStyle/>
                    <a:p>
                      <a:r>
                        <a:rPr sz="700"/>
                        <a:t>0.623 ± 0.120</a:t>
                      </a:r>
                    </a:p>
                  </a:txBody>
                  <a:tcPr/>
                </a:tc>
                <a:tc>
                  <a:txBody>
                    <a:bodyPr/>
                    <a:lstStyle/>
                    <a:p>
                      <a:r>
                        <a:rPr sz="700"/>
                        <a:t>0.619</a:t>
                      </a:r>
                    </a:p>
                  </a:txBody>
                  <a:tcPr/>
                </a:tc>
                <a:tc>
                  <a:txBody>
                    <a:bodyPr/>
                    <a:lstStyle/>
                    <a:p>
                      <a:r>
                        <a:rPr sz="700"/>
                        <a:t>0.092</a:t>
                      </a:r>
                    </a:p>
                  </a:txBody>
                  <a:tcPr/>
                </a:tc>
                <a:tc>
                  <a:txBody>
                    <a:bodyPr/>
                    <a:lstStyle/>
                    <a:p>
                      <a:r>
                        <a:rPr sz="700"/>
                        <a:t>0.880</a:t>
                      </a:r>
                    </a:p>
                  </a:txBody>
                  <a:tcPr/>
                </a:tc>
                <a:tc>
                  <a:txBody>
                    <a:bodyPr/>
                    <a:lstStyle/>
                    <a:p>
                      <a:r>
                        <a:rPr sz="700"/>
                        <a:t>0.287</a:t>
                      </a:r>
                    </a:p>
                  </a:txBody>
                  <a:tcPr/>
                </a:tc>
                <a:tc>
                  <a:txBody>
                    <a:bodyPr/>
                    <a:lstStyle/>
                    <a:p>
                      <a:r>
                        <a:rPr sz="700"/>
                        <a:t>+0.130</a:t>
                      </a:r>
                    </a:p>
                  </a:txBody>
                  <a:tcPr/>
                </a:tc>
                <a:tc>
                  <a:txBody>
                    <a:bodyPr/>
                    <a:lstStyle/>
                    <a:p>
                      <a:r>
                        <a:rPr sz="700"/>
                        <a:t>[+0.091, +0.165]</a:t>
                      </a:r>
                    </a:p>
                  </a:txBody>
                  <a:tcPr/>
                </a:tc>
                <a:tc>
                  <a:txBody>
                    <a:bodyPr/>
                    <a:lstStyle/>
                    <a:p>
                      <a:r>
                        <a:rPr sz="700"/>
                        <a:t>&lt;0.001</a:t>
                      </a:r>
                    </a:p>
                  </a:txBody>
                  <a:tcPr/>
                </a:tc>
              </a:tr>
              <a:tr h="226422">
                <a:tc>
                  <a:txBody>
                    <a:bodyPr/>
                    <a:lstStyle/>
                    <a:p>
                      <a:r>
                        <a:rPr sz="700"/>
                        <a:t>Event bilateral filter (event-driven form)</a:t>
                      </a:r>
                    </a:p>
                  </a:txBody>
                  <a:tcPr/>
                </a:tc>
                <a:tc>
                  <a:txBody>
                    <a:bodyPr/>
                    <a:lstStyle/>
                    <a:p>
                      <a:r>
                        <a:rPr sz="700"/>
                        <a:t>tuning</a:t>
                      </a:r>
                    </a:p>
                  </a:txBody>
                  <a:tcPr/>
                </a:tc>
                <a:tc>
                  <a:txBody>
                    <a:bodyPr/>
                    <a:lstStyle/>
                    <a:p>
                      <a:r>
                        <a:rPr sz="700"/>
                        <a:t>0.774 ± 0.184</a:t>
                      </a:r>
                    </a:p>
                  </a:txBody>
                  <a:tcPr/>
                </a:tc>
                <a:tc>
                  <a:txBody>
                    <a:bodyPr/>
                    <a:lstStyle/>
                    <a:p>
                      <a:r>
                        <a:rPr sz="700"/>
                        <a:t>0.728</a:t>
                      </a:r>
                    </a:p>
                  </a:txBody>
                  <a:tcPr/>
                </a:tc>
                <a:tc>
                  <a:txBody>
                    <a:bodyPr/>
                    <a:lstStyle/>
                    <a:p>
                      <a:r>
                        <a:rPr sz="700"/>
                        <a:t>0.060</a:t>
                      </a:r>
                    </a:p>
                  </a:txBody>
                  <a:tcPr/>
                </a:tc>
                <a:tc>
                  <a:txBody>
                    <a:bodyPr/>
                    <a:lstStyle/>
                    <a:p>
                      <a:r>
                        <a:rPr sz="700"/>
                        <a:t>0.513</a:t>
                      </a:r>
                    </a:p>
                  </a:txBody>
                  <a:tcPr/>
                </a:tc>
                <a:tc>
                  <a:txBody>
                    <a:bodyPr/>
                    <a:lstStyle/>
                    <a:p>
                      <a:r>
                        <a:rPr sz="700"/>
                        <a:t>0.816</a:t>
                      </a:r>
                    </a:p>
                  </a:txBody>
                  <a:tcPr/>
                </a:tc>
                <a:tc>
                  <a:txBody>
                    <a:bodyPr/>
                    <a:lstStyle/>
                    <a:p>
                      <a:r>
                        <a:rPr sz="700"/>
                        <a:t>-0.021</a:t>
                      </a:r>
                    </a:p>
                  </a:txBody>
                  <a:tcPr/>
                </a:tc>
                <a:tc>
                  <a:txBody>
                    <a:bodyPr/>
                    <a:lstStyle/>
                    <a:p>
                      <a:r>
                        <a:rPr sz="700"/>
                        <a:t>[-0.071, +0.028]</a:t>
                      </a:r>
                    </a:p>
                  </a:txBody>
                  <a:tcPr/>
                </a:tc>
                <a:tc>
                  <a:txBody>
                    <a:bodyPr/>
                    <a:lstStyle/>
                    <a:p>
                      <a:r>
                        <a:rPr sz="700"/>
                        <a:t>1.000</a:t>
                      </a:r>
                    </a:p>
                  </a:txBody>
                  <a:tcPr/>
                </a:tc>
              </a:tr>
              <a:tr h="226422">
                <a:tc>
                  <a:txBody>
                    <a:bodyPr/>
                    <a:lstStyle/>
                    <a:p>
                      <a:r>
                        <a:rPr sz="700"/>
                        <a:t>kNN point-process test (event-driven)</a:t>
                      </a:r>
                    </a:p>
                  </a:txBody>
                  <a:tcPr/>
                </a:tc>
                <a:tc>
                  <a:txBody>
                    <a:bodyPr/>
                    <a:lstStyle/>
                    <a:p>
                      <a:r>
                        <a:rPr sz="700"/>
                        <a:t>tuning</a:t>
                      </a:r>
                    </a:p>
                  </a:txBody>
                  <a:tcPr/>
                </a:tc>
                <a:tc>
                  <a:txBody>
                    <a:bodyPr/>
                    <a:lstStyle/>
                    <a:p>
                      <a:r>
                        <a:rPr sz="700"/>
                        <a:t>0.694 ± 0.137</a:t>
                      </a:r>
                    </a:p>
                  </a:txBody>
                  <a:tcPr/>
                </a:tc>
                <a:tc>
                  <a:txBody>
                    <a:bodyPr/>
                    <a:lstStyle/>
                    <a:p>
                      <a:r>
                        <a:rPr sz="700"/>
                        <a:t>-</a:t>
                      </a:r>
                    </a:p>
                  </a:txBody>
                  <a:tcPr/>
                </a:tc>
                <a:tc>
                  <a:txBody>
                    <a:bodyPr/>
                    <a:lstStyle/>
                    <a:p>
                      <a:r>
                        <a:rPr sz="700"/>
                        <a:t>0.104</a:t>
                      </a:r>
                    </a:p>
                  </a:txBody>
                  <a:tcPr/>
                </a:tc>
                <a:tc>
                  <a:txBody>
                    <a:bodyPr/>
                    <a:lstStyle/>
                    <a:p>
                      <a:r>
                        <a:rPr sz="700"/>
                        <a:t>0.817</a:t>
                      </a:r>
                    </a:p>
                  </a:txBody>
                  <a:tcPr/>
                </a:tc>
                <a:tc>
                  <a:txBody>
                    <a:bodyPr/>
                    <a:lstStyle/>
                    <a:p>
                      <a:r>
                        <a:rPr sz="700"/>
                        <a:t>0.373</a:t>
                      </a:r>
                    </a:p>
                  </a:txBody>
                  <a:tcPr/>
                </a:tc>
                <a:tc>
                  <a:txBody>
                    <a:bodyPr/>
                    <a:lstStyle/>
                    <a:p>
                      <a:r>
                        <a:rPr sz="700"/>
                        <a:t>+0.059</a:t>
                      </a:r>
                    </a:p>
                  </a:txBody>
                  <a:tcPr/>
                </a:tc>
                <a:tc>
                  <a:txBody>
                    <a:bodyPr/>
                    <a:lstStyle/>
                    <a:p>
                      <a:r>
                        <a:rPr sz="700"/>
                        <a:t>[+0.010, +0.103]</a:t>
                      </a:r>
                    </a:p>
                  </a:txBody>
                  <a:tcPr/>
                </a:tc>
                <a:tc>
                  <a:txBody>
                    <a:bodyPr/>
                    <a:lstStyle/>
                    <a:p>
                      <a:r>
                        <a:rPr sz="700"/>
                        <a:t>0.006</a:t>
                      </a:r>
                    </a:p>
                  </a:txBody>
                  <a:tcPr/>
                </a:tc>
              </a:tr>
              <a:tr h="226422">
                <a:tc>
                  <a:txBody>
                    <a:bodyPr/>
                    <a:lstStyle/>
                    <a:p>
                      <a:r>
                        <a:rPr sz="700"/>
                        <a:t>Gamma waiting-time test (event-driven)</a:t>
                      </a:r>
                    </a:p>
                  </a:txBody>
                  <a:tcPr/>
                </a:tc>
                <a:tc>
                  <a:txBody>
                    <a:bodyPr/>
                    <a:lstStyle/>
                    <a:p>
                      <a:r>
                        <a:rPr sz="700"/>
                        <a:t>tuning</a:t>
                      </a:r>
                    </a:p>
                  </a:txBody>
                  <a:tcPr/>
                </a:tc>
                <a:tc>
                  <a:txBody>
                    <a:bodyPr/>
                    <a:lstStyle/>
                    <a:p>
                      <a:r>
                        <a:rPr sz="700"/>
                        <a:t>0.685 ± 0.147</a:t>
                      </a:r>
                    </a:p>
                  </a:txBody>
                  <a:tcPr/>
                </a:tc>
                <a:tc>
                  <a:txBody>
                    <a:bodyPr/>
                    <a:lstStyle/>
                    <a:p>
                      <a:r>
                        <a:rPr sz="700"/>
                        <a:t>-</a:t>
                      </a:r>
                    </a:p>
                  </a:txBody>
                  <a:tcPr/>
                </a:tc>
                <a:tc>
                  <a:txBody>
                    <a:bodyPr/>
                    <a:lstStyle/>
                    <a:p>
                      <a:r>
                        <a:rPr sz="700"/>
                        <a:t>0.103</a:t>
                      </a:r>
                    </a:p>
                  </a:txBody>
                  <a:tcPr/>
                </a:tc>
                <a:tc>
                  <a:txBody>
                    <a:bodyPr/>
                    <a:lstStyle/>
                    <a:p>
                      <a:r>
                        <a:rPr sz="700"/>
                        <a:t>0.837</a:t>
                      </a:r>
                    </a:p>
                  </a:txBody>
                  <a:tcPr/>
                </a:tc>
                <a:tc>
                  <a:txBody>
                    <a:bodyPr/>
                    <a:lstStyle/>
                    <a:p>
                      <a:r>
                        <a:rPr sz="700"/>
                        <a:t>0.365</a:t>
                      </a:r>
                    </a:p>
                  </a:txBody>
                  <a:tcPr/>
                </a:tc>
                <a:tc>
                  <a:txBody>
                    <a:bodyPr/>
                    <a:lstStyle/>
                    <a:p>
                      <a:r>
                        <a:rPr sz="700"/>
                        <a:t>+0.068</a:t>
                      </a:r>
                    </a:p>
                  </a:txBody>
                  <a:tcPr/>
                </a:tc>
                <a:tc>
                  <a:txBody>
                    <a:bodyPr/>
                    <a:lstStyle/>
                    <a:p>
                      <a:r>
                        <a:rPr sz="700"/>
                        <a:t>[+0.017, +0.113]</a:t>
                      </a:r>
                    </a:p>
                  </a:txBody>
                  <a:tcPr/>
                </a:tc>
                <a:tc>
                  <a:txBody>
                    <a:bodyPr/>
                    <a:lstStyle/>
                    <a:p>
                      <a:r>
                        <a:rPr sz="700"/>
                        <a:t>0.003</a:t>
                      </a:r>
                    </a:p>
                  </a:txBody>
                  <a:tcPr/>
                </a:tc>
              </a:tr>
              <a:tr h="226422">
                <a:tc>
                  <a:txBody>
                    <a:bodyPr/>
                    <a:lstStyle/>
                    <a:p>
                      <a:r>
                        <a:rPr sz="700"/>
                        <a:t>Velocity-adaptive matched filter (event-driven)</a:t>
                      </a:r>
                    </a:p>
                  </a:txBody>
                  <a:tcPr/>
                </a:tc>
                <a:tc>
                  <a:txBody>
                    <a:bodyPr/>
                    <a:lstStyle/>
                    <a:p>
                      <a:r>
                        <a:rPr sz="700"/>
                        <a:t>tuning</a:t>
                      </a:r>
                    </a:p>
                  </a:txBody>
                  <a:tcPr/>
                </a:tc>
                <a:tc>
                  <a:txBody>
                    <a:bodyPr/>
                    <a:lstStyle/>
                    <a:p>
                      <a:r>
                        <a:rPr sz="700"/>
                        <a:t>0.555 ± 0.162</a:t>
                      </a:r>
                    </a:p>
                  </a:txBody>
                  <a:tcPr/>
                </a:tc>
                <a:tc>
                  <a:txBody>
                    <a:bodyPr/>
                    <a:lstStyle/>
                    <a:p>
                      <a:r>
                        <a:rPr sz="700"/>
                        <a:t>-</a:t>
                      </a:r>
                    </a:p>
                  </a:txBody>
                  <a:tcPr/>
                </a:tc>
                <a:tc>
                  <a:txBody>
                    <a:bodyPr/>
                    <a:lstStyle/>
                    <a:p>
                      <a:r>
                        <a:rPr sz="700"/>
                        <a:t>0.031</a:t>
                      </a:r>
                    </a:p>
                  </a:txBody>
                  <a:tcPr/>
                </a:tc>
                <a:tc>
                  <a:txBody>
                    <a:bodyPr/>
                    <a:lstStyle/>
                    <a:p>
                      <a:r>
                        <a:rPr sz="700"/>
                        <a:t>0.391</a:t>
                      </a:r>
                    </a:p>
                  </a:txBody>
                  <a:tcPr/>
                </a:tc>
                <a:tc>
                  <a:txBody>
                    <a:bodyPr/>
                    <a:lstStyle/>
                    <a:p>
                      <a:r>
                        <a:rPr sz="700"/>
                        <a:t>0.628</a:t>
                      </a:r>
                    </a:p>
                  </a:txBody>
                  <a:tcPr/>
                </a:tc>
                <a:tc>
                  <a:txBody>
                    <a:bodyPr/>
                    <a:lstStyle/>
                    <a:p>
                      <a:r>
                        <a:rPr sz="700"/>
                        <a:t>+0.197</a:t>
                      </a:r>
                    </a:p>
                  </a:txBody>
                  <a:tcPr/>
                </a:tc>
                <a:tc>
                  <a:txBody>
                    <a:bodyPr/>
                    <a:lstStyle/>
                    <a:p>
                      <a:r>
                        <a:rPr sz="700"/>
                        <a:t>[+0.131, +0.267]</a:t>
                      </a:r>
                    </a:p>
                  </a:txBody>
                  <a:tcPr/>
                </a:tc>
                <a:tc>
                  <a:txBody>
                    <a:bodyPr/>
                    <a:lstStyle/>
                    <a:p>
                      <a:r>
                        <a:rPr sz="700"/>
                        <a:t>&lt;0.001</a:t>
                      </a:r>
                    </a:p>
                  </a:txBody>
                  <a:tcPr/>
                </a:tc>
              </a:tr>
              <a:tr h="226422">
                <a:tc>
                  <a:txBody>
                    <a:bodyPr/>
                    <a:lstStyle/>
                    <a:p>
                      <a:r>
                        <a:rPr sz="700"/>
                        <a:t>Double-window filter (event-driven form)</a:t>
                      </a:r>
                    </a:p>
                  </a:txBody>
                  <a:tcPr/>
                </a:tc>
                <a:tc>
                  <a:txBody>
                    <a:bodyPr/>
                    <a:lstStyle/>
                    <a:p>
                      <a:r>
                        <a:rPr sz="700"/>
                        <a:t>tuning</a:t>
                      </a:r>
                    </a:p>
                  </a:txBody>
                  <a:tcPr/>
                </a:tc>
                <a:tc>
                  <a:txBody>
                    <a:bodyPr/>
                    <a:lstStyle/>
                    <a:p>
                      <a:r>
                        <a:rPr sz="700"/>
                        <a:t>0.563 ± 0.099</a:t>
                      </a:r>
                    </a:p>
                  </a:txBody>
                  <a:tcPr/>
                </a:tc>
                <a:tc>
                  <a:txBody>
                    <a:bodyPr/>
                    <a:lstStyle/>
                    <a:p>
                      <a:r>
                        <a:rPr sz="700"/>
                        <a:t>0.533</a:t>
                      </a:r>
                    </a:p>
                  </a:txBody>
                  <a:tcPr/>
                </a:tc>
                <a:tc>
                  <a:txBody>
                    <a:bodyPr/>
                    <a:lstStyle/>
                    <a:p>
                      <a:r>
                        <a:rPr sz="700"/>
                        <a:t>0.044</a:t>
                      </a:r>
                    </a:p>
                  </a:txBody>
                  <a:tcPr/>
                </a:tc>
                <a:tc>
                  <a:txBody>
                    <a:bodyPr/>
                    <a:lstStyle/>
                    <a:p>
                      <a:r>
                        <a:rPr sz="700"/>
                        <a:t>0.606</a:t>
                      </a:r>
                    </a:p>
                  </a:txBody>
                  <a:tcPr/>
                </a:tc>
                <a:tc>
                  <a:txBody>
                    <a:bodyPr/>
                    <a:lstStyle/>
                    <a:p>
                      <a:r>
                        <a:rPr sz="700"/>
                        <a:t>0.531</a:t>
                      </a:r>
                    </a:p>
                  </a:txBody>
                  <a:tcPr/>
                </a:tc>
                <a:tc>
                  <a:txBody>
                    <a:bodyPr/>
                    <a:lstStyle/>
                    <a:p>
                      <a:r>
                        <a:rPr sz="700"/>
                        <a:t>+0.190</a:t>
                      </a:r>
                    </a:p>
                  </a:txBody>
                  <a:tcPr/>
                </a:tc>
                <a:tc>
                  <a:txBody>
                    <a:bodyPr/>
                    <a:lstStyle/>
                    <a:p>
                      <a:r>
                        <a:rPr sz="700"/>
                        <a:t>[+0.135, +0.242]</a:t>
                      </a:r>
                    </a:p>
                  </a:txBody>
                  <a:tcPr/>
                </a:tc>
                <a:tc>
                  <a:txBody>
                    <a:bodyPr/>
                    <a:lstStyle/>
                    <a:p>
                      <a:r>
                        <a:rPr sz="700"/>
                        <a:t>&lt;0.001</a:t>
                      </a:r>
                    </a:p>
                  </a:txBody>
                  <a:tcPr/>
                </a:tc>
              </a:tr>
              <a:tr h="226422">
                <a:tc>
                  <a:txBody>
                    <a:bodyPr/>
                    <a:lstStyle/>
                    <a:p>
                      <a:r>
                        <a:rPr sz="700"/>
                        <a:t>Recursive rate tracker (event-driven)</a:t>
                      </a:r>
                    </a:p>
                  </a:txBody>
                  <a:tcPr/>
                </a:tc>
                <a:tc>
                  <a:txBody>
                    <a:bodyPr/>
                    <a:lstStyle/>
                    <a:p>
                      <a:r>
                        <a:rPr sz="700"/>
                        <a:t>tuning</a:t>
                      </a:r>
                    </a:p>
                  </a:txBody>
                  <a:tcPr/>
                </a:tc>
                <a:tc>
                  <a:txBody>
                    <a:bodyPr/>
                    <a:lstStyle/>
                    <a:p>
                      <a:r>
                        <a:rPr sz="700"/>
                        <a:t>0.523 ± 0.157</a:t>
                      </a:r>
                    </a:p>
                  </a:txBody>
                  <a:tcPr/>
                </a:tc>
                <a:tc>
                  <a:txBody>
                    <a:bodyPr/>
                    <a:lstStyle/>
                    <a:p>
                      <a:r>
                        <a:rPr sz="700"/>
                        <a:t>-</a:t>
                      </a:r>
                    </a:p>
                  </a:txBody>
                  <a:tcPr/>
                </a:tc>
                <a:tc>
                  <a:txBody>
                    <a:bodyPr/>
                    <a:lstStyle/>
                    <a:p>
                      <a:r>
                        <a:rPr sz="700"/>
                        <a:t>0.094</a:t>
                      </a:r>
                    </a:p>
                  </a:txBody>
                  <a:tcPr/>
                </a:tc>
                <a:tc>
                  <a:txBody>
                    <a:bodyPr/>
                    <a:lstStyle/>
                    <a:p>
                      <a:r>
                        <a:rPr sz="700"/>
                        <a:t>0.845</a:t>
                      </a:r>
                    </a:p>
                  </a:txBody>
                  <a:tcPr/>
                </a:tc>
                <a:tc>
                  <a:txBody>
                    <a:bodyPr/>
                    <a:lstStyle/>
                    <a:p>
                      <a:r>
                        <a:rPr sz="700"/>
                        <a:t>0.328</a:t>
                      </a:r>
                    </a:p>
                  </a:txBody>
                  <a:tcPr/>
                </a:tc>
                <a:tc>
                  <a:txBody>
                    <a:bodyPr/>
                    <a:lstStyle/>
                    <a:p>
                      <a:r>
                        <a:rPr sz="700"/>
                        <a:t>+0.229</a:t>
                      </a:r>
                    </a:p>
                  </a:txBody>
                  <a:tcPr/>
                </a:tc>
                <a:tc>
                  <a:txBody>
                    <a:bodyPr/>
                    <a:lstStyle/>
                    <a:p>
                      <a:r>
                        <a:rPr sz="700"/>
                        <a:t>[+0.189, +0.267]</a:t>
                      </a:r>
                    </a:p>
                  </a:txBody>
                  <a:tcPr/>
                </a:tc>
                <a:tc>
                  <a:txBody>
                    <a:bodyPr/>
                    <a:lstStyle/>
                    <a:p>
                      <a:r>
                        <a:rPr sz="700"/>
                        <a:t>&lt;0.001</a:t>
                      </a:r>
                    </a:p>
                  </a:txBody>
                  <a:tcPr/>
                </a:tc>
              </a:tr>
              <a:tr h="226422">
                <a:tc>
                  <a:txBody>
                    <a:bodyPr/>
                    <a:lstStyle/>
                    <a:p>
                      <a:r>
                        <a:rPr sz="700"/>
                        <a:t>Voxelised Poisson LR filter (frame-based ablation)</a:t>
                      </a:r>
                    </a:p>
                  </a:txBody>
                  <a:tcPr/>
                </a:tc>
                <a:tc>
                  <a:txBody>
                    <a:bodyPr/>
                    <a:lstStyle/>
                    <a:p>
                      <a:r>
                        <a:rPr sz="700"/>
                        <a:t>tuning</a:t>
                      </a:r>
                    </a:p>
                  </a:txBody>
                  <a:tcPr/>
                </a:tc>
                <a:tc>
                  <a:txBody>
                    <a:bodyPr/>
                    <a:lstStyle/>
                    <a:p>
                      <a:r>
                        <a:rPr sz="700"/>
                        <a:t>0.683 ± 0.178</a:t>
                      </a:r>
                    </a:p>
                  </a:txBody>
                  <a:tcPr/>
                </a:tc>
                <a:tc>
                  <a:txBody>
                    <a:bodyPr/>
                    <a:lstStyle/>
                    <a:p>
                      <a:r>
                        <a:rPr sz="700"/>
                        <a:t>0.723</a:t>
                      </a:r>
                    </a:p>
                  </a:txBody>
                  <a:tcPr/>
                </a:tc>
                <a:tc>
                  <a:txBody>
                    <a:bodyPr/>
                    <a:lstStyle/>
                    <a:p>
                      <a:r>
                        <a:rPr sz="700"/>
                        <a:t>0.033</a:t>
                      </a:r>
                    </a:p>
                  </a:txBody>
                  <a:tcPr/>
                </a:tc>
                <a:tc>
                  <a:txBody>
                    <a:bodyPr/>
                    <a:lstStyle/>
                    <a:p>
                      <a:r>
                        <a:rPr sz="700"/>
                        <a:t>0.009</a:t>
                      </a:r>
                    </a:p>
                  </a:txBody>
                  <a:tcPr/>
                </a:tc>
                <a:tc>
                  <a:txBody>
                    <a:bodyPr/>
                    <a:lstStyle/>
                    <a:p>
                      <a:r>
                        <a:rPr sz="700"/>
                        <a:t>0.997</a:t>
                      </a:r>
                    </a:p>
                  </a:txBody>
                  <a:tcPr/>
                </a:tc>
                <a:tc>
                  <a:txBody>
                    <a:bodyPr/>
                    <a:lstStyle/>
                    <a:p>
                      <a:r>
                        <a:rPr sz="700"/>
                        <a:t>+0.069</a:t>
                      </a:r>
                    </a:p>
                  </a:txBody>
                  <a:tcPr/>
                </a:tc>
                <a:tc>
                  <a:txBody>
                    <a:bodyPr/>
                    <a:lstStyle/>
                    <a:p>
                      <a:r>
                        <a:rPr sz="700"/>
                        <a:t>[+0.030, +0.110]</a:t>
                      </a:r>
                    </a:p>
                  </a:txBody>
                  <a:tcPr/>
                </a:tc>
                <a:tc>
                  <a:txBody>
                    <a:bodyPr/>
                    <a:lstStyle/>
                    <a:p>
                      <a:r>
                        <a:rPr sz="700"/>
                        <a:t>0.006</a:t>
                      </a:r>
                    </a:p>
                  </a:txBody>
                  <a:tcPr/>
                </a:tc>
              </a:tr>
              <a:tr h="226422">
                <a:tc>
                  <a:txBody>
                    <a:bodyPr/>
                    <a:lstStyle/>
                    <a:p>
                      <a:r>
                        <a:rPr sz="700"/>
                        <a:t>PI-DC-DVS CNN</a:t>
                      </a:r>
                    </a:p>
                  </a:txBody>
                  <a:tcPr/>
                </a:tc>
                <a:tc>
                  <a:txBody>
                    <a:bodyPr/>
                    <a:lstStyle/>
                    <a:p>
                      <a:r>
                        <a:rPr sz="700"/>
                        <a:t>tuning</a:t>
                      </a:r>
                    </a:p>
                  </a:txBody>
                  <a:tcPr/>
                </a:tc>
                <a:tc>
                  <a:txBody>
                    <a:bodyPr/>
                    <a:lstStyle/>
                    <a:p>
                      <a:r>
                        <a:rPr sz="700"/>
                        <a:t>0.702 ± 0.183</a:t>
                      </a:r>
                    </a:p>
                  </a:txBody>
                  <a:tcPr/>
                </a:tc>
                <a:tc>
                  <a:txBody>
                    <a:bodyPr/>
                    <a:lstStyle/>
                    <a:p>
                      <a:r>
                        <a:rPr sz="700"/>
                        <a:t>-</a:t>
                      </a:r>
                    </a:p>
                  </a:txBody>
                  <a:tcPr/>
                </a:tc>
                <a:tc>
                  <a:txBody>
                    <a:bodyPr/>
                    <a:lstStyle/>
                    <a:p>
                      <a:r>
                        <a:rPr sz="700"/>
                        <a:t>0.033</a:t>
                      </a:r>
                    </a:p>
                  </a:txBody>
                  <a:tcPr/>
                </a:tc>
                <a:tc>
                  <a:txBody>
                    <a:bodyPr/>
                    <a:lstStyle/>
                    <a:p>
                      <a:r>
                        <a:rPr sz="700"/>
                        <a:t>0.002</a:t>
                      </a:r>
                    </a:p>
                  </a:txBody>
                  <a:tcPr/>
                </a:tc>
                <a:tc>
                  <a:txBody>
                    <a:bodyPr/>
                    <a:lstStyle/>
                    <a:p>
                      <a:r>
                        <a:rPr sz="700"/>
                        <a:t>0.998</a:t>
                      </a:r>
                    </a:p>
                  </a:txBody>
                  <a:tcPr/>
                </a:tc>
                <a:tc>
                  <a:txBody>
                    <a:bodyPr/>
                    <a:lstStyle/>
                    <a:p>
                      <a:r>
                        <a:rPr sz="700"/>
                        <a:t>+0.051</a:t>
                      </a:r>
                    </a:p>
                  </a:txBody>
                  <a:tcPr/>
                </a:tc>
                <a:tc>
                  <a:txBody>
                    <a:bodyPr/>
                    <a:lstStyle/>
                    <a:p>
                      <a:r>
                        <a:rPr sz="700"/>
                        <a:t>[+0.001, +0.102]</a:t>
                      </a:r>
                    </a:p>
                  </a:txBody>
                  <a:tcPr/>
                </a:tc>
                <a:tc>
                  <a:txBody>
                    <a:bodyPr/>
                    <a:lstStyle/>
                    <a:p>
                      <a:r>
                        <a:rPr sz="700"/>
                        <a:t>0.523</a:t>
                      </a:r>
                    </a:p>
                  </a:txBody>
                  <a:tcPr/>
                </a:tc>
              </a:tr>
              <a:tr h="226422">
                <a:tc>
                  <a:txBody>
                    <a:bodyPr/>
                    <a:lstStyle/>
                    <a:p>
                      <a:r>
                        <a:rPr sz="700"/>
                        <a:t>Fano-factor score (ablation)</a:t>
                      </a:r>
                    </a:p>
                  </a:txBody>
                  <a:tcPr/>
                </a:tc>
                <a:tc>
                  <a:txBody>
                    <a:bodyPr/>
                    <a:lstStyle/>
                    <a:p>
                      <a:r>
                        <a:rPr sz="700"/>
                        <a:t>tuning</a:t>
                      </a:r>
                    </a:p>
                  </a:txBody>
                  <a:tcPr/>
                </a:tc>
                <a:tc>
                  <a:txBody>
                    <a:bodyPr/>
                    <a:lstStyle/>
                    <a:p>
                      <a:r>
                        <a:rPr sz="700"/>
                        <a:t>0.553 ± 0.146</a:t>
                      </a:r>
                    </a:p>
                  </a:txBody>
                  <a:tcPr/>
                </a:tc>
                <a:tc>
                  <a:txBody>
                    <a:bodyPr/>
                    <a:lstStyle/>
                    <a:p>
                      <a:r>
                        <a:rPr sz="700"/>
                        <a:t>-</a:t>
                      </a:r>
                    </a:p>
                  </a:txBody>
                  <a:tcPr/>
                </a:tc>
                <a:tc>
                  <a:txBody>
                    <a:bodyPr/>
                    <a:lstStyle/>
                    <a:p>
                      <a:r>
                        <a:rPr sz="700"/>
                        <a:t>0.105</a:t>
                      </a:r>
                    </a:p>
                  </a:txBody>
                  <a:tcPr/>
                </a:tc>
                <a:tc>
                  <a:txBody>
                    <a:bodyPr/>
                    <a:lstStyle/>
                    <a:p>
                      <a:r>
                        <a:rPr sz="700"/>
                        <a:t>0.888</a:t>
                      </a:r>
                    </a:p>
                  </a:txBody>
                  <a:tcPr/>
                </a:tc>
                <a:tc>
                  <a:txBody>
                    <a:bodyPr/>
                    <a:lstStyle/>
                    <a:p>
                      <a:r>
                        <a:rPr sz="700"/>
                        <a:t>0.222</a:t>
                      </a:r>
                    </a:p>
                  </a:txBody>
                  <a:tcPr/>
                </a:tc>
                <a:tc>
                  <a:txBody>
                    <a:bodyPr/>
                    <a:lstStyle/>
                    <a:p>
                      <a:r>
                        <a:rPr sz="700"/>
                        <a:t>+0.200</a:t>
                      </a:r>
                    </a:p>
                  </a:txBody>
                  <a:tcPr/>
                </a:tc>
                <a:tc>
                  <a:txBody>
                    <a:bodyPr/>
                    <a:lstStyle/>
                    <a:p>
                      <a:r>
                        <a:rPr sz="700"/>
                        <a:t>[+0.155, +0.243]</a:t>
                      </a:r>
                    </a:p>
                  </a:txBody>
                  <a:tcPr/>
                </a:tc>
                <a:tc>
                  <a:txBody>
                    <a:bodyPr/>
                    <a:lstStyle/>
                    <a:p>
                      <a:r>
                        <a:rPr sz="700"/>
                        <a:t>&lt;0.001</a:t>
                      </a:r>
                    </a:p>
                  </a:txBody>
                  <a:tcPr/>
                </a:tc>
              </a:tr>
              <a:tr h="226422">
                <a:tc>
                  <a:txBody>
                    <a:bodyPr/>
                    <a:lstStyle/>
                    <a:p>
                      <a:r>
                        <a:rPr sz="700"/>
                        <a:t>EDnCNN-style CNN (supervised)</a:t>
                      </a:r>
                    </a:p>
                  </a:txBody>
                  <a:tcPr/>
                </a:tc>
                <a:tc>
                  <a:txBody>
                    <a:bodyPr/>
                    <a:lstStyle/>
                    <a:p>
                      <a:r>
                        <a:rPr sz="700"/>
                        <a:t>training</a:t>
                      </a:r>
                    </a:p>
                  </a:txBody>
                  <a:tcPr/>
                </a:tc>
                <a:tc>
                  <a:txBody>
                    <a:bodyPr/>
                    <a:lstStyle/>
                    <a:p>
                      <a:r>
                        <a:rPr sz="700"/>
                        <a:t>0.823 ± 0.138</a:t>
                      </a:r>
                    </a:p>
                  </a:txBody>
                  <a:tcPr/>
                </a:tc>
                <a:tc>
                  <a:txBody>
                    <a:bodyPr/>
                    <a:lstStyle/>
                    <a:p>
                      <a:r>
                        <a:rPr sz="700"/>
                        <a:t>-</a:t>
                      </a:r>
                    </a:p>
                  </a:txBody>
                  <a:tcPr/>
                </a:tc>
                <a:tc>
                  <a:txBody>
                    <a:bodyPr/>
                    <a:lstStyle/>
                    <a:p>
                      <a:r>
                        <a:rPr sz="700"/>
                        <a:t>0.238</a:t>
                      </a:r>
                    </a:p>
                  </a:txBody>
                  <a:tcPr/>
                </a:tc>
                <a:tc>
                  <a:txBody>
                    <a:bodyPr/>
                    <a:lstStyle/>
                    <a:p>
                      <a:r>
                        <a:rPr sz="700"/>
                        <a:t>0.922</a:t>
                      </a:r>
                    </a:p>
                  </a:txBody>
                  <a:tcPr/>
                </a:tc>
                <a:tc>
                  <a:txBody>
                    <a:bodyPr/>
                    <a:lstStyle/>
                    <a:p>
                      <a:r>
                        <a:rPr sz="700"/>
                        <a:t>0.551</a:t>
                      </a:r>
                    </a:p>
                  </a:txBody>
                  <a:tcPr/>
                </a:tc>
                <a:tc>
                  <a:txBody>
                    <a:bodyPr/>
                    <a:lstStyle/>
                    <a:p>
                      <a:r>
                        <a:rPr sz="700"/>
                        <a:t>-0.070</a:t>
                      </a:r>
                    </a:p>
                  </a:txBody>
                  <a:tcPr/>
                </a:tc>
                <a:tc>
                  <a:txBody>
                    <a:bodyPr/>
                    <a:lstStyle/>
                    <a:p>
                      <a:r>
                        <a:rPr sz="700"/>
                        <a:t>[-0.096, -0.043]</a:t>
                      </a:r>
                    </a:p>
                  </a:txBody>
                  <a:tcPr/>
                </a:tc>
                <a:tc>
                  <a:txBody>
                    <a:bodyPr/>
                    <a:lstStyle/>
                    <a:p>
                      <a:r>
                        <a:rPr sz="700"/>
                        <a:t>&lt;0.001</a:t>
                      </a:r>
                    </a:p>
                  </a:txBody>
                  <a:tcPr/>
                </a:tc>
              </a:tr>
              <a:tr h="226440">
                <a:tc>
                  <a:txBody>
                    <a:bodyPr/>
                    <a:lstStyle/>
                    <a:p>
                      <a:r>
                        <a:rPr sz="700"/>
                        <a:t>MLPF (supervised)</a:t>
                      </a:r>
                    </a:p>
                  </a:txBody>
                  <a:tcPr/>
                </a:tc>
                <a:tc>
                  <a:txBody>
                    <a:bodyPr/>
                    <a:lstStyle/>
                    <a:p>
                      <a:r>
                        <a:rPr sz="700"/>
                        <a:t>training</a:t>
                      </a:r>
                    </a:p>
                  </a:txBody>
                  <a:tcPr/>
                </a:tc>
                <a:tc>
                  <a:txBody>
                    <a:bodyPr/>
                    <a:lstStyle/>
                    <a:p>
                      <a:r>
                        <a:rPr sz="700"/>
                        <a:t>0.813 ± 0.140</a:t>
                      </a:r>
                    </a:p>
                  </a:txBody>
                  <a:tcPr/>
                </a:tc>
                <a:tc>
                  <a:txBody>
                    <a:bodyPr/>
                    <a:lstStyle/>
                    <a:p>
                      <a:r>
                        <a:rPr sz="700"/>
                        <a:t>-</a:t>
                      </a:r>
                    </a:p>
                  </a:txBody>
                  <a:tcPr/>
                </a:tc>
                <a:tc>
                  <a:txBody>
                    <a:bodyPr/>
                    <a:lstStyle/>
                    <a:p>
                      <a:r>
                        <a:rPr sz="700"/>
                        <a:t>0.211</a:t>
                      </a:r>
                    </a:p>
                  </a:txBody>
                  <a:tcPr/>
                </a:tc>
                <a:tc>
                  <a:txBody>
                    <a:bodyPr/>
                    <a:lstStyle/>
                    <a:p>
                      <a:r>
                        <a:rPr sz="700"/>
                        <a:t>0.918</a:t>
                      </a:r>
                    </a:p>
                  </a:txBody>
                  <a:tcPr/>
                </a:tc>
                <a:tc>
                  <a:txBody>
                    <a:bodyPr/>
                    <a:lstStyle/>
                    <a:p>
                      <a:r>
                        <a:rPr sz="700"/>
                        <a:t>0.535</a:t>
                      </a:r>
                    </a:p>
                  </a:txBody>
                  <a:tcPr/>
                </a:tc>
                <a:tc>
                  <a:txBody>
                    <a:bodyPr/>
                    <a:lstStyle/>
                    <a:p>
                      <a:r>
                        <a:rPr sz="700"/>
                        <a:t>-0.061</a:t>
                      </a:r>
                    </a:p>
                  </a:txBody>
                  <a:tcPr/>
                </a:tc>
                <a:tc>
                  <a:txBody>
                    <a:bodyPr/>
                    <a:lstStyle/>
                    <a:p>
                      <a:r>
                        <a:rPr sz="700"/>
                        <a:t>[-0.086, -0.033]</a:t>
                      </a:r>
                    </a:p>
                  </a:txBody>
                  <a:tcPr/>
                </a:tc>
                <a:tc>
                  <a:txBody>
                    <a:bodyPr/>
                    <a:lstStyle/>
                    <a:p>
                      <a:r>
                        <a:rPr sz="700"/>
                        <a:t>0.002</a:t>
                      </a:r>
                    </a:p>
                  </a:txBody>
                  <a:tcPr/>
                </a:tc>
              </a:tr>
            </a:tbl>
          </a:graphicData>
        </a:graphic>
      </p:graphicFrame>
      <p:sp>
        <p:nvSpPr>
          <p:cNvPr id="4" name="TextBox 3"/>
          <p:cNvSpPr txBox="1"/>
          <p:nvPr/>
        </p:nvSpPr>
        <p:spPr>
          <a:xfrm>
            <a:off x="365760" y="5715000"/>
            <a:ext cx="11430000" cy="960119"/>
          </a:xfrm>
          <a:prstGeom prst="rect">
            <a:avLst/>
          </a:prstGeom>
          <a:noFill/>
        </p:spPr>
        <p:txBody>
          <a:bodyPr wrap="square">
            <a:spAutoFit/>
          </a:bodyPr>
          <a:lstStyle/>
          <a:p>
            <a:r>
              <a:rPr sz="1100"/>
              <a:t>Table 1. Event-level detection performance on the 43 labelled EBSSA recordings (mean over recordings; AUC also with SD). Labels used: how the labels entered the main AUC, F1, NRR and SPR columns, to tune the configuration by grouped cross-validation (tuning) or to train the model (training); no method in these columns is label-free. AUC, no labels: mean AUC of the same method at one fixed configuration chosen without labels (the published default of each filter, the deployment configuration of the proposal; Section 5.6), where such a configuration exists. ΔAUC is the mean paired difference of the proposed detector minus the comparator, both label-tuned, with its 95% bootstrap confidence interval (CI); p is the Holm-adjusted two-sided Wilcoxon signed-rank p-value. NRR: noise-removal rate; SPR: signal-preservation rate at a probability threshold of 0.5. Rows are grouped as proposed (fixed window; rate-adaptive window), published unsupervised filters, event-driven ablations, frame-based and label-free learned ablations, and supervised references.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none">
            <a:spAutoFit/>
          </a:bodyPr>
          <a:lstStyle/>
          <a:p>
            <a:r>
              <a:rPr sz="2200" b="1"/>
              <a:t>Table 2</a:t>
            </a:r>
          </a:p>
        </p:txBody>
      </p:sp>
      <p:graphicFrame>
        <p:nvGraphicFramePr>
          <p:cNvPr id="3" name="Table 2"/>
          <p:cNvGraphicFramePr>
            <a:graphicFrameLocks noGrp="1"/>
          </p:cNvGraphicFramePr>
          <p:nvPr/>
        </p:nvGraphicFramePr>
        <p:xfrm>
          <a:off x="365760" y="822960"/>
          <a:ext cx="11430000" cy="1600200"/>
        </p:xfrm>
        <a:graphic>
          <a:graphicData uri="http://schemas.openxmlformats.org/drawingml/2006/table">
            <a:tbl>
              <a:tblPr firstRow="1" bandRow="1">
                <a:tableStyleId>{5C22544A-7EE6-4342-B048-85BDC9FD1C3A}</a:tableStyleId>
              </a:tblPr>
              <a:tblGrid>
                <a:gridCol w="1632857"/>
                <a:gridCol w="1632857"/>
                <a:gridCol w="1632857"/>
                <a:gridCol w="1632857"/>
                <a:gridCol w="1632857"/>
                <a:gridCol w="1632857"/>
                <a:gridCol w="1632858"/>
              </a:tblGrid>
              <a:tr h="320040">
                <a:tc>
                  <a:txBody>
                    <a:bodyPr/>
                    <a:lstStyle/>
                    <a:p>
                      <a:r>
                        <a:rPr sz="900" b="1"/>
                        <a:t>Method</a:t>
                      </a:r>
                    </a:p>
                  </a:txBody>
                  <a:tcPr/>
                </a:tc>
                <a:tc>
                  <a:txBody>
                    <a:bodyPr/>
                    <a:lstStyle/>
                    <a:p>
                      <a:r>
                        <a:rPr sz="900" b="1"/>
                        <a:t>FPR (α = 0.001)</a:t>
                      </a:r>
                    </a:p>
                  </a:txBody>
                  <a:tcPr/>
                </a:tc>
                <a:tc>
                  <a:txBody>
                    <a:bodyPr/>
                    <a:lstStyle/>
                    <a:p>
                      <a:r>
                        <a:rPr sz="900" b="1"/>
                        <a:t>TPR (α = 0.001)</a:t>
                      </a:r>
                    </a:p>
                  </a:txBody>
                  <a:tcPr/>
                </a:tc>
                <a:tc>
                  <a:txBody>
                    <a:bodyPr/>
                    <a:lstStyle/>
                    <a:p>
                      <a:r>
                        <a:rPr sz="900" b="1"/>
                        <a:t>FPR (α = 0.01)</a:t>
                      </a:r>
                    </a:p>
                  </a:txBody>
                  <a:tcPr/>
                </a:tc>
                <a:tc>
                  <a:txBody>
                    <a:bodyPr/>
                    <a:lstStyle/>
                    <a:p>
                      <a:r>
                        <a:rPr sz="900" b="1"/>
                        <a:t>TPR (α = 0.01)</a:t>
                      </a:r>
                    </a:p>
                  </a:txBody>
                  <a:tcPr/>
                </a:tc>
                <a:tc>
                  <a:txBody>
                    <a:bodyPr/>
                    <a:lstStyle/>
                    <a:p>
                      <a:r>
                        <a:rPr sz="900" b="1"/>
                        <a:t>FPR (α = 0.05)</a:t>
                      </a:r>
                    </a:p>
                  </a:txBody>
                  <a:tcPr/>
                </a:tc>
                <a:tc>
                  <a:txBody>
                    <a:bodyPr/>
                    <a:lstStyle/>
                    <a:p>
                      <a:r>
                        <a:rPr sz="900" b="1"/>
                        <a:t>TPR (α = 0.05)</a:t>
                      </a:r>
                    </a:p>
                  </a:txBody>
                  <a:tcPr/>
                </a:tc>
              </a:tr>
              <a:tr h="320040">
                <a:tc>
                  <a:txBody>
                    <a:bodyPr/>
                    <a:lstStyle/>
                    <a:p>
                      <a:r>
                        <a:rPr sz="900"/>
                        <a:t>Event-driven Poisson LR filter (proposed)</a:t>
                      </a:r>
                    </a:p>
                  </a:txBody>
                  <a:tcPr/>
                </a:tc>
                <a:tc>
                  <a:txBody>
                    <a:bodyPr/>
                    <a:lstStyle/>
                    <a:p>
                      <a:r>
                        <a:rPr sz="900"/>
                        <a:t>0.0007</a:t>
                      </a:r>
                    </a:p>
                  </a:txBody>
                  <a:tcPr/>
                </a:tc>
                <a:tc>
                  <a:txBody>
                    <a:bodyPr/>
                    <a:lstStyle/>
                    <a:p>
                      <a:r>
                        <a:rPr sz="900"/>
                        <a:t>0.019</a:t>
                      </a:r>
                    </a:p>
                  </a:txBody>
                  <a:tcPr/>
                </a:tc>
                <a:tc>
                  <a:txBody>
                    <a:bodyPr/>
                    <a:lstStyle/>
                    <a:p>
                      <a:r>
                        <a:rPr sz="900"/>
                        <a:t>0.0088</a:t>
                      </a:r>
                    </a:p>
                  </a:txBody>
                  <a:tcPr/>
                </a:tc>
                <a:tc>
                  <a:txBody>
                    <a:bodyPr/>
                    <a:lstStyle/>
                    <a:p>
                      <a:r>
                        <a:rPr sz="900"/>
                        <a:t>0.148</a:t>
                      </a:r>
                    </a:p>
                  </a:txBody>
                  <a:tcPr/>
                </a:tc>
                <a:tc>
                  <a:txBody>
                    <a:bodyPr/>
                    <a:lstStyle/>
                    <a:p>
                      <a:r>
                        <a:rPr sz="900"/>
                        <a:t>0.0474</a:t>
                      </a:r>
                    </a:p>
                  </a:txBody>
                  <a:tcPr/>
                </a:tc>
                <a:tc>
                  <a:txBody>
                    <a:bodyPr/>
                    <a:lstStyle/>
                    <a:p>
                      <a:r>
                        <a:rPr sz="900"/>
                        <a:t>0.386</a:t>
                      </a:r>
                    </a:p>
                  </a:txBody>
                  <a:tcPr/>
                </a:tc>
              </a:tr>
              <a:tr h="320040">
                <a:tc>
                  <a:txBody>
                    <a:bodyPr/>
                    <a:lstStyle/>
                    <a:p>
                      <a:r>
                        <a:rPr sz="900"/>
                        <a:t>Multiscale Fisher combination (proposed, 3 scales)</a:t>
                      </a:r>
                    </a:p>
                  </a:txBody>
                  <a:tcPr/>
                </a:tc>
                <a:tc>
                  <a:txBody>
                    <a:bodyPr/>
                    <a:lstStyle/>
                    <a:p>
                      <a:r>
                        <a:rPr sz="900"/>
                        <a:t>0.0006</a:t>
                      </a:r>
                    </a:p>
                  </a:txBody>
                  <a:tcPr/>
                </a:tc>
                <a:tc>
                  <a:txBody>
                    <a:bodyPr/>
                    <a:lstStyle/>
                    <a:p>
                      <a:r>
                        <a:rPr sz="900"/>
                        <a:t>0.002</a:t>
                      </a:r>
                    </a:p>
                  </a:txBody>
                  <a:tcPr/>
                </a:tc>
                <a:tc>
                  <a:txBody>
                    <a:bodyPr/>
                    <a:lstStyle/>
                    <a:p>
                      <a:r>
                        <a:rPr sz="900"/>
                        <a:t>0.0085</a:t>
                      </a:r>
                    </a:p>
                  </a:txBody>
                  <a:tcPr/>
                </a:tc>
                <a:tc>
                  <a:txBody>
                    <a:bodyPr/>
                    <a:lstStyle/>
                    <a:p>
                      <a:r>
                        <a:rPr sz="900"/>
                        <a:t>0.111</a:t>
                      </a:r>
                    </a:p>
                  </a:txBody>
                  <a:tcPr/>
                </a:tc>
                <a:tc>
                  <a:txBody>
                    <a:bodyPr/>
                    <a:lstStyle/>
                    <a:p>
                      <a:r>
                        <a:rPr sz="900"/>
                        <a:t>0.0476</a:t>
                      </a:r>
                    </a:p>
                  </a:txBody>
                  <a:tcPr/>
                </a:tc>
                <a:tc>
                  <a:txBody>
                    <a:bodyPr/>
                    <a:lstStyle/>
                    <a:p>
                      <a:r>
                        <a:rPr sz="900"/>
                        <a:t>0.367</a:t>
                      </a:r>
                    </a:p>
                  </a:txBody>
                  <a:tcPr/>
                </a:tc>
              </a:tr>
              <a:tr h="320040">
                <a:tc>
                  <a:txBody>
                    <a:bodyPr/>
                    <a:lstStyle/>
                    <a:p>
                      <a:r>
                        <a:rPr sz="900"/>
                        <a:t>YNoise</a:t>
                      </a:r>
                    </a:p>
                  </a:txBody>
                  <a:tcPr/>
                </a:tc>
                <a:tc>
                  <a:txBody>
                    <a:bodyPr/>
                    <a:lstStyle/>
                    <a:p>
                      <a:r>
                        <a:rPr sz="900"/>
                        <a:t>0.0001</a:t>
                      </a:r>
                    </a:p>
                  </a:txBody>
                  <a:tcPr/>
                </a:tc>
                <a:tc>
                  <a:txBody>
                    <a:bodyPr/>
                    <a:lstStyle/>
                    <a:p>
                      <a:r>
                        <a:rPr sz="900"/>
                        <a:t>0.057</a:t>
                      </a:r>
                    </a:p>
                  </a:txBody>
                  <a:tcPr/>
                </a:tc>
                <a:tc>
                  <a:txBody>
                    <a:bodyPr/>
                    <a:lstStyle/>
                    <a:p>
                      <a:r>
                        <a:rPr sz="900"/>
                        <a:t>0.0040</a:t>
                      </a:r>
                    </a:p>
                  </a:txBody>
                  <a:tcPr/>
                </a:tc>
                <a:tc>
                  <a:txBody>
                    <a:bodyPr/>
                    <a:lstStyle/>
                    <a:p>
                      <a:r>
                        <a:rPr sz="900"/>
                        <a:t>0.237</a:t>
                      </a:r>
                    </a:p>
                  </a:txBody>
                  <a:tcPr/>
                </a:tc>
                <a:tc>
                  <a:txBody>
                    <a:bodyPr/>
                    <a:lstStyle/>
                    <a:p>
                      <a:r>
                        <a:rPr sz="900"/>
                        <a:t>0.0242</a:t>
                      </a:r>
                    </a:p>
                  </a:txBody>
                  <a:tcPr/>
                </a:tc>
                <a:tc>
                  <a:txBody>
                    <a:bodyPr/>
                    <a:lstStyle/>
                    <a:p>
                      <a:r>
                        <a:rPr sz="900"/>
                        <a:t>0.487</a:t>
                      </a:r>
                    </a:p>
                  </a:txBody>
                  <a:tcPr/>
                </a:tc>
              </a:tr>
              <a:tr h="320040">
                <a:tc>
                  <a:txBody>
                    <a:bodyPr/>
                    <a:lstStyle/>
                    <a:p>
                      <a:r>
                        <a:rPr sz="900"/>
                        <a:t>Event bilateral filter (event-driven form)</a:t>
                      </a:r>
                    </a:p>
                  </a:txBody>
                  <a:tcPr/>
                </a:tc>
                <a:tc>
                  <a:txBody>
                    <a:bodyPr/>
                    <a:lstStyle/>
                    <a:p>
                      <a:r>
                        <a:rPr sz="900"/>
                        <a:t>0.0010</a:t>
                      </a:r>
                    </a:p>
                  </a:txBody>
                  <a:tcPr/>
                </a:tc>
                <a:tc>
                  <a:txBody>
                    <a:bodyPr/>
                    <a:lstStyle/>
                    <a:p>
                      <a:r>
                        <a:rPr sz="900"/>
                        <a:t>0.000</a:t>
                      </a:r>
                    </a:p>
                  </a:txBody>
                  <a:tcPr/>
                </a:tc>
                <a:tc>
                  <a:txBody>
                    <a:bodyPr/>
                    <a:lstStyle/>
                    <a:p>
                      <a:r>
                        <a:rPr sz="900"/>
                        <a:t>0.0100</a:t>
                      </a:r>
                    </a:p>
                  </a:txBody>
                  <a:tcPr/>
                </a:tc>
                <a:tc>
                  <a:txBody>
                    <a:bodyPr/>
                    <a:lstStyle/>
                    <a:p>
                      <a:r>
                        <a:rPr sz="900"/>
                        <a:t>0.000</a:t>
                      </a:r>
                    </a:p>
                  </a:txBody>
                  <a:tcPr/>
                </a:tc>
                <a:tc>
                  <a:txBody>
                    <a:bodyPr/>
                    <a:lstStyle/>
                    <a:p>
                      <a:r>
                        <a:rPr sz="900"/>
                        <a:t>0.0492</a:t>
                      </a:r>
                    </a:p>
                  </a:txBody>
                  <a:tcPr/>
                </a:tc>
                <a:tc>
                  <a:txBody>
                    <a:bodyPr/>
                    <a:lstStyle/>
                    <a:p>
                      <a:r>
                        <a:rPr sz="900"/>
                        <a:t>0.054</a:t>
                      </a:r>
                    </a:p>
                  </a:txBody>
                  <a:tcPr/>
                </a:tc>
              </a:tr>
            </a:tbl>
          </a:graphicData>
        </a:graphic>
      </p:graphicFrame>
      <p:sp>
        <p:nvSpPr>
          <p:cNvPr id="4" name="TextBox 3"/>
          <p:cNvSpPr txBox="1"/>
          <p:nvPr/>
        </p:nvSpPr>
        <p:spPr>
          <a:xfrm>
            <a:off x="365760" y="2560320"/>
            <a:ext cx="11430000" cy="4114800"/>
          </a:xfrm>
          <a:prstGeom prst="rect">
            <a:avLst/>
          </a:prstGeom>
          <a:noFill/>
        </p:spPr>
        <p:txBody>
          <a:bodyPr wrap="square">
            <a:spAutoFit/>
          </a:bodyPr>
          <a:lstStyle/>
          <a:p>
            <a:r>
              <a:rPr sz="1100"/>
              <a:t>Table 2. Median achieved false-positive rate (FPR) and detection rate (TPR) over EBSSA recordings when each detector is cut at the α-quantile of its own score, without labels.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none">
            <a:spAutoFit/>
          </a:bodyPr>
          <a:lstStyle/>
          <a:p>
            <a:r>
              <a:rPr sz="2200" b="1"/>
              <a:t>Table 3</a:t>
            </a:r>
          </a:p>
        </p:txBody>
      </p:sp>
      <p:graphicFrame>
        <p:nvGraphicFramePr>
          <p:cNvPr id="3" name="Table 2"/>
          <p:cNvGraphicFramePr>
            <a:graphicFrameLocks noGrp="1"/>
          </p:cNvGraphicFramePr>
          <p:nvPr/>
        </p:nvGraphicFramePr>
        <p:xfrm>
          <a:off x="365760" y="822960"/>
          <a:ext cx="11430000" cy="3200400"/>
        </p:xfrm>
        <a:graphic>
          <a:graphicData uri="http://schemas.openxmlformats.org/drawingml/2006/table">
            <a:tbl>
              <a:tblPr firstRow="1" bandRow="1">
                <a:tableStyleId>{5C22544A-7EE6-4342-B048-85BDC9FD1C3A}</a:tableStyleId>
              </a:tblPr>
              <a:tblGrid>
                <a:gridCol w="1905000"/>
                <a:gridCol w="1905000"/>
                <a:gridCol w="1905000"/>
                <a:gridCol w="1905000"/>
                <a:gridCol w="1905000"/>
                <a:gridCol w="1905000"/>
              </a:tblGrid>
              <a:tr h="320040">
                <a:tc>
                  <a:txBody>
                    <a:bodyPr/>
                    <a:lstStyle/>
                    <a:p>
                      <a:r>
                        <a:rPr sz="900" b="1"/>
                        <a:t>Configuration</a:t>
                      </a:r>
                    </a:p>
                  </a:txBody>
                  <a:tcPr/>
                </a:tc>
                <a:tc>
                  <a:txBody>
                    <a:bodyPr/>
                    <a:lstStyle/>
                    <a:p>
                      <a:r>
                        <a:rPr sz="900" b="1"/>
                        <a:t>AUC, all</a:t>
                      </a:r>
                    </a:p>
                  </a:txBody>
                  <a:tcPr/>
                </a:tc>
                <a:tc>
                  <a:txBody>
                    <a:bodyPr/>
                    <a:lstStyle/>
                    <a:p>
                      <a:r>
                        <a:rPr sz="900" b="1"/>
                        <a:t>AUC, 180 x 240</a:t>
                      </a:r>
                    </a:p>
                  </a:txBody>
                  <a:tcPr/>
                </a:tc>
                <a:tc>
                  <a:txBody>
                    <a:bodyPr/>
                    <a:lstStyle/>
                    <a:p>
                      <a:r>
                        <a:rPr sz="900" b="1"/>
                        <a:t>AUC, 240 x 304</a:t>
                      </a:r>
                    </a:p>
                  </a:txBody>
                  <a:tcPr/>
                </a:tc>
                <a:tc>
                  <a:txBody>
                    <a:bodyPr/>
                    <a:lstStyle/>
                    <a:p>
                      <a:r>
                        <a:rPr sz="900" b="1"/>
                        <a:t>Recall of stage 1</a:t>
                      </a:r>
                    </a:p>
                  </a:txBody>
                  <a:tcPr/>
                </a:tc>
                <a:tc>
                  <a:txBody>
                    <a:bodyPr/>
                    <a:lstStyle/>
                    <a:p>
                      <a:r>
                        <a:rPr sz="900" b="1"/>
                        <a:t>Stage-2 time</a:t>
                      </a:r>
                    </a:p>
                  </a:txBody>
                  <a:tcPr/>
                </a:tc>
              </a:tr>
              <a:tr h="320040">
                <a:tc>
                  <a:txBody>
                    <a:bodyPr/>
                    <a:lstStyle/>
                    <a:p>
                      <a:r>
                        <a:rPr sz="900"/>
                        <a:t>Proposed, zero-knowledge form (stage 1 alone)</a:t>
                      </a:r>
                    </a:p>
                  </a:txBody>
                  <a:tcPr/>
                </a:tc>
                <a:tc>
                  <a:txBody>
                    <a:bodyPr/>
                    <a:lstStyle/>
                    <a:p>
                      <a:r>
                        <a:rPr sz="900"/>
                        <a:t>0.781</a:t>
                      </a:r>
                    </a:p>
                  </a:txBody>
                  <a:tcPr/>
                </a:tc>
                <a:tc>
                  <a:txBody>
                    <a:bodyPr/>
                    <a:lstStyle/>
                    <a:p>
                      <a:r>
                        <a:rPr sz="900"/>
                        <a:t>0.828</a:t>
                      </a:r>
                    </a:p>
                  </a:txBody>
                  <a:tcPr/>
                </a:tc>
                <a:tc>
                  <a:txBody>
                    <a:bodyPr/>
                    <a:lstStyle/>
                    <a:p>
                      <a:r>
                        <a:rPr sz="900"/>
                        <a:t>0.685</a:t>
                      </a:r>
                    </a:p>
                  </a:txBody>
                  <a:tcPr/>
                </a:tc>
                <a:tc>
                  <a:txBody>
                    <a:bodyPr/>
                    <a:lstStyle/>
                    <a:p>
                      <a:r>
                        <a:rPr sz="900"/>
                        <a:t>n/a</a:t>
                      </a:r>
                    </a:p>
                  </a:txBody>
                  <a:tcPr/>
                </a:tc>
                <a:tc>
                  <a:txBody>
                    <a:bodyPr/>
                    <a:lstStyle/>
                    <a:p>
                      <a:r>
                        <a:rPr sz="900"/>
                        <a:t>n/a</a:t>
                      </a:r>
                    </a:p>
                  </a:txBody>
                  <a:tcPr/>
                </a:tc>
              </a:tr>
              <a:tr h="320040">
                <a:tc>
                  <a:txBody>
                    <a:bodyPr/>
                    <a:lstStyle/>
                    <a:p>
                      <a:r>
                        <a:rPr sz="900"/>
                        <a:t>YNoise, published default</a:t>
                      </a:r>
                    </a:p>
                  </a:txBody>
                  <a:tcPr/>
                </a:tc>
                <a:tc>
                  <a:txBody>
                    <a:bodyPr/>
                    <a:lstStyle/>
                    <a:p>
                      <a:r>
                        <a:rPr sz="900"/>
                        <a:t>0.738</a:t>
                      </a:r>
                    </a:p>
                  </a:txBody>
                  <a:tcPr/>
                </a:tc>
                <a:tc>
                  <a:txBody>
                    <a:bodyPr/>
                    <a:lstStyle/>
                    <a:p>
                      <a:r>
                        <a:rPr sz="900"/>
                        <a:t>0.732</a:t>
                      </a:r>
                    </a:p>
                  </a:txBody>
                  <a:tcPr/>
                </a:tc>
                <a:tc>
                  <a:txBody>
                    <a:bodyPr/>
                    <a:lstStyle/>
                    <a:p>
                      <a:r>
                        <a:rPr sz="900"/>
                        <a:t>0.750</a:t>
                      </a:r>
                    </a:p>
                  </a:txBody>
                  <a:tcPr/>
                </a:tc>
                <a:tc>
                  <a:txBody>
                    <a:bodyPr/>
                    <a:lstStyle/>
                    <a:p>
                      <a:r>
                        <a:rPr sz="900"/>
                        <a:t>n/a</a:t>
                      </a:r>
                    </a:p>
                  </a:txBody>
                  <a:tcPr/>
                </a:tc>
                <a:tc>
                  <a:txBody>
                    <a:bodyPr/>
                    <a:lstStyle/>
                    <a:p>
                      <a:r>
                        <a:rPr sz="900"/>
                        <a:t>1.00</a:t>
                      </a:r>
                    </a:p>
                  </a:txBody>
                  <a:tcPr/>
                </a:tc>
              </a:tr>
              <a:tr h="320040">
                <a:tc>
                  <a:txBody>
                    <a:bodyPr/>
                    <a:lstStyle/>
                    <a:p>
                      <a:r>
                        <a:rPr sz="900"/>
                        <a:t>YNoise, dt = W handed over</a:t>
                      </a:r>
                    </a:p>
                  </a:txBody>
                  <a:tcPr/>
                </a:tc>
                <a:tc>
                  <a:txBody>
                    <a:bodyPr/>
                    <a:lstStyle/>
                    <a:p>
                      <a:r>
                        <a:rPr sz="900"/>
                        <a:t>0.841</a:t>
                      </a:r>
                    </a:p>
                  </a:txBody>
                  <a:tcPr/>
                </a:tc>
                <a:tc>
                  <a:txBody>
                    <a:bodyPr/>
                    <a:lstStyle/>
                    <a:p>
                      <a:r>
                        <a:rPr sz="900"/>
                        <a:t>0.865</a:t>
                      </a:r>
                    </a:p>
                  </a:txBody>
                  <a:tcPr/>
                </a:tc>
                <a:tc>
                  <a:txBody>
                    <a:bodyPr/>
                    <a:lstStyle/>
                    <a:p>
                      <a:r>
                        <a:rPr sz="900"/>
                        <a:t>0.790</a:t>
                      </a:r>
                    </a:p>
                  </a:txBody>
                  <a:tcPr/>
                </a:tc>
                <a:tc>
                  <a:txBody>
                    <a:bodyPr/>
                    <a:lstStyle/>
                    <a:p>
                      <a:r>
                        <a:rPr sz="900"/>
                        <a:t>n/a</a:t>
                      </a:r>
                    </a:p>
                  </a:txBody>
                  <a:tcPr/>
                </a:tc>
                <a:tc>
                  <a:txBody>
                    <a:bodyPr/>
                    <a:lstStyle/>
                    <a:p>
                      <a:r>
                        <a:rPr sz="900"/>
                        <a:t>1.00</a:t>
                      </a:r>
                    </a:p>
                  </a:txBody>
                  <a:tcPr/>
                </a:tc>
              </a:tr>
              <a:tr h="320040">
                <a:tc>
                  <a:txBody>
                    <a:bodyPr/>
                    <a:lstStyle/>
                    <a:p>
                      <a:r>
                        <a:rPr sz="900"/>
                        <a:t>YNoise, label-tuned CV (Table 1)</a:t>
                      </a:r>
                    </a:p>
                  </a:txBody>
                  <a:tcPr/>
                </a:tc>
                <a:tc>
                  <a:txBody>
                    <a:bodyPr/>
                    <a:lstStyle/>
                    <a:p>
                      <a:r>
                        <a:rPr sz="900"/>
                        <a:t>0.844</a:t>
                      </a:r>
                    </a:p>
                  </a:txBody>
                  <a:tcPr/>
                </a:tc>
                <a:tc>
                  <a:txBody>
                    <a:bodyPr/>
                    <a:lstStyle/>
                    <a:p>
                      <a:r>
                        <a:rPr sz="900"/>
                        <a:t>n/a</a:t>
                      </a:r>
                    </a:p>
                  </a:txBody>
                  <a:tcPr/>
                </a:tc>
                <a:tc>
                  <a:txBody>
                    <a:bodyPr/>
                    <a:lstStyle/>
                    <a:p>
                      <a:r>
                        <a:rPr sz="900"/>
                        <a:t>n/a</a:t>
                      </a:r>
                    </a:p>
                  </a:txBody>
                  <a:tcPr/>
                </a:tc>
                <a:tc>
                  <a:txBody>
                    <a:bodyPr/>
                    <a:lstStyle/>
                    <a:p>
                      <a:r>
                        <a:rPr sz="900"/>
                        <a:t>n/a</a:t>
                      </a:r>
                    </a:p>
                  </a:txBody>
                  <a:tcPr/>
                </a:tc>
                <a:tc>
                  <a:txBody>
                    <a:bodyPr/>
                    <a:lstStyle/>
                    <a:p>
                      <a:r>
                        <a:rPr sz="900"/>
                        <a:t>1.00</a:t>
                      </a:r>
                    </a:p>
                  </a:txBody>
                  <a:tcPr/>
                </a:tc>
              </a:tr>
              <a:tr h="320040">
                <a:tc>
                  <a:txBody>
                    <a:bodyPr/>
                    <a:lstStyle/>
                    <a:p>
                      <a:r>
                        <a:rPr sz="900"/>
                        <a:t>Two-stage, f = 0.02, stage 2 dt = W</a:t>
                      </a:r>
                    </a:p>
                  </a:txBody>
                  <a:tcPr/>
                </a:tc>
                <a:tc>
                  <a:txBody>
                    <a:bodyPr/>
                    <a:lstStyle/>
                    <a:p>
                      <a:r>
                        <a:rPr sz="900"/>
                        <a:t>0.782</a:t>
                      </a:r>
                    </a:p>
                  </a:txBody>
                  <a:tcPr/>
                </a:tc>
                <a:tc>
                  <a:txBody>
                    <a:bodyPr/>
                    <a:lstStyle/>
                    <a:p>
                      <a:r>
                        <a:rPr sz="900"/>
                        <a:t>n/a</a:t>
                      </a:r>
                    </a:p>
                  </a:txBody>
                  <a:tcPr/>
                </a:tc>
                <a:tc>
                  <a:txBody>
                    <a:bodyPr/>
                    <a:lstStyle/>
                    <a:p>
                      <a:r>
                        <a:rPr sz="900"/>
                        <a:t>n/a</a:t>
                      </a:r>
                    </a:p>
                  </a:txBody>
                  <a:tcPr/>
                </a:tc>
                <a:tc>
                  <a:txBody>
                    <a:bodyPr/>
                    <a:lstStyle/>
                    <a:p>
                      <a:r>
                        <a:rPr sz="900"/>
                        <a:t>0.32</a:t>
                      </a:r>
                    </a:p>
                  </a:txBody>
                  <a:tcPr/>
                </a:tc>
                <a:tc>
                  <a:txBody>
                    <a:bodyPr/>
                    <a:lstStyle/>
                    <a:p>
                      <a:r>
                        <a:rPr sz="900"/>
                        <a:t>0.05</a:t>
                      </a:r>
                    </a:p>
                  </a:txBody>
                  <a:tcPr/>
                </a:tc>
              </a:tr>
              <a:tr h="320040">
                <a:tc>
                  <a:txBody>
                    <a:bodyPr/>
                    <a:lstStyle/>
                    <a:p>
                      <a:r>
                        <a:rPr sz="900"/>
                        <a:t>Two-stage, f = 0.05, stage 2 dt = W</a:t>
                      </a:r>
                    </a:p>
                  </a:txBody>
                  <a:tcPr/>
                </a:tc>
                <a:tc>
                  <a:txBody>
                    <a:bodyPr/>
                    <a:lstStyle/>
                    <a:p>
                      <a:r>
                        <a:rPr sz="900"/>
                        <a:t>0.784</a:t>
                      </a:r>
                    </a:p>
                  </a:txBody>
                  <a:tcPr/>
                </a:tc>
                <a:tc>
                  <a:txBody>
                    <a:bodyPr/>
                    <a:lstStyle/>
                    <a:p>
                      <a:r>
                        <a:rPr sz="900"/>
                        <a:t>n/a</a:t>
                      </a:r>
                    </a:p>
                  </a:txBody>
                  <a:tcPr/>
                </a:tc>
                <a:tc>
                  <a:txBody>
                    <a:bodyPr/>
                    <a:lstStyle/>
                    <a:p>
                      <a:r>
                        <a:rPr sz="900"/>
                        <a:t>n/a</a:t>
                      </a:r>
                    </a:p>
                  </a:txBody>
                  <a:tcPr/>
                </a:tc>
                <a:tc>
                  <a:txBody>
                    <a:bodyPr/>
                    <a:lstStyle/>
                    <a:p>
                      <a:r>
                        <a:rPr sz="900"/>
                        <a:t>0.45</a:t>
                      </a:r>
                    </a:p>
                  </a:txBody>
                  <a:tcPr/>
                </a:tc>
                <a:tc>
                  <a:txBody>
                    <a:bodyPr/>
                    <a:lstStyle/>
                    <a:p>
                      <a:r>
                        <a:rPr sz="900"/>
                        <a:t>0.11</a:t>
                      </a:r>
                    </a:p>
                  </a:txBody>
                  <a:tcPr/>
                </a:tc>
              </a:tr>
              <a:tr h="320040">
                <a:tc>
                  <a:txBody>
                    <a:bodyPr/>
                    <a:lstStyle/>
                    <a:p>
                      <a:r>
                        <a:rPr sz="900"/>
                        <a:t>Two-stage, f = 0.1, stage 2 dt = W</a:t>
                      </a:r>
                    </a:p>
                  </a:txBody>
                  <a:tcPr/>
                </a:tc>
                <a:tc>
                  <a:txBody>
                    <a:bodyPr/>
                    <a:lstStyle/>
                    <a:p>
                      <a:r>
                        <a:rPr sz="900"/>
                        <a:t>0.787</a:t>
                      </a:r>
                    </a:p>
                  </a:txBody>
                  <a:tcPr/>
                </a:tc>
                <a:tc>
                  <a:txBody>
                    <a:bodyPr/>
                    <a:lstStyle/>
                    <a:p>
                      <a:r>
                        <a:rPr sz="900"/>
                        <a:t>n/a</a:t>
                      </a:r>
                    </a:p>
                  </a:txBody>
                  <a:tcPr/>
                </a:tc>
                <a:tc>
                  <a:txBody>
                    <a:bodyPr/>
                    <a:lstStyle/>
                    <a:p>
                      <a:r>
                        <a:rPr sz="900"/>
                        <a:t>n/a</a:t>
                      </a:r>
                    </a:p>
                  </a:txBody>
                  <a:tcPr/>
                </a:tc>
                <a:tc>
                  <a:txBody>
                    <a:bodyPr/>
                    <a:lstStyle/>
                    <a:p>
                      <a:r>
                        <a:rPr sz="900"/>
                        <a:t>0.55</a:t>
                      </a:r>
                    </a:p>
                  </a:txBody>
                  <a:tcPr/>
                </a:tc>
                <a:tc>
                  <a:txBody>
                    <a:bodyPr/>
                    <a:lstStyle/>
                    <a:p>
                      <a:r>
                        <a:rPr sz="900"/>
                        <a:t>0.22</a:t>
                      </a:r>
                    </a:p>
                  </a:txBody>
                  <a:tcPr/>
                </a:tc>
              </a:tr>
              <a:tr h="320040">
                <a:tc>
                  <a:txBody>
                    <a:bodyPr/>
                    <a:lstStyle/>
                    <a:p>
                      <a:r>
                        <a:rPr sz="900"/>
                        <a:t>Two-stage, f = 0.2, stage 2 dt = W</a:t>
                      </a:r>
                    </a:p>
                  </a:txBody>
                  <a:tcPr/>
                </a:tc>
                <a:tc>
                  <a:txBody>
                    <a:bodyPr/>
                    <a:lstStyle/>
                    <a:p>
                      <a:r>
                        <a:rPr sz="900"/>
                        <a:t>0.794</a:t>
                      </a:r>
                    </a:p>
                  </a:txBody>
                  <a:tcPr/>
                </a:tc>
                <a:tc>
                  <a:txBody>
                    <a:bodyPr/>
                    <a:lstStyle/>
                    <a:p>
                      <a:r>
                        <a:rPr sz="900"/>
                        <a:t>n/a</a:t>
                      </a:r>
                    </a:p>
                  </a:txBody>
                  <a:tcPr/>
                </a:tc>
                <a:tc>
                  <a:txBody>
                    <a:bodyPr/>
                    <a:lstStyle/>
                    <a:p>
                      <a:r>
                        <a:rPr sz="900"/>
                        <a:t>n/a</a:t>
                      </a:r>
                    </a:p>
                  </a:txBody>
                  <a:tcPr/>
                </a:tc>
                <a:tc>
                  <a:txBody>
                    <a:bodyPr/>
                    <a:lstStyle/>
                    <a:p>
                      <a:r>
                        <a:rPr sz="900"/>
                        <a:t>0.66</a:t>
                      </a:r>
                    </a:p>
                  </a:txBody>
                  <a:tcPr/>
                </a:tc>
                <a:tc>
                  <a:txBody>
                    <a:bodyPr/>
                    <a:lstStyle/>
                    <a:p>
                      <a:r>
                        <a:rPr sz="900"/>
                        <a:t>0.45</a:t>
                      </a:r>
                    </a:p>
                  </a:txBody>
                  <a:tcPr/>
                </a:tc>
              </a:tr>
              <a:tr h="320040">
                <a:tc>
                  <a:txBody>
                    <a:bodyPr/>
                    <a:lstStyle/>
                    <a:p>
                      <a:r>
                        <a:rPr sz="900"/>
                        <a:t>Two-stage, f = 0.5, stage 2 dt = W</a:t>
                      </a:r>
                    </a:p>
                  </a:txBody>
                  <a:tcPr/>
                </a:tc>
                <a:tc>
                  <a:txBody>
                    <a:bodyPr/>
                    <a:lstStyle/>
                    <a:p>
                      <a:r>
                        <a:rPr sz="900"/>
                        <a:t>0.810</a:t>
                      </a:r>
                    </a:p>
                  </a:txBody>
                  <a:tcPr/>
                </a:tc>
                <a:tc>
                  <a:txBody>
                    <a:bodyPr/>
                    <a:lstStyle/>
                    <a:p>
                      <a:r>
                        <a:rPr sz="900"/>
                        <a:t>n/a</a:t>
                      </a:r>
                    </a:p>
                  </a:txBody>
                  <a:tcPr/>
                </a:tc>
                <a:tc>
                  <a:txBody>
                    <a:bodyPr/>
                    <a:lstStyle/>
                    <a:p>
                      <a:r>
                        <a:rPr sz="900"/>
                        <a:t>n/a</a:t>
                      </a:r>
                    </a:p>
                  </a:txBody>
                  <a:tcPr/>
                </a:tc>
                <a:tc>
                  <a:txBody>
                    <a:bodyPr/>
                    <a:lstStyle/>
                    <a:p>
                      <a:r>
                        <a:rPr sz="900"/>
                        <a:t>0.81</a:t>
                      </a:r>
                    </a:p>
                  </a:txBody>
                  <a:tcPr/>
                </a:tc>
                <a:tc>
                  <a:txBody>
                    <a:bodyPr/>
                    <a:lstStyle/>
                    <a:p>
                      <a:r>
                        <a:rPr sz="900"/>
                        <a:t>1.20</a:t>
                      </a:r>
                    </a:p>
                  </a:txBody>
                  <a:tcPr/>
                </a:tc>
              </a:tr>
            </a:tbl>
          </a:graphicData>
        </a:graphic>
      </p:graphicFrame>
      <p:sp>
        <p:nvSpPr>
          <p:cNvPr id="4" name="TextBox 3"/>
          <p:cNvSpPr txBox="1"/>
          <p:nvPr/>
        </p:nvSpPr>
        <p:spPr>
          <a:xfrm>
            <a:off x="365760" y="4160520"/>
            <a:ext cx="11430000" cy="2514599"/>
          </a:xfrm>
          <a:prstGeom prst="rect">
            <a:avLst/>
          </a:prstGeom>
          <a:noFill/>
        </p:spPr>
        <p:txBody>
          <a:bodyPr wrap="square">
            <a:spAutoFit/>
          </a:bodyPr>
          <a:lstStyle/>
          <a:p>
            <a:r>
              <a:rPr sz="1100"/>
              <a:t>Table 3. Parameter hand-over and two-stage cascade on all 43 EBSSA recordings. AUC: mean over recordings (pooled and per sensor model). Recall: fraction of object events passed by stage 1. Stage-2 time: median wall-clock time of YNoise on the passed events relative to YNoise on the whole stream. No labels are used by any row except the label-tuned reference.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none">
            <a:spAutoFit/>
          </a:bodyPr>
          <a:lstStyle/>
          <a:p>
            <a:r>
              <a:rPr sz="2200" b="1"/>
              <a:t>Table 4</a:t>
            </a:r>
          </a:p>
        </p:txBody>
      </p:sp>
      <p:graphicFrame>
        <p:nvGraphicFramePr>
          <p:cNvPr id="3" name="Table 2"/>
          <p:cNvGraphicFramePr>
            <a:graphicFrameLocks noGrp="1"/>
          </p:cNvGraphicFramePr>
          <p:nvPr/>
        </p:nvGraphicFramePr>
        <p:xfrm>
          <a:off x="365760" y="822960"/>
          <a:ext cx="11430000" cy="4754880"/>
        </p:xfrm>
        <a:graphic>
          <a:graphicData uri="http://schemas.openxmlformats.org/drawingml/2006/table">
            <a:tbl>
              <a:tblPr firstRow="1" bandRow="1">
                <a:tableStyleId>{5C22544A-7EE6-4342-B048-85BDC9FD1C3A}</a:tableStyleId>
              </a:tblPr>
              <a:tblGrid>
                <a:gridCol w="1632857"/>
                <a:gridCol w="1632857"/>
                <a:gridCol w="1632857"/>
                <a:gridCol w="1632857"/>
                <a:gridCol w="1632857"/>
                <a:gridCol w="1632857"/>
                <a:gridCol w="1632858"/>
              </a:tblGrid>
              <a:tr h="250256">
                <a:tc>
                  <a:txBody>
                    <a:bodyPr/>
                    <a:lstStyle/>
                    <a:p>
                      <a:r>
                        <a:rPr sz="700" b="1"/>
                        <a:t>Configuration</a:t>
                      </a:r>
                    </a:p>
                  </a:txBody>
                  <a:tcPr/>
                </a:tc>
                <a:tc>
                  <a:txBody>
                    <a:bodyPr/>
                    <a:lstStyle/>
                    <a:p>
                      <a:r>
                        <a:rPr sz="700" b="1"/>
                        <a:t>AUC (mean ± SD)</a:t>
                      </a:r>
                    </a:p>
                  </a:txBody>
                  <a:tcPr/>
                </a:tc>
                <a:tc>
                  <a:txBody>
                    <a:bodyPr/>
                    <a:lstStyle/>
                    <a:p>
                      <a:r>
                        <a:rPr sz="700" b="1"/>
                        <a:t>ΔAUC</a:t>
                      </a:r>
                    </a:p>
                  </a:txBody>
                  <a:tcPr/>
                </a:tc>
                <a:tc>
                  <a:txBody>
                    <a:bodyPr/>
                    <a:lstStyle/>
                    <a:p>
                      <a:r>
                        <a:rPr sz="700" b="1"/>
                        <a:t>95% CI</a:t>
                      </a:r>
                    </a:p>
                  </a:txBody>
                  <a:tcPr/>
                </a:tc>
                <a:tc>
                  <a:txBody>
                    <a:bodyPr/>
                    <a:lstStyle/>
                    <a:p>
                      <a:r>
                        <a:rPr sz="700" b="1"/>
                        <a:t>p (Holm)</a:t>
                      </a:r>
                    </a:p>
                  </a:txBody>
                  <a:tcPr/>
                </a:tc>
                <a:tc>
                  <a:txBody>
                    <a:bodyPr/>
                    <a:lstStyle/>
                    <a:p>
                      <a:r>
                        <a:rPr sz="700" b="1"/>
                        <a:t>p (segment)</a:t>
                      </a:r>
                    </a:p>
                  </a:txBody>
                  <a:tcPr/>
                </a:tc>
                <a:tc>
                  <a:txBody>
                    <a:bodyPr/>
                    <a:lstStyle/>
                    <a:p>
                      <a:r>
                        <a:rPr sz="700" b="1"/>
                        <a:t>Sources</a:t>
                      </a:r>
                    </a:p>
                  </a:txBody>
                  <a:tcPr/>
                </a:tc>
              </a:tr>
              <a:tr h="250256">
                <a:tc>
                  <a:txBody>
                    <a:bodyPr/>
                    <a:lstStyle/>
                    <a:p>
                      <a:r>
                        <a:rPr sz="700"/>
                        <a:t>Proposed, rate-adaptive, fixed deployment (no tuning)</a:t>
                      </a:r>
                    </a:p>
                  </a:txBody>
                  <a:tcPr/>
                </a:tc>
                <a:tc>
                  <a:txBody>
                    <a:bodyPr/>
                    <a:lstStyle/>
                    <a:p>
                      <a:r>
                        <a:rPr sz="700"/>
                        <a:t>0.755 ± 0.140</a:t>
                      </a:r>
                    </a:p>
                  </a:txBody>
                  <a:tcPr/>
                </a:tc>
                <a:tc>
                  <a:txBody>
                    <a:bodyPr/>
                    <a:lstStyle/>
                    <a:p>
                      <a:r>
                        <a:rPr sz="700"/>
                        <a:t>-</a:t>
                      </a:r>
                    </a:p>
                  </a:txBody>
                  <a:tcPr/>
                </a:tc>
                <a:tc>
                  <a:txBody>
                    <a:bodyPr/>
                    <a:lstStyle/>
                    <a:p>
                      <a:r>
                        <a:rPr sz="700"/>
                        <a:t>-</a:t>
                      </a:r>
                    </a:p>
                  </a:txBody>
                  <a:tcPr/>
                </a:tc>
                <a:tc>
                  <a:txBody>
                    <a:bodyPr/>
                    <a:lstStyle/>
                    <a:p>
                      <a:r>
                        <a:rPr sz="700"/>
                        <a:t>-</a:t>
                      </a:r>
                    </a:p>
                  </a:txBody>
                  <a:tcPr/>
                </a:tc>
                <a:tc>
                  <a:txBody>
                    <a:bodyPr/>
                    <a:lstStyle/>
                    <a:p>
                      <a:r>
                        <a:rPr sz="700"/>
                        <a:t>-</a:t>
                      </a:r>
                    </a:p>
                  </a:txBody>
                  <a:tcPr/>
                </a:tc>
                <a:tc>
                  <a:txBody>
                    <a:bodyPr/>
                    <a:lstStyle/>
                    <a:p>
                      <a:r>
                        <a:rPr sz="700"/>
                        <a:t>-</a:t>
                      </a:r>
                    </a:p>
                  </a:txBody>
                  <a:tcPr/>
                </a:tc>
              </a:tr>
              <a:tr h="250256">
                <a:tc>
                  <a:txBody>
                    <a:bodyPr/>
                    <a:lstStyle/>
                    <a:p>
                      <a:r>
                        <a:rPr sz="700"/>
                        <a:t>Proposed, rate-adaptive, EBSSA-selected k</a:t>
                      </a:r>
                    </a:p>
                  </a:txBody>
                  <a:tcPr/>
                </a:tc>
                <a:tc>
                  <a:txBody>
                    <a:bodyPr/>
                    <a:lstStyle/>
                    <a:p>
                      <a:r>
                        <a:rPr sz="700"/>
                        <a:t>0.720 ± 0.149</a:t>
                      </a:r>
                    </a:p>
                  </a:txBody>
                  <a:tcPr/>
                </a:tc>
                <a:tc>
                  <a:txBody>
                    <a:bodyPr/>
                    <a:lstStyle/>
                    <a:p>
                      <a:r>
                        <a:rPr sz="700"/>
                        <a:t>+0.035</a:t>
                      </a:r>
                    </a:p>
                  </a:txBody>
                  <a:tcPr/>
                </a:tc>
                <a:tc>
                  <a:txBody>
                    <a:bodyPr/>
                    <a:lstStyle/>
                    <a:p>
                      <a:r>
                        <a:rPr sz="700"/>
                        <a:t>[-0.008, +0.078]</a:t>
                      </a:r>
                    </a:p>
                  </a:txBody>
                  <a:tcPr/>
                </a:tc>
                <a:tc>
                  <a:txBody>
                    <a:bodyPr/>
                    <a:lstStyle/>
                    <a:p>
                      <a:r>
                        <a:rPr sz="700"/>
                        <a:t>&lt;0.001</a:t>
                      </a:r>
                    </a:p>
                  </a:txBody>
                  <a:tcPr/>
                </a:tc>
                <a:tc>
                  <a:txBody>
                    <a:bodyPr/>
                    <a:lstStyle/>
                    <a:p>
                      <a:r>
                        <a:rPr sz="700"/>
                        <a:t>= 0.144</a:t>
                      </a:r>
                    </a:p>
                  </a:txBody>
                  <a:tcPr/>
                </a:tc>
                <a:tc>
                  <a:txBody>
                    <a:bodyPr/>
                    <a:lstStyle/>
                    <a:p>
                      <a:r>
                        <a:rPr sz="700"/>
                        <a:t>3/4</a:t>
                      </a:r>
                    </a:p>
                  </a:txBody>
                  <a:tcPr/>
                </a:tc>
              </a:tr>
              <a:tr h="250256">
                <a:tc>
                  <a:txBody>
                    <a:bodyPr/>
                    <a:lstStyle/>
                    <a:p>
                      <a:r>
                        <a:rPr sz="700"/>
                        <a:t>Proposed, rate-adaptive, nested CV on DND21</a:t>
                      </a:r>
                    </a:p>
                  </a:txBody>
                  <a:tcPr/>
                </a:tc>
                <a:tc>
                  <a:txBody>
                    <a:bodyPr/>
                    <a:lstStyle/>
                    <a:p>
                      <a:r>
                        <a:rPr sz="700"/>
                        <a:t>0.740 ± 0.178</a:t>
                      </a:r>
                    </a:p>
                  </a:txBody>
                  <a:tcPr/>
                </a:tc>
                <a:tc>
                  <a:txBody>
                    <a:bodyPr/>
                    <a:lstStyle/>
                    <a:p>
                      <a:r>
                        <a:rPr sz="700"/>
                        <a:t>-0.127</a:t>
                      </a:r>
                    </a:p>
                  </a:txBody>
                  <a:tcPr/>
                </a:tc>
                <a:tc>
                  <a:txBody>
                    <a:bodyPr/>
                    <a:lstStyle/>
                    <a:p>
                      <a:r>
                        <a:rPr sz="700"/>
                        <a:t>[-0.178, -0.062]</a:t>
                      </a:r>
                    </a:p>
                  </a:txBody>
                  <a:tcPr/>
                </a:tc>
                <a:tc>
                  <a:txBody>
                    <a:bodyPr/>
                    <a:lstStyle/>
                    <a:p>
                      <a:r>
                        <a:rPr sz="700"/>
                        <a:t>&lt;0.001</a:t>
                      </a:r>
                    </a:p>
                  </a:txBody>
                  <a:tcPr/>
                </a:tc>
                <a:tc>
                  <a:txBody>
                    <a:bodyPr/>
                    <a:lstStyle/>
                    <a:p>
                      <a:r>
                        <a:rPr sz="700"/>
                        <a:t>= 0.003</a:t>
                      </a:r>
                    </a:p>
                  </a:txBody>
                  <a:tcPr/>
                </a:tc>
                <a:tc>
                  <a:txBody>
                    <a:bodyPr/>
                    <a:lstStyle/>
                    <a:p>
                      <a:r>
                        <a:rPr sz="700"/>
                        <a:t>1/4</a:t>
                      </a:r>
                    </a:p>
                  </a:txBody>
                  <a:tcPr/>
                </a:tc>
              </a:tr>
              <a:tr h="250256">
                <a:tc>
                  <a:txBody>
                    <a:bodyPr/>
                    <a:lstStyle/>
                    <a:p>
                      <a:r>
                        <a:rPr sz="700"/>
                        <a:t>Proposed, fixed window, nested CV on DND21</a:t>
                      </a:r>
                    </a:p>
                  </a:txBody>
                  <a:tcPr/>
                </a:tc>
                <a:tc>
                  <a:txBody>
                    <a:bodyPr/>
                    <a:lstStyle/>
                    <a:p>
                      <a:r>
                        <a:rPr sz="700"/>
                        <a:t>0.613 ± 0.150</a:t>
                      </a:r>
                    </a:p>
                  </a:txBody>
                  <a:tcPr/>
                </a:tc>
                <a:tc>
                  <a:txBody>
                    <a:bodyPr/>
                    <a:lstStyle/>
                    <a:p>
                      <a:r>
                        <a:rPr sz="700"/>
                        <a:t>-</a:t>
                      </a:r>
                    </a:p>
                  </a:txBody>
                  <a:tcPr/>
                </a:tc>
                <a:tc>
                  <a:txBody>
                    <a:bodyPr/>
                    <a:lstStyle/>
                    <a:p>
                      <a:r>
                        <a:rPr sz="700"/>
                        <a:t>-</a:t>
                      </a:r>
                    </a:p>
                  </a:txBody>
                  <a:tcPr/>
                </a:tc>
                <a:tc>
                  <a:txBody>
                    <a:bodyPr/>
                    <a:lstStyle/>
                    <a:p>
                      <a:r>
                        <a:rPr sz="700"/>
                        <a:t>-</a:t>
                      </a:r>
                    </a:p>
                  </a:txBody>
                  <a:tcPr/>
                </a:tc>
                <a:tc>
                  <a:txBody>
                    <a:bodyPr/>
                    <a:lstStyle/>
                    <a:p>
                      <a:r>
                        <a:rPr sz="700"/>
                        <a:t>-</a:t>
                      </a:r>
                    </a:p>
                  </a:txBody>
                  <a:tcPr/>
                </a:tc>
                <a:tc>
                  <a:txBody>
                    <a:bodyPr/>
                    <a:lstStyle/>
                    <a:p>
                      <a:r>
                        <a:rPr sz="700"/>
                        <a:t>-</a:t>
                      </a:r>
                    </a:p>
                  </a:txBody>
                  <a:tcPr/>
                </a:tc>
              </a:tr>
              <a:tr h="250256">
                <a:tc>
                  <a:txBody>
                    <a:bodyPr/>
                    <a:lstStyle/>
                    <a:p>
                      <a:r>
                        <a:rPr sz="700"/>
                        <a:t>YNoise, published default</a:t>
                      </a:r>
                    </a:p>
                  </a:txBody>
                  <a:tcPr/>
                </a:tc>
                <a:tc>
                  <a:txBody>
                    <a:bodyPr/>
                    <a:lstStyle/>
                    <a:p>
                      <a:r>
                        <a:rPr sz="700"/>
                        <a:t>0.888 ± 0.115</a:t>
                      </a:r>
                    </a:p>
                  </a:txBody>
                  <a:tcPr/>
                </a:tc>
                <a:tc>
                  <a:txBody>
                    <a:bodyPr/>
                    <a:lstStyle/>
                    <a:p>
                      <a:r>
                        <a:rPr sz="700"/>
                        <a:t>-0.132</a:t>
                      </a:r>
                    </a:p>
                  </a:txBody>
                  <a:tcPr/>
                </a:tc>
                <a:tc>
                  <a:txBody>
                    <a:bodyPr/>
                    <a:lstStyle/>
                    <a:p>
                      <a:r>
                        <a:rPr sz="700"/>
                        <a:t>[-0.165, -0.098]</a:t>
                      </a:r>
                    </a:p>
                  </a:txBody>
                  <a:tcPr/>
                </a:tc>
                <a:tc>
                  <a:txBody>
                    <a:bodyPr/>
                    <a:lstStyle/>
                    <a:p>
                      <a:r>
                        <a:rPr sz="700"/>
                        <a:t>&lt;0.001</a:t>
                      </a:r>
                    </a:p>
                  </a:txBody>
                  <a:tcPr/>
                </a:tc>
                <a:tc>
                  <a:txBody>
                    <a:bodyPr/>
                    <a:lstStyle/>
                    <a:p>
                      <a:r>
                        <a:rPr sz="700"/>
                        <a:t>&lt; 0.001</a:t>
                      </a:r>
                    </a:p>
                  </a:txBody>
                  <a:tcPr/>
                </a:tc>
                <a:tc>
                  <a:txBody>
                    <a:bodyPr/>
                    <a:lstStyle/>
                    <a:p>
                      <a:r>
                        <a:rPr sz="700"/>
                        <a:t>1/4</a:t>
                      </a:r>
                    </a:p>
                  </a:txBody>
                  <a:tcPr/>
                </a:tc>
              </a:tr>
              <a:tr h="250256">
                <a:tc>
                  <a:txBody>
                    <a:bodyPr/>
                    <a:lstStyle/>
                    <a:p>
                      <a:r>
                        <a:rPr sz="700"/>
                        <a:t>YNoise, EBSSA-selected</a:t>
                      </a:r>
                    </a:p>
                  </a:txBody>
                  <a:tcPr/>
                </a:tc>
                <a:tc>
                  <a:txBody>
                    <a:bodyPr/>
                    <a:lstStyle/>
                    <a:p>
                      <a:r>
                        <a:rPr sz="700"/>
                        <a:t>0.817 ± 0.136</a:t>
                      </a:r>
                    </a:p>
                  </a:txBody>
                  <a:tcPr/>
                </a:tc>
                <a:tc>
                  <a:txBody>
                    <a:bodyPr/>
                    <a:lstStyle/>
                    <a:p>
                      <a:r>
                        <a:rPr sz="700"/>
                        <a:t>-0.062</a:t>
                      </a:r>
                    </a:p>
                  </a:txBody>
                  <a:tcPr/>
                </a:tc>
                <a:tc>
                  <a:txBody>
                    <a:bodyPr/>
                    <a:lstStyle/>
                    <a:p>
                      <a:r>
                        <a:rPr sz="700"/>
                        <a:t>[-0.092, -0.031]</a:t>
                      </a:r>
                    </a:p>
                  </a:txBody>
                  <a:tcPr/>
                </a:tc>
                <a:tc>
                  <a:txBody>
                    <a:bodyPr/>
                    <a:lstStyle/>
                    <a:p>
                      <a:r>
                        <a:rPr sz="700"/>
                        <a:t>&lt;0.001</a:t>
                      </a:r>
                    </a:p>
                  </a:txBody>
                  <a:tcPr/>
                </a:tc>
                <a:tc>
                  <a:txBody>
                    <a:bodyPr/>
                    <a:lstStyle/>
                    <a:p>
                      <a:r>
                        <a:rPr sz="700"/>
                        <a:t>= 0.002</a:t>
                      </a:r>
                    </a:p>
                  </a:txBody>
                  <a:tcPr/>
                </a:tc>
                <a:tc>
                  <a:txBody>
                    <a:bodyPr/>
                    <a:lstStyle/>
                    <a:p>
                      <a:r>
                        <a:rPr sz="700"/>
                        <a:t>1/4</a:t>
                      </a:r>
                    </a:p>
                  </a:txBody>
                  <a:tcPr/>
                </a:tc>
              </a:tr>
              <a:tr h="250256">
                <a:tc>
                  <a:txBody>
                    <a:bodyPr/>
                    <a:lstStyle/>
                    <a:p>
                      <a:r>
                        <a:rPr sz="700"/>
                        <a:t>YNoise, dt = W handed over (no labels)</a:t>
                      </a:r>
                    </a:p>
                  </a:txBody>
                  <a:tcPr/>
                </a:tc>
                <a:tc>
                  <a:txBody>
                    <a:bodyPr/>
                    <a:lstStyle/>
                    <a:p>
                      <a:r>
                        <a:rPr sz="700"/>
                        <a:t>0.885 ± 0.102</a:t>
                      </a:r>
                    </a:p>
                  </a:txBody>
                  <a:tcPr/>
                </a:tc>
                <a:tc>
                  <a:txBody>
                    <a:bodyPr/>
                    <a:lstStyle/>
                    <a:p>
                      <a:r>
                        <a:rPr sz="700"/>
                        <a:t>-0.130</a:t>
                      </a:r>
                    </a:p>
                  </a:txBody>
                  <a:tcPr/>
                </a:tc>
                <a:tc>
                  <a:txBody>
                    <a:bodyPr/>
                    <a:lstStyle/>
                    <a:p>
                      <a:r>
                        <a:rPr sz="700"/>
                        <a:t>[-0.166, -0.098]</a:t>
                      </a:r>
                    </a:p>
                  </a:txBody>
                  <a:tcPr/>
                </a:tc>
                <a:tc>
                  <a:txBody>
                    <a:bodyPr/>
                    <a:lstStyle/>
                    <a:p>
                      <a:r>
                        <a:rPr sz="700"/>
                        <a:t>&lt;0.001</a:t>
                      </a:r>
                    </a:p>
                  </a:txBody>
                  <a:tcPr/>
                </a:tc>
                <a:tc>
                  <a:txBody>
                    <a:bodyPr/>
                    <a:lstStyle/>
                    <a:p>
                      <a:r>
                        <a:rPr sz="700"/>
                        <a:t>&lt; 0.001</a:t>
                      </a:r>
                    </a:p>
                  </a:txBody>
                  <a:tcPr/>
                </a:tc>
                <a:tc>
                  <a:txBody>
                    <a:bodyPr/>
                    <a:lstStyle/>
                    <a:p>
                      <a:r>
                        <a:rPr sz="700"/>
                        <a:t>0/4</a:t>
                      </a:r>
                    </a:p>
                  </a:txBody>
                  <a:tcPr/>
                </a:tc>
              </a:tr>
              <a:tr h="250256">
                <a:tc>
                  <a:txBody>
                    <a:bodyPr/>
                    <a:lstStyle/>
                    <a:p>
                      <a:r>
                        <a:rPr sz="700"/>
                        <a:t>Two-stage cascade, f = 0.1 (no labels)</a:t>
                      </a:r>
                    </a:p>
                  </a:txBody>
                  <a:tcPr/>
                </a:tc>
                <a:tc>
                  <a:txBody>
                    <a:bodyPr/>
                    <a:lstStyle/>
                    <a:p>
                      <a:r>
                        <a:rPr sz="700"/>
                        <a:t>0.755 ± 0.139</a:t>
                      </a:r>
                    </a:p>
                  </a:txBody>
                  <a:tcPr/>
                </a:tc>
                <a:tc>
                  <a:txBody>
                    <a:bodyPr/>
                    <a:lstStyle/>
                    <a:p>
                      <a:r>
                        <a:rPr sz="700"/>
                        <a:t>+0.000</a:t>
                      </a:r>
                    </a:p>
                  </a:txBody>
                  <a:tcPr/>
                </a:tc>
                <a:tc>
                  <a:txBody>
                    <a:bodyPr/>
                    <a:lstStyle/>
                    <a:p>
                      <a:r>
                        <a:rPr sz="700"/>
                        <a:t>[-0.000, +0.001]</a:t>
                      </a:r>
                    </a:p>
                  </a:txBody>
                  <a:tcPr/>
                </a:tc>
                <a:tc>
                  <a:txBody>
                    <a:bodyPr/>
                    <a:lstStyle/>
                    <a:p>
                      <a:r>
                        <a:rPr sz="700"/>
                        <a:t>0.017</a:t>
                      </a:r>
                    </a:p>
                  </a:txBody>
                  <a:tcPr/>
                </a:tc>
                <a:tc>
                  <a:txBody>
                    <a:bodyPr/>
                    <a:lstStyle/>
                    <a:p>
                      <a:r>
                        <a:rPr sz="700"/>
                        <a:t>= 0.375</a:t>
                      </a:r>
                    </a:p>
                  </a:txBody>
                  <a:tcPr/>
                </a:tc>
                <a:tc>
                  <a:txBody>
                    <a:bodyPr/>
                    <a:lstStyle/>
                    <a:p>
                      <a:r>
                        <a:rPr sz="700"/>
                        <a:t>2/4</a:t>
                      </a:r>
                    </a:p>
                  </a:txBody>
                  <a:tcPr/>
                </a:tc>
              </a:tr>
              <a:tr h="250256">
                <a:tc>
                  <a:txBody>
                    <a:bodyPr/>
                    <a:lstStyle/>
                    <a:p>
                      <a:r>
                        <a:rPr sz="700"/>
                        <a:t>Two-stage cascade, f = 0.2 (no labels)</a:t>
                      </a:r>
                    </a:p>
                  </a:txBody>
                  <a:tcPr/>
                </a:tc>
                <a:tc>
                  <a:txBody>
                    <a:bodyPr/>
                    <a:lstStyle/>
                    <a:p>
                      <a:r>
                        <a:rPr sz="700"/>
                        <a:t>0.759 ± 0.139</a:t>
                      </a:r>
                    </a:p>
                  </a:txBody>
                  <a:tcPr/>
                </a:tc>
                <a:tc>
                  <a:txBody>
                    <a:bodyPr/>
                    <a:lstStyle/>
                    <a:p>
                      <a:r>
                        <a:rPr sz="700"/>
                        <a:t>-0.003</a:t>
                      </a:r>
                    </a:p>
                  </a:txBody>
                  <a:tcPr/>
                </a:tc>
                <a:tc>
                  <a:txBody>
                    <a:bodyPr/>
                    <a:lstStyle/>
                    <a:p>
                      <a:r>
                        <a:rPr sz="700"/>
                        <a:t>[-0.008, +0.000]</a:t>
                      </a:r>
                    </a:p>
                  </a:txBody>
                  <a:tcPr/>
                </a:tc>
                <a:tc>
                  <a:txBody>
                    <a:bodyPr/>
                    <a:lstStyle/>
                    <a:p>
                      <a:r>
                        <a:rPr sz="700"/>
                        <a:t>&lt;0.001</a:t>
                      </a:r>
                    </a:p>
                  </a:txBody>
                  <a:tcPr/>
                </a:tc>
                <a:tc>
                  <a:txBody>
                    <a:bodyPr/>
                    <a:lstStyle/>
                    <a:p>
                      <a:r>
                        <a:rPr sz="700"/>
                        <a:t>= 0.016</a:t>
                      </a:r>
                    </a:p>
                  </a:txBody>
                  <a:tcPr/>
                </a:tc>
                <a:tc>
                  <a:txBody>
                    <a:bodyPr/>
                    <a:lstStyle/>
                    <a:p>
                      <a:r>
                        <a:rPr sz="700"/>
                        <a:t>1/4</a:t>
                      </a:r>
                    </a:p>
                  </a:txBody>
                  <a:tcPr/>
                </a:tc>
              </a:tr>
              <a:tr h="250256">
                <a:tc>
                  <a:txBody>
                    <a:bodyPr/>
                    <a:lstStyle/>
                    <a:p>
                      <a:r>
                        <a:rPr sz="700"/>
                        <a:t>YNoise, nested CV</a:t>
                      </a:r>
                    </a:p>
                  </a:txBody>
                  <a:tcPr/>
                </a:tc>
                <a:tc>
                  <a:txBody>
                    <a:bodyPr/>
                    <a:lstStyle/>
                    <a:p>
                      <a:r>
                        <a:rPr sz="700"/>
                        <a:t>0.904 ± 0.090</a:t>
                      </a:r>
                    </a:p>
                  </a:txBody>
                  <a:tcPr/>
                </a:tc>
                <a:tc>
                  <a:txBody>
                    <a:bodyPr/>
                    <a:lstStyle/>
                    <a:p>
                      <a:r>
                        <a:rPr sz="700"/>
                        <a:t>-0.291</a:t>
                      </a:r>
                    </a:p>
                  </a:txBody>
                  <a:tcPr/>
                </a:tc>
                <a:tc>
                  <a:txBody>
                    <a:bodyPr/>
                    <a:lstStyle/>
                    <a:p>
                      <a:r>
                        <a:rPr sz="700"/>
                        <a:t>[-0.316, -0.267]</a:t>
                      </a:r>
                    </a:p>
                  </a:txBody>
                  <a:tcPr/>
                </a:tc>
                <a:tc>
                  <a:txBody>
                    <a:bodyPr/>
                    <a:lstStyle/>
                    <a:p>
                      <a:r>
                        <a:rPr sz="700"/>
                        <a:t>&lt;0.001</a:t>
                      </a:r>
                    </a:p>
                  </a:txBody>
                  <a:tcPr/>
                </a:tc>
                <a:tc>
                  <a:txBody>
                    <a:bodyPr/>
                    <a:lstStyle/>
                    <a:p>
                      <a:r>
                        <a:rPr sz="700"/>
                        <a:t>&lt; 0.001</a:t>
                      </a:r>
                    </a:p>
                  </a:txBody>
                  <a:tcPr/>
                </a:tc>
                <a:tc>
                  <a:txBody>
                    <a:bodyPr/>
                    <a:lstStyle/>
                    <a:p>
                      <a:r>
                        <a:rPr sz="700"/>
                        <a:t>0/4</a:t>
                      </a:r>
                    </a:p>
                  </a:txBody>
                  <a:tcPr/>
                </a:tc>
              </a:tr>
              <a:tr h="250256">
                <a:tc>
                  <a:txBody>
                    <a:bodyPr/>
                    <a:lstStyle/>
                    <a:p>
                      <a:r>
                        <a:rPr sz="700"/>
                        <a:t>Event bilateral, nested CV</a:t>
                      </a:r>
                    </a:p>
                  </a:txBody>
                  <a:tcPr/>
                </a:tc>
                <a:tc>
                  <a:txBody>
                    <a:bodyPr/>
                    <a:lstStyle/>
                    <a:p>
                      <a:r>
                        <a:rPr sz="700"/>
                        <a:t>0.883 ± 0.102</a:t>
                      </a:r>
                    </a:p>
                  </a:txBody>
                  <a:tcPr/>
                </a:tc>
                <a:tc>
                  <a:txBody>
                    <a:bodyPr/>
                    <a:lstStyle/>
                    <a:p>
                      <a:r>
                        <a:rPr sz="700"/>
                        <a:t>-0.270</a:t>
                      </a:r>
                    </a:p>
                  </a:txBody>
                  <a:tcPr/>
                </a:tc>
                <a:tc>
                  <a:txBody>
                    <a:bodyPr/>
                    <a:lstStyle/>
                    <a:p>
                      <a:r>
                        <a:rPr sz="700"/>
                        <a:t>[-0.303, -0.241]</a:t>
                      </a:r>
                    </a:p>
                  </a:txBody>
                  <a:tcPr/>
                </a:tc>
                <a:tc>
                  <a:txBody>
                    <a:bodyPr/>
                    <a:lstStyle/>
                    <a:p>
                      <a:r>
                        <a:rPr sz="700"/>
                        <a:t>&lt;0.001</a:t>
                      </a:r>
                    </a:p>
                  </a:txBody>
                  <a:tcPr/>
                </a:tc>
                <a:tc>
                  <a:txBody>
                    <a:bodyPr/>
                    <a:lstStyle/>
                    <a:p>
                      <a:r>
                        <a:rPr sz="700"/>
                        <a:t>&lt; 0.001</a:t>
                      </a:r>
                    </a:p>
                  </a:txBody>
                  <a:tcPr/>
                </a:tc>
                <a:tc>
                  <a:txBody>
                    <a:bodyPr/>
                    <a:lstStyle/>
                    <a:p>
                      <a:r>
                        <a:rPr sz="700"/>
                        <a:t>0/4</a:t>
                      </a:r>
                    </a:p>
                  </a:txBody>
                  <a:tcPr/>
                </a:tc>
              </a:tr>
              <a:tr h="250256">
                <a:tc>
                  <a:txBody>
                    <a:bodyPr/>
                    <a:lstStyle/>
                    <a:p>
                      <a:r>
                        <a:rPr sz="700"/>
                        <a:t>PFD-A (approximation), nested CV</a:t>
                      </a:r>
                    </a:p>
                  </a:txBody>
                  <a:tcPr/>
                </a:tc>
                <a:tc>
                  <a:txBody>
                    <a:bodyPr/>
                    <a:lstStyle/>
                    <a:p>
                      <a:r>
                        <a:rPr sz="700"/>
                        <a:t>0.882 ± 0.120</a:t>
                      </a:r>
                    </a:p>
                  </a:txBody>
                  <a:tcPr/>
                </a:tc>
                <a:tc>
                  <a:txBody>
                    <a:bodyPr/>
                    <a:lstStyle/>
                    <a:p>
                      <a:r>
                        <a:rPr sz="700"/>
                        <a:t>-0.269</a:t>
                      </a:r>
                    </a:p>
                  </a:txBody>
                  <a:tcPr/>
                </a:tc>
                <a:tc>
                  <a:txBody>
                    <a:bodyPr/>
                    <a:lstStyle/>
                    <a:p>
                      <a:r>
                        <a:rPr sz="700"/>
                        <a:t>[-0.306, -0.230]</a:t>
                      </a:r>
                    </a:p>
                  </a:txBody>
                  <a:tcPr/>
                </a:tc>
                <a:tc>
                  <a:txBody>
                    <a:bodyPr/>
                    <a:lstStyle/>
                    <a:p>
                      <a:r>
                        <a:rPr sz="700"/>
                        <a:t>&lt;0.001</a:t>
                      </a:r>
                    </a:p>
                  </a:txBody>
                  <a:tcPr/>
                </a:tc>
                <a:tc>
                  <a:txBody>
                    <a:bodyPr/>
                    <a:lstStyle/>
                    <a:p>
                      <a:r>
                        <a:rPr sz="700"/>
                        <a:t>&lt; 0.001</a:t>
                      </a:r>
                    </a:p>
                  </a:txBody>
                  <a:tcPr/>
                </a:tc>
                <a:tc>
                  <a:txBody>
                    <a:bodyPr/>
                    <a:lstStyle/>
                    <a:p>
                      <a:r>
                        <a:rPr sz="700"/>
                        <a:t>0/4</a:t>
                      </a:r>
                    </a:p>
                  </a:txBody>
                  <a:tcPr/>
                </a:tc>
              </a:tr>
              <a:tr h="250256">
                <a:tc>
                  <a:txBody>
                    <a:bodyPr/>
                    <a:lstStyle/>
                    <a:p>
                      <a:r>
                        <a:rPr sz="700"/>
                        <a:t>DWF, nested CV</a:t>
                      </a:r>
                    </a:p>
                  </a:txBody>
                  <a:tcPr/>
                </a:tc>
                <a:tc>
                  <a:txBody>
                    <a:bodyPr/>
                    <a:lstStyle/>
                    <a:p>
                      <a:r>
                        <a:rPr sz="700"/>
                        <a:t>0.864 ± 0.118</a:t>
                      </a:r>
                    </a:p>
                  </a:txBody>
                  <a:tcPr/>
                </a:tc>
                <a:tc>
                  <a:txBody>
                    <a:bodyPr/>
                    <a:lstStyle/>
                    <a:p>
                      <a:r>
                        <a:rPr sz="700"/>
                        <a:t>-0.250</a:t>
                      </a:r>
                    </a:p>
                  </a:txBody>
                  <a:tcPr/>
                </a:tc>
                <a:tc>
                  <a:txBody>
                    <a:bodyPr/>
                    <a:lstStyle/>
                    <a:p>
                      <a:r>
                        <a:rPr sz="700"/>
                        <a:t>[-0.277, -0.229]</a:t>
                      </a:r>
                    </a:p>
                  </a:txBody>
                  <a:tcPr/>
                </a:tc>
                <a:tc>
                  <a:txBody>
                    <a:bodyPr/>
                    <a:lstStyle/>
                    <a:p>
                      <a:r>
                        <a:rPr sz="700"/>
                        <a:t>&lt;0.001</a:t>
                      </a:r>
                    </a:p>
                  </a:txBody>
                  <a:tcPr/>
                </a:tc>
                <a:tc>
                  <a:txBody>
                    <a:bodyPr/>
                    <a:lstStyle/>
                    <a:p>
                      <a:r>
                        <a:rPr sz="700"/>
                        <a:t>&lt; 0.001</a:t>
                      </a:r>
                    </a:p>
                  </a:txBody>
                  <a:tcPr/>
                </a:tc>
                <a:tc>
                  <a:txBody>
                    <a:bodyPr/>
                    <a:lstStyle/>
                    <a:p>
                      <a:r>
                        <a:rPr sz="700"/>
                        <a:t>0/4</a:t>
                      </a:r>
                    </a:p>
                  </a:txBody>
                  <a:tcPr/>
                </a:tc>
              </a:tr>
              <a:tr h="250256">
                <a:tc>
                  <a:txBody>
                    <a:bodyPr/>
                    <a:lstStyle/>
                    <a:p>
                      <a:r>
                        <a:rPr sz="700"/>
                        <a:t>kNoise, nested CV</a:t>
                      </a:r>
                    </a:p>
                  </a:txBody>
                  <a:tcPr/>
                </a:tc>
                <a:tc>
                  <a:txBody>
                    <a:bodyPr/>
                    <a:lstStyle/>
                    <a:p>
                      <a:r>
                        <a:rPr sz="700"/>
                        <a:t>0.707 ± 0.154</a:t>
                      </a:r>
                    </a:p>
                  </a:txBody>
                  <a:tcPr/>
                </a:tc>
                <a:tc>
                  <a:txBody>
                    <a:bodyPr/>
                    <a:lstStyle/>
                    <a:p>
                      <a:r>
                        <a:rPr sz="700"/>
                        <a:t>-0.094</a:t>
                      </a:r>
                    </a:p>
                  </a:txBody>
                  <a:tcPr/>
                </a:tc>
                <a:tc>
                  <a:txBody>
                    <a:bodyPr/>
                    <a:lstStyle/>
                    <a:p>
                      <a:r>
                        <a:rPr sz="700"/>
                        <a:t>[-0.149, -0.042]</a:t>
                      </a:r>
                    </a:p>
                  </a:txBody>
                  <a:tcPr/>
                </a:tc>
                <a:tc>
                  <a:txBody>
                    <a:bodyPr/>
                    <a:lstStyle/>
                    <a:p>
                      <a:r>
                        <a:rPr sz="700"/>
                        <a:t>&lt;0.001</a:t>
                      </a:r>
                    </a:p>
                  </a:txBody>
                  <a:tcPr/>
                </a:tc>
                <a:tc>
                  <a:txBody>
                    <a:bodyPr/>
                    <a:lstStyle/>
                    <a:p>
                      <a:r>
                        <a:rPr sz="700"/>
                        <a:t>= 0.003</a:t>
                      </a:r>
                    </a:p>
                  </a:txBody>
                  <a:tcPr/>
                </a:tc>
                <a:tc>
                  <a:txBody>
                    <a:bodyPr/>
                    <a:lstStyle/>
                    <a:p>
                      <a:r>
                        <a:rPr sz="700"/>
                        <a:t>1/4</a:t>
                      </a:r>
                    </a:p>
                  </a:txBody>
                  <a:tcPr/>
                </a:tc>
              </a:tr>
              <a:tr h="250256">
                <a:tc>
                  <a:txBody>
                    <a:bodyPr/>
                    <a:lstStyle/>
                    <a:p>
                      <a:r>
                        <a:rPr sz="700"/>
                        <a:t>Background-activity filter, nested CV</a:t>
                      </a:r>
                    </a:p>
                  </a:txBody>
                  <a:tcPr/>
                </a:tc>
                <a:tc>
                  <a:txBody>
                    <a:bodyPr/>
                    <a:lstStyle/>
                    <a:p>
                      <a:r>
                        <a:rPr sz="700"/>
                        <a:t>0.835 ± 0.096</a:t>
                      </a:r>
                    </a:p>
                  </a:txBody>
                  <a:tcPr/>
                </a:tc>
                <a:tc>
                  <a:txBody>
                    <a:bodyPr/>
                    <a:lstStyle/>
                    <a:p>
                      <a:r>
                        <a:rPr sz="700"/>
                        <a:t>-0.222</a:t>
                      </a:r>
                    </a:p>
                  </a:txBody>
                  <a:tcPr/>
                </a:tc>
                <a:tc>
                  <a:txBody>
                    <a:bodyPr/>
                    <a:lstStyle/>
                    <a:p>
                      <a:r>
                        <a:rPr sz="700"/>
                        <a:t>[-0.251, -0.193]</a:t>
                      </a:r>
                    </a:p>
                  </a:txBody>
                  <a:tcPr/>
                </a:tc>
                <a:tc>
                  <a:txBody>
                    <a:bodyPr/>
                    <a:lstStyle/>
                    <a:p>
                      <a:r>
                        <a:rPr sz="700"/>
                        <a:t>&lt;0.001</a:t>
                      </a:r>
                    </a:p>
                  </a:txBody>
                  <a:tcPr/>
                </a:tc>
                <a:tc>
                  <a:txBody>
                    <a:bodyPr/>
                    <a:lstStyle/>
                    <a:p>
                      <a:r>
                        <a:rPr sz="700"/>
                        <a:t>&lt; 0.001</a:t>
                      </a:r>
                    </a:p>
                  </a:txBody>
                  <a:tcPr/>
                </a:tc>
                <a:tc>
                  <a:txBody>
                    <a:bodyPr/>
                    <a:lstStyle/>
                    <a:p>
                      <a:r>
                        <a:rPr sz="700"/>
                        <a:t>0/4</a:t>
                      </a:r>
                    </a:p>
                  </a:txBody>
                  <a:tcPr/>
                </a:tc>
              </a:tr>
              <a:tr h="250256">
                <a:tc>
                  <a:txBody>
                    <a:bodyPr/>
                    <a:lstStyle/>
                    <a:p>
                      <a:r>
                        <a:rPr sz="700"/>
                        <a:t>Voxelised Poisson LR, nested CV</a:t>
                      </a:r>
                    </a:p>
                  </a:txBody>
                  <a:tcPr/>
                </a:tc>
                <a:tc>
                  <a:txBody>
                    <a:bodyPr/>
                    <a:lstStyle/>
                    <a:p>
                      <a:r>
                        <a:rPr sz="700"/>
                        <a:t>0.853 ± 0.101</a:t>
                      </a:r>
                    </a:p>
                  </a:txBody>
                  <a:tcPr/>
                </a:tc>
                <a:tc>
                  <a:txBody>
                    <a:bodyPr/>
                    <a:lstStyle/>
                    <a:p>
                      <a:r>
                        <a:rPr sz="700"/>
                        <a:t>-0.239</a:t>
                      </a:r>
                    </a:p>
                  </a:txBody>
                  <a:tcPr/>
                </a:tc>
                <a:tc>
                  <a:txBody>
                    <a:bodyPr/>
                    <a:lstStyle/>
                    <a:p>
                      <a:r>
                        <a:rPr sz="700"/>
                        <a:t>[-0.266, -0.215]</a:t>
                      </a:r>
                    </a:p>
                  </a:txBody>
                  <a:tcPr/>
                </a:tc>
                <a:tc>
                  <a:txBody>
                    <a:bodyPr/>
                    <a:lstStyle/>
                    <a:p>
                      <a:r>
                        <a:rPr sz="700"/>
                        <a:t>&lt;0.001</a:t>
                      </a:r>
                    </a:p>
                  </a:txBody>
                  <a:tcPr/>
                </a:tc>
                <a:tc>
                  <a:txBody>
                    <a:bodyPr/>
                    <a:lstStyle/>
                    <a:p>
                      <a:r>
                        <a:rPr sz="700"/>
                        <a:t>&lt; 0.001</a:t>
                      </a:r>
                    </a:p>
                  </a:txBody>
                  <a:tcPr/>
                </a:tc>
                <a:tc>
                  <a:txBody>
                    <a:bodyPr/>
                    <a:lstStyle/>
                    <a:p>
                      <a:r>
                        <a:rPr sz="700"/>
                        <a:t>0/4</a:t>
                      </a:r>
                    </a:p>
                  </a:txBody>
                  <a:tcPr/>
                </a:tc>
              </a:tr>
              <a:tr h="250256">
                <a:tc>
                  <a:txBody>
                    <a:bodyPr/>
                    <a:lstStyle/>
                    <a:p>
                      <a:r>
                        <a:rPr sz="700"/>
                        <a:t>MLPF-style (supervised, other scenes)</a:t>
                      </a:r>
                    </a:p>
                  </a:txBody>
                  <a:tcPr/>
                </a:tc>
                <a:tc>
                  <a:txBody>
                    <a:bodyPr/>
                    <a:lstStyle/>
                    <a:p>
                      <a:r>
                        <a:rPr sz="700"/>
                        <a:t>0.897 ± 0.105</a:t>
                      </a:r>
                    </a:p>
                  </a:txBody>
                  <a:tcPr/>
                </a:tc>
                <a:tc>
                  <a:txBody>
                    <a:bodyPr/>
                    <a:lstStyle/>
                    <a:p>
                      <a:r>
                        <a:rPr sz="700"/>
                        <a:t>-0.284</a:t>
                      </a:r>
                    </a:p>
                  </a:txBody>
                  <a:tcPr/>
                </a:tc>
                <a:tc>
                  <a:txBody>
                    <a:bodyPr/>
                    <a:lstStyle/>
                    <a:p>
                      <a:r>
                        <a:rPr sz="700"/>
                        <a:t>[-0.317, -0.250]</a:t>
                      </a:r>
                    </a:p>
                  </a:txBody>
                  <a:tcPr/>
                </a:tc>
                <a:tc>
                  <a:txBody>
                    <a:bodyPr/>
                    <a:lstStyle/>
                    <a:p>
                      <a:r>
                        <a:rPr sz="700"/>
                        <a:t>&lt;0.001</a:t>
                      </a:r>
                    </a:p>
                  </a:txBody>
                  <a:tcPr/>
                </a:tc>
                <a:tc>
                  <a:txBody>
                    <a:bodyPr/>
                    <a:lstStyle/>
                    <a:p>
                      <a:r>
                        <a:rPr sz="700"/>
                        <a:t>&lt; 0.001</a:t>
                      </a:r>
                    </a:p>
                  </a:txBody>
                  <a:tcPr/>
                </a:tc>
                <a:tc>
                  <a:txBody>
                    <a:bodyPr/>
                    <a:lstStyle/>
                    <a:p>
                      <a:r>
                        <a:rPr sz="700"/>
                        <a:t>0/4</a:t>
                      </a:r>
                    </a:p>
                  </a:txBody>
                  <a:tcPr/>
                </a:tc>
              </a:tr>
              <a:tr h="250272">
                <a:tc>
                  <a:txBody>
                    <a:bodyPr/>
                    <a:lstStyle/>
                    <a:p>
                      <a:r>
                        <a:rPr sz="700"/>
                        <a:t>EDnCNN-style (supervised, other scenes)</a:t>
                      </a:r>
                    </a:p>
                  </a:txBody>
                  <a:tcPr/>
                </a:tc>
                <a:tc>
                  <a:txBody>
                    <a:bodyPr/>
                    <a:lstStyle/>
                    <a:p>
                      <a:r>
                        <a:rPr sz="700"/>
                        <a:t>0.913 ± 0.094</a:t>
                      </a:r>
                    </a:p>
                  </a:txBody>
                  <a:tcPr/>
                </a:tc>
                <a:tc>
                  <a:txBody>
                    <a:bodyPr/>
                    <a:lstStyle/>
                    <a:p>
                      <a:r>
                        <a:rPr sz="700"/>
                        <a:t>-0.300</a:t>
                      </a:r>
                    </a:p>
                  </a:txBody>
                  <a:tcPr/>
                </a:tc>
                <a:tc>
                  <a:txBody>
                    <a:bodyPr/>
                    <a:lstStyle/>
                    <a:p>
                      <a:r>
                        <a:rPr sz="700"/>
                        <a:t>[-0.334, -0.266]</a:t>
                      </a:r>
                    </a:p>
                  </a:txBody>
                  <a:tcPr/>
                </a:tc>
                <a:tc>
                  <a:txBody>
                    <a:bodyPr/>
                    <a:lstStyle/>
                    <a:p>
                      <a:r>
                        <a:rPr sz="700"/>
                        <a:t>&lt;0.001</a:t>
                      </a:r>
                    </a:p>
                  </a:txBody>
                  <a:tcPr/>
                </a:tc>
                <a:tc>
                  <a:txBody>
                    <a:bodyPr/>
                    <a:lstStyle/>
                    <a:p>
                      <a:r>
                        <a:rPr sz="700"/>
                        <a:t>&lt; 0.001</a:t>
                      </a:r>
                    </a:p>
                  </a:txBody>
                  <a:tcPr/>
                </a:tc>
                <a:tc>
                  <a:txBody>
                    <a:bodyPr/>
                    <a:lstStyle/>
                    <a:p>
                      <a:r>
                        <a:rPr sz="700"/>
                        <a:t>0/4</a:t>
                      </a:r>
                    </a:p>
                  </a:txBody>
                  <a:tcPr/>
                </a:tc>
              </a:tr>
            </a:tbl>
          </a:graphicData>
        </a:graphic>
      </p:graphicFrame>
      <p:sp>
        <p:nvSpPr>
          <p:cNvPr id="4" name="TextBox 3"/>
          <p:cNvSpPr txBox="1"/>
          <p:nvPr/>
        </p:nvSpPr>
        <p:spPr>
          <a:xfrm>
            <a:off x="365760" y="5715000"/>
            <a:ext cx="11430000" cy="960119"/>
          </a:xfrm>
          <a:prstGeom prst="rect">
            <a:avLst/>
          </a:prstGeom>
          <a:noFill/>
        </p:spPr>
        <p:txBody>
          <a:bodyPr wrap="square">
            <a:spAutoFit/>
          </a:bodyPr>
          <a:lstStyle/>
          <a:p>
            <a:r>
              <a:rPr sz="1100"/>
              <a:t>Table 4. DND21 (DAVIS346, third sensor): mean ± SD ROC-AUC over 80 mixtures with exact origin labels. ΔAUC and p (Holm): for tuned and supervised rows, the paired difference of the nested-CV fixed-window proposal minus the method with Holm adjustment over mixtures; for label-free rows, the paired difference of the fixed-deployment proposal minus the method. 95% CI: cluster bootstrap over signal segments (16 clusters). p (segment): unadjusted paired Wilcoxon over the 16 segments (sensitivity analysis). Sources: number of the 4 signal sources on which the proposal has the higher mean AUC (descriptive). Nested CV: leave-one-scene-out. EBSSA-selected: configuration chosen on EBSSA and applied unchanged.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none">
            <a:spAutoFit/>
          </a:bodyPr>
          <a:lstStyle/>
          <a:p>
            <a:r>
              <a:rPr sz="2200" b="1"/>
              <a:t>Table S1</a:t>
            </a:r>
          </a:p>
        </p:txBody>
      </p:sp>
      <p:graphicFrame>
        <p:nvGraphicFramePr>
          <p:cNvPr id="3" name="Table 2"/>
          <p:cNvGraphicFramePr>
            <a:graphicFrameLocks noGrp="1"/>
          </p:cNvGraphicFramePr>
          <p:nvPr/>
        </p:nvGraphicFramePr>
        <p:xfrm>
          <a:off x="365760" y="822960"/>
          <a:ext cx="11430000" cy="1920239"/>
        </p:xfrm>
        <a:graphic>
          <a:graphicData uri="http://schemas.openxmlformats.org/drawingml/2006/table">
            <a:tbl>
              <a:tblPr firstRow="1" bandRow="1">
                <a:tableStyleId>{5C22544A-7EE6-4342-B048-85BDC9FD1C3A}</a:tableStyleId>
              </a:tblPr>
              <a:tblGrid>
                <a:gridCol w="1632857"/>
                <a:gridCol w="1632857"/>
                <a:gridCol w="1632857"/>
                <a:gridCol w="1632857"/>
                <a:gridCol w="1632857"/>
                <a:gridCol w="1632857"/>
                <a:gridCol w="1632858"/>
              </a:tblGrid>
              <a:tr h="320039">
                <a:tc>
                  <a:txBody>
                    <a:bodyPr/>
                    <a:lstStyle/>
                    <a:p>
                      <a:r>
                        <a:rPr sz="900" b="1"/>
                        <a:t>Method</a:t>
                      </a:r>
                    </a:p>
                  </a:txBody>
                  <a:tcPr/>
                </a:tc>
                <a:tc>
                  <a:txBody>
                    <a:bodyPr/>
                    <a:lstStyle/>
                    <a:p>
                      <a:r>
                        <a:rPr sz="900" b="1"/>
                        <a:t>Type</a:t>
                      </a:r>
                    </a:p>
                  </a:txBody>
                  <a:tcPr/>
                </a:tc>
                <a:tc>
                  <a:txBody>
                    <a:bodyPr/>
                    <a:lstStyle/>
                    <a:p>
                      <a:r>
                        <a:rPr sz="900" b="1"/>
                        <a:t>Input</a:t>
                      </a:r>
                    </a:p>
                  </a:txBody>
                  <a:tcPr/>
                </a:tc>
                <a:tc>
                  <a:txBody>
                    <a:bodyPr/>
                    <a:lstStyle/>
                    <a:p>
                      <a:r>
                        <a:rPr sz="900" b="1"/>
                        <a:t>Training labels</a:t>
                      </a:r>
                    </a:p>
                  </a:txBody>
                  <a:tcPr/>
                </a:tc>
                <a:tc>
                  <a:txBody>
                    <a:bodyPr/>
                    <a:lstStyle/>
                    <a:p>
                      <a:r>
                        <a:rPr sz="900" b="1"/>
                        <a:t>Extra sensors</a:t>
                      </a:r>
                    </a:p>
                  </a:txBody>
                  <a:tcPr/>
                </a:tc>
                <a:tc>
                  <a:txBody>
                    <a:bodyPr/>
                    <a:lstStyle/>
                    <a:p>
                      <a:r>
                        <a:rPr sz="900" b="1"/>
                        <a:t>Public code</a:t>
                      </a:r>
                    </a:p>
                  </a:txBody>
                  <a:tcPr/>
                </a:tc>
                <a:tc>
                  <a:txBody>
                    <a:bodyPr/>
                    <a:lstStyle/>
                    <a:p>
                      <a:r>
                        <a:rPr sz="900" b="1"/>
                        <a:t>Executed here</a:t>
                      </a:r>
                    </a:p>
                  </a:txBody>
                  <a:tcPr/>
                </a:tc>
              </a:tr>
              <a:tr h="320039">
                <a:tc>
                  <a:txBody>
                    <a:bodyPr/>
                    <a:lstStyle/>
                    <a:p>
                      <a:r>
                        <a:rPr sz="900"/>
                        <a:t>MLPF (multilayer-perceptron filter)</a:t>
                      </a:r>
                    </a:p>
                  </a:txBody>
                  <a:tcPr/>
                </a:tc>
                <a:tc>
                  <a:txBody>
                    <a:bodyPr/>
                    <a:lstStyle/>
                    <a:p>
                      <a:r>
                        <a:rPr sz="900"/>
                        <a:t>supervised, event-driven</a:t>
                      </a:r>
                    </a:p>
                  </a:txBody>
                  <a:tcPr/>
                </a:tc>
                <a:tc>
                  <a:txBody>
                    <a:bodyPr/>
                    <a:lstStyle/>
                    <a:p>
                      <a:r>
                        <a:rPr sz="900"/>
                        <a:t>local time-surface patch (age and polarity of recent events) around each event</a:t>
                      </a:r>
                    </a:p>
                  </a:txBody>
                  <a:tcPr/>
                </a:tc>
                <a:tc>
                  <a:txBody>
                    <a:bodyPr/>
                    <a:lstStyle/>
                    <a:p>
                      <a:r>
                        <a:rPr sz="900"/>
                        <a:t>per-event signal/noise labels (published training used DND21-style mixes of clean recordings with measured noise)</a:t>
                      </a:r>
                    </a:p>
                  </a:txBody>
                  <a:tcPr/>
                </a:tc>
                <a:tc>
                  <a:txBody>
                    <a:bodyPr/>
                    <a:lstStyle/>
                    <a:p>
                      <a:r>
                        <a:rPr sz="900"/>
                        <a:t>none</a:t>
                      </a:r>
                    </a:p>
                  </a:txBody>
                  <a:tcPr/>
                </a:tc>
                <a:tc>
                  <a:txBody>
                    <a:bodyPr/>
                    <a:lstStyle/>
                    <a:p>
                      <a:r>
                        <a:rPr sz="900"/>
                        <a:t>jAER (Java); C++ re-implementation in E-MLB (cuke-emlb, CUDA)</a:t>
                      </a:r>
                    </a:p>
                  </a:txBody>
                  <a:tcPr/>
                </a:tc>
                <a:tc>
                  <a:txBody>
                    <a:bodyPr/>
                    <a:lstStyle/>
                    <a:p>
                      <a:r>
                        <a:rPr sz="900"/>
                        <a:t>yes: MLPF-style MLP on the same patch features, trained inside each grouped-CV fold (sp_evaluation.MLPF); EBSSA and DND21</a:t>
                      </a:r>
                    </a:p>
                  </a:txBody>
                  <a:tcPr/>
                </a:tc>
              </a:tr>
              <a:tr h="320039">
                <a:tc>
                  <a:txBody>
                    <a:bodyPr/>
                    <a:lstStyle/>
                    <a:p>
                      <a:r>
                        <a:rPr sz="900"/>
                        <a:t>EDnCNN (event denoising CNN)</a:t>
                      </a:r>
                    </a:p>
                  </a:txBody>
                  <a:tcPr/>
                </a:tc>
                <a:tc>
                  <a:txBody>
                    <a:bodyPr/>
                    <a:lstStyle/>
                    <a:p>
                      <a:r>
                        <a:rPr sz="900"/>
                        <a:t>supervised, patch-based CNN</a:t>
                      </a:r>
                    </a:p>
                  </a:txBody>
                  <a:tcPr/>
                </a:tc>
                <a:tc>
                  <a:txBody>
                    <a:bodyPr/>
                    <a:lstStyle/>
                    <a:p>
                      <a:r>
                        <a:rPr sz="900"/>
                        <a:t>spatio-temporal feature volume built from events around each event (event-only at inference)</a:t>
                      </a:r>
                    </a:p>
                  </a:txBody>
                  <a:tcPr/>
                </a:tc>
                <a:tc>
                  <a:txBody>
                    <a:bodyPr/>
                    <a:lstStyle/>
                    <a:p>
                      <a:r>
                        <a:rPr sz="900"/>
                        <a:t>Event Probability Mask (EPM): per-event probabilities computed from co-registered APS intensity frames and IMU motion (DVSNOISE20)</a:t>
                      </a:r>
                    </a:p>
                  </a:txBody>
                  <a:tcPr/>
                </a:tc>
                <a:tc>
                  <a:txBody>
                    <a:bodyPr/>
                    <a:lstStyle/>
                    <a:p>
                      <a:r>
                        <a:rPr sz="900"/>
                        <a:t>APS frames + IMU for label generation only</a:t>
                      </a:r>
                    </a:p>
                  </a:txBody>
                  <a:tcPr/>
                </a:tc>
                <a:tc>
                  <a:txBody>
                    <a:bodyPr/>
                    <a:lstStyle/>
                    <a:p>
                      <a:r>
                        <a:rPr sz="900"/>
                        <a:t>MATLAB (bald6354/edncnn); C++/CUDA re-implementation in E-MLB</a:t>
                      </a:r>
                    </a:p>
                  </a:txBody>
                  <a:tcPr/>
                </a:tc>
                <a:tc>
                  <a:txBody>
                    <a:bodyPr/>
                    <a:lstStyle/>
                    <a:p>
                      <a:r>
                        <a:rPr sz="900"/>
                        <a:t>yes: EDnCNN-style 2-channel time-surface CNN trained inside each grouped-CV fold on the exact labels available (bounding boxes on EBSSA, origin labels on DND21) instead of EPM labels (sp_evaluation.EDnCNNStyle)</a:t>
                      </a:r>
                    </a:p>
                  </a:txBody>
                  <a:tcPr/>
                </a:tc>
              </a:tr>
              <a:tr h="320039">
                <a:tc>
                  <a:txBody>
                    <a:bodyPr/>
                    <a:lstStyle/>
                    <a:p>
                      <a:r>
                        <a:rPr sz="900"/>
                        <a:t>AEDNet (asynchronous event denoising network)</a:t>
                      </a:r>
                    </a:p>
                  </a:txBody>
                  <a:tcPr/>
                </a:tc>
                <a:tc>
                  <a:txBody>
                    <a:bodyPr/>
                    <a:lstStyle/>
                    <a:p>
                      <a:r>
                        <a:rPr sz="900"/>
                        <a:t>supervised, point-set network on raw asynchronous events</a:t>
                      </a:r>
                    </a:p>
                  </a:txBody>
                  <a:tcPr/>
                </a:tc>
                <a:tc>
                  <a:txBody>
                    <a:bodyPr/>
                    <a:lstStyle/>
                    <a:p>
                      <a:r>
                        <a:rPr sz="900"/>
                        <a:t>(x, y) offsets of the 50 nearest-in-time events inside a 25 x 15 px neighbourhood of each event, treated as an irregular point set</a:t>
                      </a:r>
                    </a:p>
                  </a:txBody>
                  <a:tcPr/>
                </a:tc>
                <a:tc>
                  <a:txBody>
                    <a:bodyPr/>
                    <a:lstStyle/>
                    <a:p>
                      <a:r>
                        <a:rPr sz="900"/>
                        <a:t>per-event labels from DVSCLEAN (simulated + real-world; 1280x720 sensor)</a:t>
                      </a:r>
                    </a:p>
                  </a:txBody>
                  <a:tcPr/>
                </a:tc>
                <a:tc>
                  <a:txBody>
                    <a:bodyPr/>
                    <a:lstStyle/>
                    <a:p>
                      <a:r>
                        <a:rPr sz="900"/>
                        <a:t>none</a:t>
                      </a:r>
                    </a:p>
                  </a:txBody>
                  <a:tcPr/>
                </a:tc>
                <a:tc>
                  <a:txBody>
                    <a:bodyPr/>
                    <a:lstStyle/>
                    <a:p>
                      <a:r>
                        <a:rPr sz="900"/>
                        <a:t>PyTorch (github.com/Fanghuachen/AEDNet, commit 4fca5c5) with one set of released weights (GitHub release "AEDNet", AEDNet_model.pth, SHA-256 e20c3da6...583e30; DVSCLEAN background-activity model, 1280x720); official inference script is CUDA-only</a:t>
                      </a:r>
                    </a:p>
                  </a:txBody>
                  <a:tcPr/>
                </a:tc>
                <a:tc>
                  <a:txBody>
                    <a:bodyPr/>
                    <a:lstStyle/>
                    <a:p>
                      <a:r>
                        <a:rPr sz="900"/>
                        <a:t>yes: released weights applied unchanged (zero-shot transfer, CPU) to the EBSSA recordings and the DND21 mixtures on a stratified event subset (aednet_transfer.py); no re-training</a:t>
                      </a:r>
                    </a:p>
                  </a:txBody>
                  <a:tcPr/>
                </a:tc>
              </a:tr>
              <a:tr h="320039">
                <a:tc>
                  <a:txBody>
                    <a:bodyPr/>
                    <a:lstStyle/>
                    <a:p>
                      <a:r>
                        <a:rPr sz="900"/>
                        <a:t>WedNet (window-based event denoising network)</a:t>
                      </a:r>
                    </a:p>
                  </a:txBody>
                  <a:tcPr/>
                </a:tc>
                <a:tc>
                  <a:txBody>
                    <a:bodyPr/>
                    <a:lstStyle/>
                    <a:p>
                      <a:r>
                        <a:rPr sz="900"/>
                        <a:t>supervised, window-based deep network (temporal window + learned sparse coding)</a:t>
                      </a:r>
                    </a:p>
                  </a:txBody>
                  <a:tcPr/>
                </a:tc>
                <a:tc>
                  <a:txBody>
                    <a:bodyPr/>
                    <a:lstStyle/>
                    <a:p>
                      <a:r>
                        <a:rPr sz="900"/>
                        <a:t>stack of events in a spatio-temporal window; labels the whole stack at once</a:t>
                      </a:r>
                    </a:p>
                  </a:txBody>
                  <a:tcPr/>
                </a:tc>
                <a:tc>
                  <a:txBody>
                    <a:bodyPr/>
                    <a:lstStyle/>
                    <a:p>
                      <a:r>
                        <a:rPr sz="900"/>
                        <a:t>per-event labels; trained on 39 simulated DVSCLEAN scenes, tested on DVSCLEAN, DVSNOISE20 and ED-KoGTL (per the paper)</a:t>
                      </a:r>
                    </a:p>
                  </a:txBody>
                  <a:tcPr/>
                </a:tc>
                <a:tc>
                  <a:txBody>
                    <a:bodyPr/>
                    <a:lstStyle/>
                    <a:p>
                      <a:r>
                        <a:rPr sz="900"/>
                        <a:t>none</a:t>
                      </a:r>
                    </a:p>
                  </a:txBody>
                  <a:tcPr/>
                </a:tc>
                <a:tc>
                  <a:txBody>
                    <a:bodyPr/>
                    <a:lstStyle/>
                    <a:p>
                      <a:r>
                        <a:rPr sz="900"/>
                        <a:t>none located (checked 2026-09-12): the paper (arXiv 2402.09270) gives no code link; the first author's GitHub account (Fanghuachen) exposes only AEDNet; GitHub repository search for "WedNet" and "window-based event denoising" returns no implementation, and GitHub code search for "WedNet event denoising" returns only third-party paper summaries</a:t>
                      </a:r>
                    </a:p>
                  </a:txBody>
                  <a:tcPr/>
                </a:tc>
                <a:tc>
                  <a:txBody>
                    <a:bodyPr/>
                    <a:lstStyle/>
                    <a:p>
                      <a:r>
                        <a:rPr sz="900"/>
                        <a:t>no</a:t>
                      </a:r>
                    </a:p>
                  </a:txBody>
                  <a:tcPr/>
                </a:tc>
              </a:tr>
              <a:tr h="320044">
                <a:tc>
                  <a:txBody>
                    <a:bodyPr/>
                    <a:lstStyle/>
                    <a:p>
                      <a:r>
                        <a:rPr sz="900"/>
                        <a:t>PFD-A (polarity-focused denoising)</a:t>
                      </a:r>
                    </a:p>
                  </a:txBody>
                  <a:tcPr/>
                </a:tc>
                <a:tc>
                  <a:txBody>
                    <a:bodyPr/>
                    <a:lstStyle/>
                    <a:p>
                      <a:r>
                        <a:rPr sz="900"/>
                        <a:t>hand-crafted two-stage filter (no learning), event-driven</a:t>
                      </a:r>
                    </a:p>
                  </a:txBody>
                  <a:tcPr/>
                </a:tc>
                <a:tc>
                  <a:txBody>
                    <a:bodyPr/>
                    <a:lstStyle/>
                    <a:p>
                      <a:r>
                        <a:rPr sz="900"/>
                        <a:t>timestamps and polarities of the 8-neighbourhood; polarity-change FIFO per pixel</a:t>
                      </a:r>
                    </a:p>
                  </a:txBody>
                  <a:tcPr/>
                </a:tc>
                <a:tc>
                  <a:txBody>
                    <a:bodyPr/>
                    <a:lstStyle/>
                    <a:p>
                      <a:r>
                        <a:rPr sz="900"/>
                        <a:t>none</a:t>
                      </a:r>
                    </a:p>
                  </a:txBody>
                  <a:tcPr/>
                </a:tc>
                <a:tc>
                  <a:txBody>
                    <a:bodyPr/>
                    <a:lstStyle/>
                    <a:p>
                      <a:r>
                        <a:rPr sz="900"/>
                        <a:t>none</a:t>
                      </a:r>
                    </a:p>
                  </a:txBody>
                  <a:tcPr/>
                </a:tc>
                <a:tc>
                  <a:txBody>
                    <a:bodyPr/>
                    <a:lstStyle/>
                    <a:p>
                      <a:r>
                        <a:rPr sz="900"/>
                        <a:t>C++ (shicy17/PFD), GPL-3.0</a:t>
                      </a:r>
                    </a:p>
                  </a:txBody>
                  <a:tcPr/>
                </a:tc>
                <a:tc>
                  <a:txBody>
                    <a:bodyPr/>
                    <a:lstStyle/>
                    <a:p>
                      <a:r>
                        <a:rPr sz="900"/>
                        <a:t>yes: re-implemented in numba (sp_evaluation.pfd_filter) with the reference thresholds; DND21 only (added after the EBSSA runs were frozen)</a:t>
                      </a:r>
                    </a:p>
                  </a:txBody>
                  <a:tcPr/>
                </a:tc>
              </a:tr>
            </a:tbl>
          </a:graphicData>
        </a:graphic>
      </p:graphicFrame>
      <p:sp>
        <p:nvSpPr>
          <p:cNvPr id="4" name="TextBox 3"/>
          <p:cNvSpPr txBox="1"/>
          <p:nvPr/>
        </p:nvSpPr>
        <p:spPr>
          <a:xfrm>
            <a:off x="365760" y="2880359"/>
            <a:ext cx="11430000" cy="3794760"/>
          </a:xfrm>
          <a:prstGeom prst="rect">
            <a:avLst/>
          </a:prstGeom>
          <a:noFill/>
        </p:spPr>
        <p:txBody>
          <a:bodyPr wrap="square">
            <a:spAutoFit/>
          </a:bodyPr>
          <a:lstStyle/>
          <a:p>
            <a:r>
              <a:rPr sz="1100"/>
              <a:t>Table S1. Comparator feasibility under the common protocol (event-only input, exact or annotated labels, grouped cross-validation). "Executed here" states whether the method was scored in this paper and on which dataset; caveats are given in the text and in results/comparator_feasibility.json.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none">
            <a:spAutoFit/>
          </a:bodyPr>
          <a:lstStyle/>
          <a:p>
            <a:r>
              <a:rPr sz="2200" b="1"/>
              <a:t>Table S2</a:t>
            </a:r>
          </a:p>
        </p:txBody>
      </p:sp>
      <p:graphicFrame>
        <p:nvGraphicFramePr>
          <p:cNvPr id="3" name="Table 2"/>
          <p:cNvGraphicFramePr>
            <a:graphicFrameLocks noGrp="1"/>
          </p:cNvGraphicFramePr>
          <p:nvPr/>
        </p:nvGraphicFramePr>
        <p:xfrm>
          <a:off x="365760" y="822960"/>
          <a:ext cx="11430000" cy="4754880"/>
        </p:xfrm>
        <a:graphic>
          <a:graphicData uri="http://schemas.openxmlformats.org/drawingml/2006/table">
            <a:tbl>
              <a:tblPr firstRow="1" bandRow="1">
                <a:tableStyleId>{5C22544A-7EE6-4342-B048-85BDC9FD1C3A}</a:tableStyleId>
              </a:tblPr>
              <a:tblGrid>
                <a:gridCol w="1905000"/>
                <a:gridCol w="1905000"/>
                <a:gridCol w="1905000"/>
                <a:gridCol w="1905000"/>
                <a:gridCol w="1905000"/>
                <a:gridCol w="1905000"/>
              </a:tblGrid>
              <a:tr h="237744">
                <a:tc>
                  <a:txBody>
                    <a:bodyPr/>
                    <a:lstStyle/>
                    <a:p>
                      <a:r>
                        <a:rPr sz="700" b="1"/>
                        <a:t>Method</a:t>
                      </a:r>
                    </a:p>
                  </a:txBody>
                  <a:tcPr/>
                </a:tc>
                <a:tc>
                  <a:txBody>
                    <a:bodyPr/>
                    <a:lstStyle/>
                    <a:p>
                      <a:r>
                        <a:rPr sz="700" b="1"/>
                        <a:t>Mean ΔAUC</a:t>
                      </a:r>
                    </a:p>
                  </a:txBody>
                  <a:tcPr/>
                </a:tc>
                <a:tc>
                  <a:txBody>
                    <a:bodyPr/>
                    <a:lstStyle/>
                    <a:p>
                      <a:r>
                        <a:rPr sz="700" b="1"/>
                        <a:t>Median ΔAUC</a:t>
                      </a:r>
                    </a:p>
                  </a:txBody>
                  <a:tcPr/>
                </a:tc>
                <a:tc>
                  <a:txBody>
                    <a:bodyPr/>
                    <a:lstStyle/>
                    <a:p>
                      <a:r>
                        <a:rPr sz="700" b="1"/>
                        <a:t>95% CI</a:t>
                      </a:r>
                    </a:p>
                  </a:txBody>
                  <a:tcPr/>
                </a:tc>
                <a:tc>
                  <a:txBody>
                    <a:bodyPr/>
                    <a:lstStyle/>
                    <a:p>
                      <a:r>
                        <a:rPr sz="700" b="1"/>
                        <a:t>Proposal ahead</a:t>
                      </a:r>
                    </a:p>
                  </a:txBody>
                  <a:tcPr/>
                </a:tc>
                <a:tc>
                  <a:txBody>
                    <a:bodyPr/>
                    <a:lstStyle/>
                    <a:p>
                      <a:r>
                        <a:rPr sz="700" b="1"/>
                        <a:t>r</a:t>
                      </a:r>
                    </a:p>
                  </a:txBody>
                  <a:tcPr/>
                </a:tc>
              </a:tr>
              <a:tr h="237744">
                <a:tc>
                  <a:txBody>
                    <a:bodyPr/>
                    <a:lstStyle/>
                    <a:p>
                      <a:r>
                        <a:rPr sz="700"/>
                        <a:t>Event-driven Poisson LR filter, rate-adaptive window (proposed)</a:t>
                      </a:r>
                    </a:p>
                  </a:txBody>
                  <a:tcPr/>
                </a:tc>
                <a:tc>
                  <a:txBody>
                    <a:bodyPr/>
                    <a:lstStyle/>
                    <a:p>
                      <a:r>
                        <a:rPr sz="700"/>
                        <a:t>-0.022</a:t>
                      </a:r>
                    </a:p>
                  </a:txBody>
                  <a:tcPr/>
                </a:tc>
                <a:tc>
                  <a:txBody>
                    <a:bodyPr/>
                    <a:lstStyle/>
                    <a:p>
                      <a:r>
                        <a:rPr sz="700"/>
                        <a:t>-0.020</a:t>
                      </a:r>
                    </a:p>
                  </a:txBody>
                  <a:tcPr/>
                </a:tc>
                <a:tc>
                  <a:txBody>
                    <a:bodyPr/>
                    <a:lstStyle/>
                    <a:p>
                      <a:r>
                        <a:rPr sz="700"/>
                        <a:t>[-0.044, +0.002]</a:t>
                      </a:r>
                    </a:p>
                  </a:txBody>
                  <a:tcPr/>
                </a:tc>
                <a:tc>
                  <a:txBody>
                    <a:bodyPr/>
                    <a:lstStyle/>
                    <a:p>
                      <a:r>
                        <a:rPr sz="700"/>
                        <a:t>12/43</a:t>
                      </a:r>
                    </a:p>
                  </a:txBody>
                  <a:tcPr/>
                </a:tc>
                <a:tc>
                  <a:txBody>
                    <a:bodyPr/>
                    <a:lstStyle/>
                    <a:p>
                      <a:r>
                        <a:rPr sz="700"/>
                        <a:t>-0.47</a:t>
                      </a:r>
                    </a:p>
                  </a:txBody>
                  <a:tcPr/>
                </a:tc>
              </a:tr>
              <a:tr h="237744">
                <a:tc>
                  <a:txBody>
                    <a:bodyPr/>
                    <a:lstStyle/>
                    <a:p>
                      <a:r>
                        <a:rPr sz="700"/>
                        <a:t>Event bilateral filter</a:t>
                      </a:r>
                    </a:p>
                  </a:txBody>
                  <a:tcPr/>
                </a:tc>
                <a:tc>
                  <a:txBody>
                    <a:bodyPr/>
                    <a:lstStyle/>
                    <a:p>
                      <a:r>
                        <a:rPr sz="700"/>
                        <a:t>-0.049</a:t>
                      </a:r>
                    </a:p>
                  </a:txBody>
                  <a:tcPr/>
                </a:tc>
                <a:tc>
                  <a:txBody>
                    <a:bodyPr/>
                    <a:lstStyle/>
                    <a:p>
                      <a:r>
                        <a:rPr sz="700"/>
                        <a:t>-0.046</a:t>
                      </a:r>
                    </a:p>
                  </a:txBody>
                  <a:tcPr/>
                </a:tc>
                <a:tc>
                  <a:txBody>
                    <a:bodyPr/>
                    <a:lstStyle/>
                    <a:p>
                      <a:r>
                        <a:rPr sz="700"/>
                        <a:t>[-0.093, -0.007]</a:t>
                      </a:r>
                    </a:p>
                  </a:txBody>
                  <a:tcPr/>
                </a:tc>
                <a:tc>
                  <a:txBody>
                    <a:bodyPr/>
                    <a:lstStyle/>
                    <a:p>
                      <a:r>
                        <a:rPr sz="700"/>
                        <a:t>18/43</a:t>
                      </a:r>
                    </a:p>
                  </a:txBody>
                  <a:tcPr/>
                </a:tc>
                <a:tc>
                  <a:txBody>
                    <a:bodyPr/>
                    <a:lstStyle/>
                    <a:p>
                      <a:r>
                        <a:rPr sz="700"/>
                        <a:t>-0.33</a:t>
                      </a:r>
                    </a:p>
                  </a:txBody>
                  <a:tcPr/>
                </a:tc>
              </a:tr>
              <a:tr h="237744">
                <a:tc>
                  <a:txBody>
                    <a:bodyPr/>
                    <a:lstStyle/>
                    <a:p>
                      <a:r>
                        <a:rPr sz="700"/>
                        <a:t>YNoise</a:t>
                      </a:r>
                    </a:p>
                  </a:txBody>
                  <a:tcPr/>
                </a:tc>
                <a:tc>
                  <a:txBody>
                    <a:bodyPr/>
                    <a:lstStyle/>
                    <a:p>
                      <a:r>
                        <a:rPr sz="700"/>
                        <a:t>-0.091</a:t>
                      </a:r>
                    </a:p>
                  </a:txBody>
                  <a:tcPr/>
                </a:tc>
                <a:tc>
                  <a:txBody>
                    <a:bodyPr/>
                    <a:lstStyle/>
                    <a:p>
                      <a:r>
                        <a:rPr sz="700"/>
                        <a:t>-0.095</a:t>
                      </a:r>
                    </a:p>
                  </a:txBody>
                  <a:tcPr/>
                </a:tc>
                <a:tc>
                  <a:txBody>
                    <a:bodyPr/>
                    <a:lstStyle/>
                    <a:p>
                      <a:r>
                        <a:rPr sz="700"/>
                        <a:t>[-0.123, -0.058]</a:t>
                      </a:r>
                    </a:p>
                  </a:txBody>
                  <a:tcPr/>
                </a:tc>
                <a:tc>
                  <a:txBody>
                    <a:bodyPr/>
                    <a:lstStyle/>
                    <a:p>
                      <a:r>
                        <a:rPr sz="700"/>
                        <a:t>7/43</a:t>
                      </a:r>
                    </a:p>
                  </a:txBody>
                  <a:tcPr/>
                </a:tc>
                <a:tc>
                  <a:txBody>
                    <a:bodyPr/>
                    <a:lstStyle/>
                    <a:p>
                      <a:r>
                        <a:rPr sz="700"/>
                        <a:t>-0.76</a:t>
                      </a:r>
                    </a:p>
                  </a:txBody>
                  <a:tcPr/>
                </a:tc>
              </a:tr>
              <a:tr h="237744">
                <a:tc>
                  <a:txBody>
                    <a:bodyPr/>
                    <a:lstStyle/>
                    <a:p>
                      <a:r>
                        <a:rPr sz="700"/>
                        <a:t>Motion-compensated proxy</a:t>
                      </a:r>
                    </a:p>
                  </a:txBody>
                  <a:tcPr/>
                </a:tc>
                <a:tc>
                  <a:txBody>
                    <a:bodyPr/>
                    <a:lstStyle/>
                    <a:p>
                      <a:r>
                        <a:rPr sz="700"/>
                        <a:t>+0.017</a:t>
                      </a:r>
                    </a:p>
                  </a:txBody>
                  <a:tcPr/>
                </a:tc>
                <a:tc>
                  <a:txBody>
                    <a:bodyPr/>
                    <a:lstStyle/>
                    <a:p>
                      <a:r>
                        <a:rPr sz="700"/>
                        <a:t>+0.008</a:t>
                      </a:r>
                    </a:p>
                  </a:txBody>
                  <a:tcPr/>
                </a:tc>
                <a:tc>
                  <a:txBody>
                    <a:bodyPr/>
                    <a:lstStyle/>
                    <a:p>
                      <a:r>
                        <a:rPr sz="700"/>
                        <a:t>[-0.034, +0.068]</a:t>
                      </a:r>
                    </a:p>
                  </a:txBody>
                  <a:tcPr/>
                </a:tc>
                <a:tc>
                  <a:txBody>
                    <a:bodyPr/>
                    <a:lstStyle/>
                    <a:p>
                      <a:r>
                        <a:rPr sz="700"/>
                        <a:t>22/43</a:t>
                      </a:r>
                    </a:p>
                  </a:txBody>
                  <a:tcPr/>
                </a:tc>
                <a:tc>
                  <a:txBody>
                    <a:bodyPr/>
                    <a:lstStyle/>
                    <a:p>
                      <a:r>
                        <a:rPr sz="700"/>
                        <a:t>+0.08</a:t>
                      </a:r>
                    </a:p>
                  </a:txBody>
                  <a:tcPr/>
                </a:tc>
              </a:tr>
              <a:tr h="237744">
                <a:tc>
                  <a:txBody>
                    <a:bodyPr/>
                    <a:lstStyle/>
                    <a:p>
                      <a:r>
                        <a:rPr sz="700"/>
                        <a:t>Background-activity filter</a:t>
                      </a:r>
                    </a:p>
                  </a:txBody>
                  <a:tcPr/>
                </a:tc>
                <a:tc>
                  <a:txBody>
                    <a:bodyPr/>
                    <a:lstStyle/>
                    <a:p>
                      <a:r>
                        <a:rPr sz="700"/>
                        <a:t>+0.060</a:t>
                      </a:r>
                    </a:p>
                  </a:txBody>
                  <a:tcPr/>
                </a:tc>
                <a:tc>
                  <a:txBody>
                    <a:bodyPr/>
                    <a:lstStyle/>
                    <a:p>
                      <a:r>
                        <a:rPr sz="700"/>
                        <a:t>+0.058</a:t>
                      </a:r>
                    </a:p>
                  </a:txBody>
                  <a:tcPr/>
                </a:tc>
                <a:tc>
                  <a:txBody>
                    <a:bodyPr/>
                    <a:lstStyle/>
                    <a:p>
                      <a:r>
                        <a:rPr sz="700"/>
                        <a:t>[+0.032, +0.086]</a:t>
                      </a:r>
                    </a:p>
                  </a:txBody>
                  <a:tcPr/>
                </a:tc>
                <a:tc>
                  <a:txBody>
                    <a:bodyPr/>
                    <a:lstStyle/>
                    <a:p>
                      <a:r>
                        <a:rPr sz="700"/>
                        <a:t>36/43</a:t>
                      </a:r>
                    </a:p>
                  </a:txBody>
                  <a:tcPr/>
                </a:tc>
                <a:tc>
                  <a:txBody>
                    <a:bodyPr/>
                    <a:lstStyle/>
                    <a:p>
                      <a:r>
                        <a:rPr sz="700"/>
                        <a:t>+0.70</a:t>
                      </a:r>
                    </a:p>
                  </a:txBody>
                  <a:tcPr/>
                </a:tc>
              </a:tr>
              <a:tr h="237744">
                <a:tc>
                  <a:txBody>
                    <a:bodyPr/>
                    <a:lstStyle/>
                    <a:p>
                      <a:r>
                        <a:rPr sz="700"/>
                        <a:t>Double-window filter</a:t>
                      </a:r>
                    </a:p>
                  </a:txBody>
                  <a:tcPr/>
                </a:tc>
                <a:tc>
                  <a:txBody>
                    <a:bodyPr/>
                    <a:lstStyle/>
                    <a:p>
                      <a:r>
                        <a:rPr sz="700"/>
                        <a:t>-0.006</a:t>
                      </a:r>
                    </a:p>
                  </a:txBody>
                  <a:tcPr/>
                </a:tc>
                <a:tc>
                  <a:txBody>
                    <a:bodyPr/>
                    <a:lstStyle/>
                    <a:p>
                      <a:r>
                        <a:rPr sz="700"/>
                        <a:t>-0.008</a:t>
                      </a:r>
                    </a:p>
                  </a:txBody>
                  <a:tcPr/>
                </a:tc>
                <a:tc>
                  <a:txBody>
                    <a:bodyPr/>
                    <a:lstStyle/>
                    <a:p>
                      <a:r>
                        <a:rPr sz="700"/>
                        <a:t>[-0.049, +0.034]</a:t>
                      </a:r>
                    </a:p>
                  </a:txBody>
                  <a:tcPr/>
                </a:tc>
                <a:tc>
                  <a:txBody>
                    <a:bodyPr/>
                    <a:lstStyle/>
                    <a:p>
                      <a:r>
                        <a:rPr sz="700"/>
                        <a:t>18/43</a:t>
                      </a:r>
                    </a:p>
                  </a:txBody>
                  <a:tcPr/>
                </a:tc>
                <a:tc>
                  <a:txBody>
                    <a:bodyPr/>
                    <a:lstStyle/>
                    <a:p>
                      <a:r>
                        <a:rPr sz="700"/>
                        <a:t>+0.01</a:t>
                      </a:r>
                    </a:p>
                  </a:txBody>
                  <a:tcPr/>
                </a:tc>
              </a:tr>
              <a:tr h="237744">
                <a:tc>
                  <a:txBody>
                    <a:bodyPr/>
                    <a:lstStyle/>
                    <a:p>
                      <a:r>
                        <a:rPr sz="700"/>
                        <a:t>Nearest-neighbour filter</a:t>
                      </a:r>
                    </a:p>
                  </a:txBody>
                  <a:tcPr/>
                </a:tc>
                <a:tc>
                  <a:txBody>
                    <a:bodyPr/>
                    <a:lstStyle/>
                    <a:p>
                      <a:r>
                        <a:rPr sz="700"/>
                        <a:t>+0.098</a:t>
                      </a:r>
                    </a:p>
                  </a:txBody>
                  <a:tcPr/>
                </a:tc>
                <a:tc>
                  <a:txBody>
                    <a:bodyPr/>
                    <a:lstStyle/>
                    <a:p>
                      <a:r>
                        <a:rPr sz="700"/>
                        <a:t>+0.064</a:t>
                      </a:r>
                    </a:p>
                  </a:txBody>
                  <a:tcPr/>
                </a:tc>
                <a:tc>
                  <a:txBody>
                    <a:bodyPr/>
                    <a:lstStyle/>
                    <a:p>
                      <a:r>
                        <a:rPr sz="700"/>
                        <a:t>[+0.049, +0.147]</a:t>
                      </a:r>
                    </a:p>
                  </a:txBody>
                  <a:tcPr/>
                </a:tc>
                <a:tc>
                  <a:txBody>
                    <a:bodyPr/>
                    <a:lstStyle/>
                    <a:p>
                      <a:r>
                        <a:rPr sz="700"/>
                        <a:t>32/43</a:t>
                      </a:r>
                    </a:p>
                  </a:txBody>
                  <a:tcPr/>
                </a:tc>
                <a:tc>
                  <a:txBody>
                    <a:bodyPr/>
                    <a:lstStyle/>
                    <a:p>
                      <a:r>
                        <a:rPr sz="700"/>
                        <a:t>+0.60</a:t>
                      </a:r>
                    </a:p>
                  </a:txBody>
                  <a:tcPr/>
                </a:tc>
              </a:tr>
              <a:tr h="237744">
                <a:tc>
                  <a:txBody>
                    <a:bodyPr/>
                    <a:lstStyle/>
                    <a:p>
                      <a:r>
                        <a:rPr sz="700"/>
                        <a:t>kNoise</a:t>
                      </a:r>
                    </a:p>
                  </a:txBody>
                  <a:tcPr/>
                </a:tc>
                <a:tc>
                  <a:txBody>
                    <a:bodyPr/>
                    <a:lstStyle/>
                    <a:p>
                      <a:r>
                        <a:rPr sz="700"/>
                        <a:t>+0.130</a:t>
                      </a:r>
                    </a:p>
                  </a:txBody>
                  <a:tcPr/>
                </a:tc>
                <a:tc>
                  <a:txBody>
                    <a:bodyPr/>
                    <a:lstStyle/>
                    <a:p>
                      <a:r>
                        <a:rPr sz="700"/>
                        <a:t>+0.139</a:t>
                      </a:r>
                    </a:p>
                  </a:txBody>
                  <a:tcPr/>
                </a:tc>
                <a:tc>
                  <a:txBody>
                    <a:bodyPr/>
                    <a:lstStyle/>
                    <a:p>
                      <a:r>
                        <a:rPr sz="700"/>
                        <a:t>[+0.091, +0.165]</a:t>
                      </a:r>
                    </a:p>
                  </a:txBody>
                  <a:tcPr/>
                </a:tc>
                <a:tc>
                  <a:txBody>
                    <a:bodyPr/>
                    <a:lstStyle/>
                    <a:p>
                      <a:r>
                        <a:rPr sz="700"/>
                        <a:t>37/43</a:t>
                      </a:r>
                    </a:p>
                  </a:txBody>
                  <a:tcPr/>
                </a:tc>
                <a:tc>
                  <a:txBody>
                    <a:bodyPr/>
                    <a:lstStyle/>
                    <a:p>
                      <a:r>
                        <a:rPr sz="700"/>
                        <a:t>+0.82</a:t>
                      </a:r>
                    </a:p>
                  </a:txBody>
                  <a:tcPr/>
                </a:tc>
              </a:tr>
              <a:tr h="237744">
                <a:tc>
                  <a:txBody>
                    <a:bodyPr/>
                    <a:lstStyle/>
                    <a:p>
                      <a:r>
                        <a:rPr sz="700"/>
                        <a:t>Event bilateral filter (event-driven form)</a:t>
                      </a:r>
                    </a:p>
                  </a:txBody>
                  <a:tcPr/>
                </a:tc>
                <a:tc>
                  <a:txBody>
                    <a:bodyPr/>
                    <a:lstStyle/>
                    <a:p>
                      <a:r>
                        <a:rPr sz="700"/>
                        <a:t>-0.021</a:t>
                      </a:r>
                    </a:p>
                  </a:txBody>
                  <a:tcPr/>
                </a:tc>
                <a:tc>
                  <a:txBody>
                    <a:bodyPr/>
                    <a:lstStyle/>
                    <a:p>
                      <a:r>
                        <a:rPr sz="700"/>
                        <a:t>-0.024</a:t>
                      </a:r>
                    </a:p>
                  </a:txBody>
                  <a:tcPr/>
                </a:tc>
                <a:tc>
                  <a:txBody>
                    <a:bodyPr/>
                    <a:lstStyle/>
                    <a:p>
                      <a:r>
                        <a:rPr sz="700"/>
                        <a:t>[-0.071, +0.028]</a:t>
                      </a:r>
                    </a:p>
                  </a:txBody>
                  <a:tcPr/>
                </a:tc>
                <a:tc>
                  <a:txBody>
                    <a:bodyPr/>
                    <a:lstStyle/>
                    <a:p>
                      <a:r>
                        <a:rPr sz="700"/>
                        <a:t>15/43</a:t>
                      </a:r>
                    </a:p>
                  </a:txBody>
                  <a:tcPr/>
                </a:tc>
                <a:tc>
                  <a:txBody>
                    <a:bodyPr/>
                    <a:lstStyle/>
                    <a:p>
                      <a:r>
                        <a:rPr sz="700"/>
                        <a:t>-0.15</a:t>
                      </a:r>
                    </a:p>
                  </a:txBody>
                  <a:tcPr/>
                </a:tc>
              </a:tr>
              <a:tr h="237744">
                <a:tc>
                  <a:txBody>
                    <a:bodyPr/>
                    <a:lstStyle/>
                    <a:p>
                      <a:r>
                        <a:rPr sz="700"/>
                        <a:t>kNN point-process test (event-driven)</a:t>
                      </a:r>
                    </a:p>
                  </a:txBody>
                  <a:tcPr/>
                </a:tc>
                <a:tc>
                  <a:txBody>
                    <a:bodyPr/>
                    <a:lstStyle/>
                    <a:p>
                      <a:r>
                        <a:rPr sz="700"/>
                        <a:t>+0.059</a:t>
                      </a:r>
                    </a:p>
                  </a:txBody>
                  <a:tcPr/>
                </a:tc>
                <a:tc>
                  <a:txBody>
                    <a:bodyPr/>
                    <a:lstStyle/>
                    <a:p>
                      <a:r>
                        <a:rPr sz="700"/>
                        <a:t>+0.066</a:t>
                      </a:r>
                    </a:p>
                  </a:txBody>
                  <a:tcPr/>
                </a:tc>
                <a:tc>
                  <a:txBody>
                    <a:bodyPr/>
                    <a:lstStyle/>
                    <a:p>
                      <a:r>
                        <a:rPr sz="700"/>
                        <a:t>[+0.010, +0.103]</a:t>
                      </a:r>
                    </a:p>
                  </a:txBody>
                  <a:tcPr/>
                </a:tc>
                <a:tc>
                  <a:txBody>
                    <a:bodyPr/>
                    <a:lstStyle/>
                    <a:p>
                      <a:r>
                        <a:rPr sz="700"/>
                        <a:t>33/43</a:t>
                      </a:r>
                    </a:p>
                  </a:txBody>
                  <a:tcPr/>
                </a:tc>
                <a:tc>
                  <a:txBody>
                    <a:bodyPr/>
                    <a:lstStyle/>
                    <a:p>
                      <a:r>
                        <a:rPr sz="700"/>
                        <a:t>+0.57</a:t>
                      </a:r>
                    </a:p>
                  </a:txBody>
                  <a:tcPr/>
                </a:tc>
              </a:tr>
              <a:tr h="237744">
                <a:tc>
                  <a:txBody>
                    <a:bodyPr/>
                    <a:lstStyle/>
                    <a:p>
                      <a:r>
                        <a:rPr sz="700"/>
                        <a:t>Gamma waiting-time test (event-driven)</a:t>
                      </a:r>
                    </a:p>
                  </a:txBody>
                  <a:tcPr/>
                </a:tc>
                <a:tc>
                  <a:txBody>
                    <a:bodyPr/>
                    <a:lstStyle/>
                    <a:p>
                      <a:r>
                        <a:rPr sz="700"/>
                        <a:t>+0.068</a:t>
                      </a:r>
                    </a:p>
                  </a:txBody>
                  <a:tcPr/>
                </a:tc>
                <a:tc>
                  <a:txBody>
                    <a:bodyPr/>
                    <a:lstStyle/>
                    <a:p>
                      <a:r>
                        <a:rPr sz="700"/>
                        <a:t>+0.073</a:t>
                      </a:r>
                    </a:p>
                  </a:txBody>
                  <a:tcPr/>
                </a:tc>
                <a:tc>
                  <a:txBody>
                    <a:bodyPr/>
                    <a:lstStyle/>
                    <a:p>
                      <a:r>
                        <a:rPr sz="700"/>
                        <a:t>[+0.017, +0.113]</a:t>
                      </a:r>
                    </a:p>
                  </a:txBody>
                  <a:tcPr/>
                </a:tc>
                <a:tc>
                  <a:txBody>
                    <a:bodyPr/>
                    <a:lstStyle/>
                    <a:p>
                      <a:r>
                        <a:rPr sz="700"/>
                        <a:t>32/43</a:t>
                      </a:r>
                    </a:p>
                  </a:txBody>
                  <a:tcPr/>
                </a:tc>
                <a:tc>
                  <a:txBody>
                    <a:bodyPr/>
                    <a:lstStyle/>
                    <a:p>
                      <a:r>
                        <a:rPr sz="700"/>
                        <a:t>+0.61</a:t>
                      </a:r>
                    </a:p>
                  </a:txBody>
                  <a:tcPr/>
                </a:tc>
              </a:tr>
              <a:tr h="237744">
                <a:tc>
                  <a:txBody>
                    <a:bodyPr/>
                    <a:lstStyle/>
                    <a:p>
                      <a:r>
                        <a:rPr sz="700"/>
                        <a:t>Velocity-adaptive matched filter (event-driven)</a:t>
                      </a:r>
                    </a:p>
                  </a:txBody>
                  <a:tcPr/>
                </a:tc>
                <a:tc>
                  <a:txBody>
                    <a:bodyPr/>
                    <a:lstStyle/>
                    <a:p>
                      <a:r>
                        <a:rPr sz="700"/>
                        <a:t>+0.197</a:t>
                      </a:r>
                    </a:p>
                  </a:txBody>
                  <a:tcPr/>
                </a:tc>
                <a:tc>
                  <a:txBody>
                    <a:bodyPr/>
                    <a:lstStyle/>
                    <a:p>
                      <a:r>
                        <a:rPr sz="700"/>
                        <a:t>+0.172</a:t>
                      </a:r>
                    </a:p>
                  </a:txBody>
                  <a:tcPr/>
                </a:tc>
                <a:tc>
                  <a:txBody>
                    <a:bodyPr/>
                    <a:lstStyle/>
                    <a:p>
                      <a:r>
                        <a:rPr sz="700"/>
                        <a:t>[+0.131, +0.267]</a:t>
                      </a:r>
                    </a:p>
                  </a:txBody>
                  <a:tcPr/>
                </a:tc>
                <a:tc>
                  <a:txBody>
                    <a:bodyPr/>
                    <a:lstStyle/>
                    <a:p>
                      <a:r>
                        <a:rPr sz="700"/>
                        <a:t>37/43</a:t>
                      </a:r>
                    </a:p>
                  </a:txBody>
                  <a:tcPr/>
                </a:tc>
                <a:tc>
                  <a:txBody>
                    <a:bodyPr/>
                    <a:lstStyle/>
                    <a:p>
                      <a:r>
                        <a:rPr sz="700"/>
                        <a:t>+0.79</a:t>
                      </a:r>
                    </a:p>
                  </a:txBody>
                  <a:tcPr/>
                </a:tc>
              </a:tr>
              <a:tr h="237744">
                <a:tc>
                  <a:txBody>
                    <a:bodyPr/>
                    <a:lstStyle/>
                    <a:p>
                      <a:r>
                        <a:rPr sz="700"/>
                        <a:t>Double-window filter (event-driven form)</a:t>
                      </a:r>
                    </a:p>
                  </a:txBody>
                  <a:tcPr/>
                </a:tc>
                <a:tc>
                  <a:txBody>
                    <a:bodyPr/>
                    <a:lstStyle/>
                    <a:p>
                      <a:r>
                        <a:rPr sz="700"/>
                        <a:t>+0.190</a:t>
                      </a:r>
                    </a:p>
                  </a:txBody>
                  <a:tcPr/>
                </a:tc>
                <a:tc>
                  <a:txBody>
                    <a:bodyPr/>
                    <a:lstStyle/>
                    <a:p>
                      <a:r>
                        <a:rPr sz="700"/>
                        <a:t>+0.218</a:t>
                      </a:r>
                    </a:p>
                  </a:txBody>
                  <a:tcPr/>
                </a:tc>
                <a:tc>
                  <a:txBody>
                    <a:bodyPr/>
                    <a:lstStyle/>
                    <a:p>
                      <a:r>
                        <a:rPr sz="700"/>
                        <a:t>[+0.135, +0.242]</a:t>
                      </a:r>
                    </a:p>
                  </a:txBody>
                  <a:tcPr/>
                </a:tc>
                <a:tc>
                  <a:txBody>
                    <a:bodyPr/>
                    <a:lstStyle/>
                    <a:p>
                      <a:r>
                        <a:rPr sz="700"/>
                        <a:t>39/43</a:t>
                      </a:r>
                    </a:p>
                  </a:txBody>
                  <a:tcPr/>
                </a:tc>
                <a:tc>
                  <a:txBody>
                    <a:bodyPr/>
                    <a:lstStyle/>
                    <a:p>
                      <a:r>
                        <a:rPr sz="700"/>
                        <a:t>+0.86</a:t>
                      </a:r>
                    </a:p>
                  </a:txBody>
                  <a:tcPr/>
                </a:tc>
              </a:tr>
              <a:tr h="237744">
                <a:tc>
                  <a:txBody>
                    <a:bodyPr/>
                    <a:lstStyle/>
                    <a:p>
                      <a:r>
                        <a:rPr sz="700"/>
                        <a:t>Recursive rate tracker (event-driven)</a:t>
                      </a:r>
                    </a:p>
                  </a:txBody>
                  <a:tcPr/>
                </a:tc>
                <a:tc>
                  <a:txBody>
                    <a:bodyPr/>
                    <a:lstStyle/>
                    <a:p>
                      <a:r>
                        <a:rPr sz="700"/>
                        <a:t>+0.229</a:t>
                      </a:r>
                    </a:p>
                  </a:txBody>
                  <a:tcPr/>
                </a:tc>
                <a:tc>
                  <a:txBody>
                    <a:bodyPr/>
                    <a:lstStyle/>
                    <a:p>
                      <a:r>
                        <a:rPr sz="700"/>
                        <a:t>+0.238</a:t>
                      </a:r>
                    </a:p>
                  </a:txBody>
                  <a:tcPr/>
                </a:tc>
                <a:tc>
                  <a:txBody>
                    <a:bodyPr/>
                    <a:lstStyle/>
                    <a:p>
                      <a:r>
                        <a:rPr sz="700"/>
                        <a:t>[+0.189, +0.267]</a:t>
                      </a:r>
                    </a:p>
                  </a:txBody>
                  <a:tcPr/>
                </a:tc>
                <a:tc>
                  <a:txBody>
                    <a:bodyPr/>
                    <a:lstStyle/>
                    <a:p>
                      <a:r>
                        <a:rPr sz="700"/>
                        <a:t>42/43</a:t>
                      </a:r>
                    </a:p>
                  </a:txBody>
                  <a:tcPr/>
                </a:tc>
                <a:tc>
                  <a:txBody>
                    <a:bodyPr/>
                    <a:lstStyle/>
                    <a:p>
                      <a:r>
                        <a:rPr sz="700"/>
                        <a:t>+0.97</a:t>
                      </a:r>
                    </a:p>
                  </a:txBody>
                  <a:tcPr/>
                </a:tc>
              </a:tr>
              <a:tr h="237744">
                <a:tc>
                  <a:txBody>
                    <a:bodyPr/>
                    <a:lstStyle/>
                    <a:p>
                      <a:r>
                        <a:rPr sz="700"/>
                        <a:t>Voxelised Poisson LR filter (frame-based ablation)</a:t>
                      </a:r>
                    </a:p>
                  </a:txBody>
                  <a:tcPr/>
                </a:tc>
                <a:tc>
                  <a:txBody>
                    <a:bodyPr/>
                    <a:lstStyle/>
                    <a:p>
                      <a:r>
                        <a:rPr sz="700"/>
                        <a:t>+0.069</a:t>
                      </a:r>
                    </a:p>
                  </a:txBody>
                  <a:tcPr/>
                </a:tc>
                <a:tc>
                  <a:txBody>
                    <a:bodyPr/>
                    <a:lstStyle/>
                    <a:p>
                      <a:r>
                        <a:rPr sz="700"/>
                        <a:t>+0.062</a:t>
                      </a:r>
                    </a:p>
                  </a:txBody>
                  <a:tcPr/>
                </a:tc>
                <a:tc>
                  <a:txBody>
                    <a:bodyPr/>
                    <a:lstStyle/>
                    <a:p>
                      <a:r>
                        <a:rPr sz="700"/>
                        <a:t>[+0.030, +0.110]</a:t>
                      </a:r>
                    </a:p>
                  </a:txBody>
                  <a:tcPr/>
                </a:tc>
                <a:tc>
                  <a:txBody>
                    <a:bodyPr/>
                    <a:lstStyle/>
                    <a:p>
                      <a:r>
                        <a:rPr sz="700"/>
                        <a:t>31/43</a:t>
                      </a:r>
                    </a:p>
                  </a:txBody>
                  <a:tcPr/>
                </a:tc>
                <a:tc>
                  <a:txBody>
                    <a:bodyPr/>
                    <a:lstStyle/>
                    <a:p>
                      <a:r>
                        <a:rPr sz="700"/>
                        <a:t>+0.57</a:t>
                      </a:r>
                    </a:p>
                  </a:txBody>
                  <a:tcPr/>
                </a:tc>
              </a:tr>
              <a:tr h="237744">
                <a:tc>
                  <a:txBody>
                    <a:bodyPr/>
                    <a:lstStyle/>
                    <a:p>
                      <a:r>
                        <a:rPr sz="700"/>
                        <a:t>PI-DC-DVS CNN</a:t>
                      </a:r>
                    </a:p>
                  </a:txBody>
                  <a:tcPr/>
                </a:tc>
                <a:tc>
                  <a:txBody>
                    <a:bodyPr/>
                    <a:lstStyle/>
                    <a:p>
                      <a:r>
                        <a:rPr sz="700"/>
                        <a:t>+0.051</a:t>
                      </a:r>
                    </a:p>
                  </a:txBody>
                  <a:tcPr/>
                </a:tc>
                <a:tc>
                  <a:txBody>
                    <a:bodyPr/>
                    <a:lstStyle/>
                    <a:p>
                      <a:r>
                        <a:rPr sz="700"/>
                        <a:t>+0.024</a:t>
                      </a:r>
                    </a:p>
                  </a:txBody>
                  <a:tcPr/>
                </a:tc>
                <a:tc>
                  <a:txBody>
                    <a:bodyPr/>
                    <a:lstStyle/>
                    <a:p>
                      <a:r>
                        <a:rPr sz="700"/>
                        <a:t>[+0.001, +0.102]</a:t>
                      </a:r>
                    </a:p>
                  </a:txBody>
                  <a:tcPr/>
                </a:tc>
                <a:tc>
                  <a:txBody>
                    <a:bodyPr/>
                    <a:lstStyle/>
                    <a:p>
                      <a:r>
                        <a:rPr sz="700"/>
                        <a:t>25/43</a:t>
                      </a:r>
                    </a:p>
                  </a:txBody>
                  <a:tcPr/>
                </a:tc>
                <a:tc>
                  <a:txBody>
                    <a:bodyPr/>
                    <a:lstStyle/>
                    <a:p>
                      <a:r>
                        <a:rPr sz="700"/>
                        <a:t>+0.27</a:t>
                      </a:r>
                    </a:p>
                  </a:txBody>
                  <a:tcPr/>
                </a:tc>
              </a:tr>
              <a:tr h="237744">
                <a:tc>
                  <a:txBody>
                    <a:bodyPr/>
                    <a:lstStyle/>
                    <a:p>
                      <a:r>
                        <a:rPr sz="700"/>
                        <a:t>Fano-factor score (ablation)</a:t>
                      </a:r>
                    </a:p>
                  </a:txBody>
                  <a:tcPr/>
                </a:tc>
                <a:tc>
                  <a:txBody>
                    <a:bodyPr/>
                    <a:lstStyle/>
                    <a:p>
                      <a:r>
                        <a:rPr sz="700"/>
                        <a:t>+0.200</a:t>
                      </a:r>
                    </a:p>
                  </a:txBody>
                  <a:tcPr/>
                </a:tc>
                <a:tc>
                  <a:txBody>
                    <a:bodyPr/>
                    <a:lstStyle/>
                    <a:p>
                      <a:r>
                        <a:rPr sz="700"/>
                        <a:t>+0.191</a:t>
                      </a:r>
                    </a:p>
                  </a:txBody>
                  <a:tcPr/>
                </a:tc>
                <a:tc>
                  <a:txBody>
                    <a:bodyPr/>
                    <a:lstStyle/>
                    <a:p>
                      <a:r>
                        <a:rPr sz="700"/>
                        <a:t>[+0.155, +0.243]</a:t>
                      </a:r>
                    </a:p>
                  </a:txBody>
                  <a:tcPr/>
                </a:tc>
                <a:tc>
                  <a:txBody>
                    <a:bodyPr/>
                    <a:lstStyle/>
                    <a:p>
                      <a:r>
                        <a:rPr sz="700"/>
                        <a:t>41/43</a:t>
                      </a:r>
                    </a:p>
                  </a:txBody>
                  <a:tcPr/>
                </a:tc>
                <a:tc>
                  <a:txBody>
                    <a:bodyPr/>
                    <a:lstStyle/>
                    <a:p>
                      <a:r>
                        <a:rPr sz="700"/>
                        <a:t>+0.95</a:t>
                      </a:r>
                    </a:p>
                  </a:txBody>
                  <a:tcPr/>
                </a:tc>
              </a:tr>
              <a:tr h="237744">
                <a:tc>
                  <a:txBody>
                    <a:bodyPr/>
                    <a:lstStyle/>
                    <a:p>
                      <a:r>
                        <a:rPr sz="700"/>
                        <a:t>EDnCNN-style CNN (supervised)</a:t>
                      </a:r>
                    </a:p>
                  </a:txBody>
                  <a:tcPr/>
                </a:tc>
                <a:tc>
                  <a:txBody>
                    <a:bodyPr/>
                    <a:lstStyle/>
                    <a:p>
                      <a:r>
                        <a:rPr sz="700"/>
                        <a:t>-0.070</a:t>
                      </a:r>
                    </a:p>
                  </a:txBody>
                  <a:tcPr/>
                </a:tc>
                <a:tc>
                  <a:txBody>
                    <a:bodyPr/>
                    <a:lstStyle/>
                    <a:p>
                      <a:r>
                        <a:rPr sz="700"/>
                        <a:t>-0.081</a:t>
                      </a:r>
                    </a:p>
                  </a:txBody>
                  <a:tcPr/>
                </a:tc>
                <a:tc>
                  <a:txBody>
                    <a:bodyPr/>
                    <a:lstStyle/>
                    <a:p>
                      <a:r>
                        <a:rPr sz="700"/>
                        <a:t>[-0.096, -0.043]</a:t>
                      </a:r>
                    </a:p>
                  </a:txBody>
                  <a:tcPr/>
                </a:tc>
                <a:tc>
                  <a:txBody>
                    <a:bodyPr/>
                    <a:lstStyle/>
                    <a:p>
                      <a:r>
                        <a:rPr sz="700"/>
                        <a:t>8/43</a:t>
                      </a:r>
                    </a:p>
                  </a:txBody>
                  <a:tcPr/>
                </a:tc>
                <a:tc>
                  <a:txBody>
                    <a:bodyPr/>
                    <a:lstStyle/>
                    <a:p>
                      <a:r>
                        <a:rPr sz="700"/>
                        <a:t>-0.69</a:t>
                      </a:r>
                    </a:p>
                  </a:txBody>
                  <a:tcPr/>
                </a:tc>
              </a:tr>
              <a:tr h="237744">
                <a:tc>
                  <a:txBody>
                    <a:bodyPr/>
                    <a:lstStyle/>
                    <a:p>
                      <a:r>
                        <a:rPr sz="700"/>
                        <a:t>MLPF (supervised)</a:t>
                      </a:r>
                    </a:p>
                  </a:txBody>
                  <a:tcPr/>
                </a:tc>
                <a:tc>
                  <a:txBody>
                    <a:bodyPr/>
                    <a:lstStyle/>
                    <a:p>
                      <a:r>
                        <a:rPr sz="700"/>
                        <a:t>-0.061</a:t>
                      </a:r>
                    </a:p>
                  </a:txBody>
                  <a:tcPr/>
                </a:tc>
                <a:tc>
                  <a:txBody>
                    <a:bodyPr/>
                    <a:lstStyle/>
                    <a:p>
                      <a:r>
                        <a:rPr sz="700"/>
                        <a:t>-0.074</a:t>
                      </a:r>
                    </a:p>
                  </a:txBody>
                  <a:tcPr/>
                </a:tc>
                <a:tc>
                  <a:txBody>
                    <a:bodyPr/>
                    <a:lstStyle/>
                    <a:p>
                      <a:r>
                        <a:rPr sz="700"/>
                        <a:t>[-0.086, -0.033]</a:t>
                      </a:r>
                    </a:p>
                  </a:txBody>
                  <a:tcPr/>
                </a:tc>
                <a:tc>
                  <a:txBody>
                    <a:bodyPr/>
                    <a:lstStyle/>
                    <a:p>
                      <a:r>
                        <a:rPr sz="700"/>
                        <a:t>7/43</a:t>
                      </a:r>
                    </a:p>
                  </a:txBody>
                  <a:tcPr/>
                </a:tc>
                <a:tc>
                  <a:txBody>
                    <a:bodyPr/>
                    <a:lstStyle/>
                    <a:p>
                      <a:r>
                        <a:rPr sz="700"/>
                        <a:t>-0.63</a:t>
                      </a:r>
                    </a:p>
                  </a:txBody>
                  <a:tcPr/>
                </a:tc>
              </a:tr>
            </a:tbl>
          </a:graphicData>
        </a:graphic>
      </p:graphicFrame>
      <p:sp>
        <p:nvSpPr>
          <p:cNvPr id="4" name="TextBox 3"/>
          <p:cNvSpPr txBox="1"/>
          <p:nvPr/>
        </p:nvSpPr>
        <p:spPr>
          <a:xfrm>
            <a:off x="365760" y="5715000"/>
            <a:ext cx="11430000" cy="960119"/>
          </a:xfrm>
          <a:prstGeom prst="rect">
            <a:avLst/>
          </a:prstGeom>
          <a:noFill/>
        </p:spPr>
        <p:txBody>
          <a:bodyPr wrap="square">
            <a:spAutoFit/>
          </a:bodyPr>
          <a:lstStyle/>
          <a:p>
            <a:r>
              <a:rPr sz="1100"/>
              <a:t>Table S2. Effect sizes of the paired comparison on EBSSA (43 recordings): mean and median paired ΔAUC of the proposed fixed-window detector minus each method, 95% percentile bootstrap CI (10,000 resamples of recordings), number of recordings on which the proposal is ahead, and matched-pairs rank-biserial correlation r (−1 to +1; positive favours the proposal).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none">
            <a:spAutoFit/>
          </a:bodyPr>
          <a:lstStyle/>
          <a:p>
            <a:r>
              <a:rPr sz="2200" b="1"/>
              <a:t>Table S3</a:t>
            </a:r>
          </a:p>
        </p:txBody>
      </p:sp>
      <p:graphicFrame>
        <p:nvGraphicFramePr>
          <p:cNvPr id="3" name="Table 2"/>
          <p:cNvGraphicFramePr>
            <a:graphicFrameLocks noGrp="1"/>
          </p:cNvGraphicFramePr>
          <p:nvPr/>
        </p:nvGraphicFramePr>
        <p:xfrm>
          <a:off x="365760" y="822960"/>
          <a:ext cx="11430000" cy="1600200"/>
        </p:xfrm>
        <a:graphic>
          <a:graphicData uri="http://schemas.openxmlformats.org/drawingml/2006/table">
            <a:tbl>
              <a:tblPr firstRow="1" bandRow="1">
                <a:tableStyleId>{5C22544A-7EE6-4342-B048-85BDC9FD1C3A}</a:tableStyleId>
              </a:tblPr>
              <a:tblGrid>
                <a:gridCol w="1428750"/>
                <a:gridCol w="1428750"/>
                <a:gridCol w="1428750"/>
                <a:gridCol w="1428750"/>
                <a:gridCol w="1428750"/>
                <a:gridCol w="1428750"/>
                <a:gridCol w="1428750"/>
                <a:gridCol w="1428750"/>
              </a:tblGrid>
              <a:tr h="320040">
                <a:tc>
                  <a:txBody>
                    <a:bodyPr/>
                    <a:lstStyle/>
                    <a:p>
                      <a:r>
                        <a:rPr sz="900" b="1"/>
                        <a:t>Stratum</a:t>
                      </a:r>
                    </a:p>
                  </a:txBody>
                  <a:tcPr/>
                </a:tc>
                <a:tc>
                  <a:txBody>
                    <a:bodyPr/>
                    <a:lstStyle/>
                    <a:p>
                      <a:r>
                        <a:rPr sz="900" b="1"/>
                        <a:t>n</a:t>
                      </a:r>
                    </a:p>
                  </a:txBody>
                  <a:tcPr/>
                </a:tc>
                <a:tc>
                  <a:txBody>
                    <a:bodyPr/>
                    <a:lstStyle/>
                    <a:p>
                      <a:r>
                        <a:rPr sz="900" b="1"/>
                        <a:t>Proposed</a:t>
                      </a:r>
                    </a:p>
                  </a:txBody>
                  <a:tcPr/>
                </a:tc>
                <a:tc>
                  <a:txBody>
                    <a:bodyPr/>
                    <a:lstStyle/>
                    <a:p>
                      <a:r>
                        <a:rPr sz="900" b="1"/>
                        <a:t>Bilateral</a:t>
                      </a:r>
                    </a:p>
                  </a:txBody>
                  <a:tcPr/>
                </a:tc>
                <a:tc>
                  <a:txBody>
                    <a:bodyPr/>
                    <a:lstStyle/>
                    <a:p>
                      <a:r>
                        <a:rPr sz="900" b="1"/>
                        <a:t>YNoise</a:t>
                      </a:r>
                    </a:p>
                  </a:txBody>
                  <a:tcPr/>
                </a:tc>
                <a:tc>
                  <a:txBody>
                    <a:bodyPr/>
                    <a:lstStyle/>
                    <a:p>
                      <a:r>
                        <a:rPr sz="900" b="1"/>
                        <a:t>Voxelised LR</a:t>
                      </a:r>
                    </a:p>
                  </a:txBody>
                  <a:tcPr/>
                </a:tc>
                <a:tc>
                  <a:txBody>
                    <a:bodyPr/>
                    <a:lstStyle/>
                    <a:p>
                      <a:r>
                        <a:rPr sz="900" b="1"/>
                        <a:t>MLPF-style</a:t>
                      </a:r>
                    </a:p>
                  </a:txBody>
                  <a:tcPr/>
                </a:tc>
                <a:tc>
                  <a:txBody>
                    <a:bodyPr/>
                    <a:lstStyle/>
                    <a:p>
                      <a:r>
                        <a:rPr sz="900" b="1"/>
                        <a:t>EDnCNN-style</a:t>
                      </a:r>
                    </a:p>
                  </a:txBody>
                  <a:tcPr/>
                </a:tc>
              </a:tr>
              <a:tr h="320040">
                <a:tc>
                  <a:txBody>
                    <a:bodyPr/>
                    <a:lstStyle/>
                    <a:p>
                      <a:r>
                        <a:rPr sz="900"/>
                        <a:t>180 x 240-pixel sensor</a:t>
                      </a:r>
                    </a:p>
                  </a:txBody>
                  <a:tcPr/>
                </a:tc>
                <a:tc>
                  <a:txBody>
                    <a:bodyPr/>
                    <a:lstStyle/>
                    <a:p>
                      <a:r>
                        <a:rPr sz="900"/>
                        <a:t>29</a:t>
                      </a:r>
                    </a:p>
                  </a:txBody>
                  <a:tcPr/>
                </a:tc>
                <a:tc>
                  <a:txBody>
                    <a:bodyPr/>
                    <a:lstStyle/>
                    <a:p>
                      <a:r>
                        <a:rPr sz="900"/>
                        <a:t>0.779</a:t>
                      </a:r>
                    </a:p>
                  </a:txBody>
                  <a:tcPr/>
                </a:tc>
                <a:tc>
                  <a:txBody>
                    <a:bodyPr/>
                    <a:lstStyle/>
                    <a:p>
                      <a:r>
                        <a:rPr sz="900"/>
                        <a:t>0.847</a:t>
                      </a:r>
                    </a:p>
                  </a:txBody>
                  <a:tcPr/>
                </a:tc>
                <a:tc>
                  <a:txBody>
                    <a:bodyPr/>
                    <a:lstStyle/>
                    <a:p>
                      <a:r>
                        <a:rPr sz="900"/>
                        <a:t>0.853</a:t>
                      </a:r>
                    </a:p>
                  </a:txBody>
                  <a:tcPr/>
                </a:tc>
                <a:tc>
                  <a:txBody>
                    <a:bodyPr/>
                    <a:lstStyle/>
                    <a:p>
                      <a:r>
                        <a:rPr sz="900"/>
                        <a:t>0.744</a:t>
                      </a:r>
                    </a:p>
                  </a:txBody>
                  <a:tcPr/>
                </a:tc>
                <a:tc>
                  <a:txBody>
                    <a:bodyPr/>
                    <a:lstStyle/>
                    <a:p>
                      <a:r>
                        <a:rPr sz="900"/>
                        <a:t>0.820</a:t>
                      </a:r>
                    </a:p>
                  </a:txBody>
                  <a:tcPr/>
                </a:tc>
                <a:tc>
                  <a:txBody>
                    <a:bodyPr/>
                    <a:lstStyle/>
                    <a:p>
                      <a:r>
                        <a:rPr sz="900"/>
                        <a:t>0.830</a:t>
                      </a:r>
                    </a:p>
                  </a:txBody>
                  <a:tcPr/>
                </a:tc>
              </a:tr>
              <a:tr h="320040">
                <a:tc>
                  <a:txBody>
                    <a:bodyPr/>
                    <a:lstStyle/>
                    <a:p>
                      <a:r>
                        <a:rPr sz="900"/>
                        <a:t>240 x 304-pixel sensor</a:t>
                      </a:r>
                    </a:p>
                  </a:txBody>
                  <a:tcPr/>
                </a:tc>
                <a:tc>
                  <a:txBody>
                    <a:bodyPr/>
                    <a:lstStyle/>
                    <a:p>
                      <a:r>
                        <a:rPr sz="900"/>
                        <a:t>14</a:t>
                      </a:r>
                    </a:p>
                  </a:txBody>
                  <a:tcPr/>
                </a:tc>
                <a:tc>
                  <a:txBody>
                    <a:bodyPr/>
                    <a:lstStyle/>
                    <a:p>
                      <a:r>
                        <a:rPr sz="900"/>
                        <a:t>0.698</a:t>
                      </a:r>
                    </a:p>
                  </a:txBody>
                  <a:tcPr/>
                </a:tc>
                <a:tc>
                  <a:txBody>
                    <a:bodyPr/>
                    <a:lstStyle/>
                    <a:p>
                      <a:r>
                        <a:rPr sz="900"/>
                        <a:t>0.707</a:t>
                      </a:r>
                    </a:p>
                  </a:txBody>
                  <a:tcPr/>
                </a:tc>
                <a:tc>
                  <a:txBody>
                    <a:bodyPr/>
                    <a:lstStyle/>
                    <a:p>
                      <a:r>
                        <a:rPr sz="900"/>
                        <a:t>0.825</a:t>
                      </a:r>
                    </a:p>
                  </a:txBody>
                  <a:tcPr/>
                </a:tc>
                <a:tc>
                  <a:txBody>
                    <a:bodyPr/>
                    <a:lstStyle/>
                    <a:p>
                      <a:r>
                        <a:rPr sz="900"/>
                        <a:t>0.558</a:t>
                      </a:r>
                    </a:p>
                  </a:txBody>
                  <a:tcPr/>
                </a:tc>
                <a:tc>
                  <a:txBody>
                    <a:bodyPr/>
                    <a:lstStyle/>
                    <a:p>
                      <a:r>
                        <a:rPr sz="900"/>
                        <a:t>0.799</a:t>
                      </a:r>
                    </a:p>
                  </a:txBody>
                  <a:tcPr/>
                </a:tc>
                <a:tc>
                  <a:txBody>
                    <a:bodyPr/>
                    <a:lstStyle/>
                    <a:p>
                      <a:r>
                        <a:rPr sz="900"/>
                        <a:t>0.808</a:t>
                      </a:r>
                    </a:p>
                  </a:txBody>
                  <a:tcPr/>
                </a:tc>
              </a:tr>
              <a:tr h="320040">
                <a:tc>
                  <a:txBody>
                    <a:bodyPr/>
                    <a:lstStyle/>
                    <a:p>
                      <a:r>
                        <a:rPr sz="900"/>
                        <a:t>Event rate below median</a:t>
                      </a:r>
                    </a:p>
                  </a:txBody>
                  <a:tcPr/>
                </a:tc>
                <a:tc>
                  <a:txBody>
                    <a:bodyPr/>
                    <a:lstStyle/>
                    <a:p>
                      <a:r>
                        <a:rPr sz="900"/>
                        <a:t>22</a:t>
                      </a:r>
                    </a:p>
                  </a:txBody>
                  <a:tcPr/>
                </a:tc>
                <a:tc>
                  <a:txBody>
                    <a:bodyPr/>
                    <a:lstStyle/>
                    <a:p>
                      <a:r>
                        <a:rPr sz="900"/>
                        <a:t>0.747</a:t>
                      </a:r>
                    </a:p>
                  </a:txBody>
                  <a:tcPr/>
                </a:tc>
                <a:tc>
                  <a:txBody>
                    <a:bodyPr/>
                    <a:lstStyle/>
                    <a:p>
                      <a:r>
                        <a:rPr sz="900"/>
                        <a:t>0.826</a:t>
                      </a:r>
                    </a:p>
                  </a:txBody>
                  <a:tcPr/>
                </a:tc>
                <a:tc>
                  <a:txBody>
                    <a:bodyPr/>
                    <a:lstStyle/>
                    <a:p>
                      <a:r>
                        <a:rPr sz="900"/>
                        <a:t>0.825</a:t>
                      </a:r>
                    </a:p>
                  </a:txBody>
                  <a:tcPr/>
                </a:tc>
                <a:tc>
                  <a:txBody>
                    <a:bodyPr/>
                    <a:lstStyle/>
                    <a:p>
                      <a:r>
                        <a:rPr sz="900"/>
                        <a:t>0.718</a:t>
                      </a:r>
                    </a:p>
                  </a:txBody>
                  <a:tcPr/>
                </a:tc>
                <a:tc>
                  <a:txBody>
                    <a:bodyPr/>
                    <a:lstStyle/>
                    <a:p>
                      <a:r>
                        <a:rPr sz="900"/>
                        <a:t>0.784</a:t>
                      </a:r>
                    </a:p>
                  </a:txBody>
                  <a:tcPr/>
                </a:tc>
                <a:tc>
                  <a:txBody>
                    <a:bodyPr/>
                    <a:lstStyle/>
                    <a:p>
                      <a:r>
                        <a:rPr sz="900"/>
                        <a:t>0.794</a:t>
                      </a:r>
                    </a:p>
                  </a:txBody>
                  <a:tcPr/>
                </a:tc>
              </a:tr>
              <a:tr h="320040">
                <a:tc>
                  <a:txBody>
                    <a:bodyPr/>
                    <a:lstStyle/>
                    <a:p>
                      <a:r>
                        <a:rPr sz="900"/>
                        <a:t>Event rate above median</a:t>
                      </a:r>
                    </a:p>
                  </a:txBody>
                  <a:tcPr/>
                </a:tc>
                <a:tc>
                  <a:txBody>
                    <a:bodyPr/>
                    <a:lstStyle/>
                    <a:p>
                      <a:r>
                        <a:rPr sz="900"/>
                        <a:t>21</a:t>
                      </a:r>
                    </a:p>
                  </a:txBody>
                  <a:tcPr/>
                </a:tc>
                <a:tc>
                  <a:txBody>
                    <a:bodyPr/>
                    <a:lstStyle/>
                    <a:p>
                      <a:r>
                        <a:rPr sz="900"/>
                        <a:t>0.758</a:t>
                      </a:r>
                    </a:p>
                  </a:txBody>
                  <a:tcPr/>
                </a:tc>
                <a:tc>
                  <a:txBody>
                    <a:bodyPr/>
                    <a:lstStyle/>
                    <a:p>
                      <a:r>
                        <a:rPr sz="900"/>
                        <a:t>0.775</a:t>
                      </a:r>
                    </a:p>
                  </a:txBody>
                  <a:tcPr/>
                </a:tc>
                <a:tc>
                  <a:txBody>
                    <a:bodyPr/>
                    <a:lstStyle/>
                    <a:p>
                      <a:r>
                        <a:rPr sz="900"/>
                        <a:t>0.863</a:t>
                      </a:r>
                    </a:p>
                  </a:txBody>
                  <a:tcPr/>
                </a:tc>
                <a:tc>
                  <a:txBody>
                    <a:bodyPr/>
                    <a:lstStyle/>
                    <a:p>
                      <a:r>
                        <a:rPr sz="900"/>
                        <a:t>0.647</a:t>
                      </a:r>
                    </a:p>
                  </a:txBody>
                  <a:tcPr/>
                </a:tc>
                <a:tc>
                  <a:txBody>
                    <a:bodyPr/>
                    <a:lstStyle/>
                    <a:p>
                      <a:r>
                        <a:rPr sz="900"/>
                        <a:t>0.844</a:t>
                      </a:r>
                    </a:p>
                  </a:txBody>
                  <a:tcPr/>
                </a:tc>
                <a:tc>
                  <a:txBody>
                    <a:bodyPr/>
                    <a:lstStyle/>
                    <a:p>
                      <a:r>
                        <a:rPr sz="900"/>
                        <a:t>0.852</a:t>
                      </a:r>
                    </a:p>
                  </a:txBody>
                  <a:tcPr/>
                </a:tc>
              </a:tr>
            </a:tbl>
          </a:graphicData>
        </a:graphic>
      </p:graphicFrame>
      <p:sp>
        <p:nvSpPr>
          <p:cNvPr id="4" name="TextBox 3"/>
          <p:cNvSpPr txBox="1"/>
          <p:nvPr/>
        </p:nvSpPr>
        <p:spPr>
          <a:xfrm>
            <a:off x="365760" y="2560320"/>
            <a:ext cx="11430000" cy="4114800"/>
          </a:xfrm>
          <a:prstGeom prst="rect">
            <a:avLst/>
          </a:prstGeom>
          <a:noFill/>
        </p:spPr>
        <p:txBody>
          <a:bodyPr wrap="square">
            <a:spAutoFit/>
          </a:bodyPr>
          <a:lstStyle/>
          <a:p>
            <a:r>
              <a:rPr sz="1100"/>
              <a:t>Table S3. Mean ROC-AUC on EBSSA by sensor model and by event-rate stratum (split at the median rate of 12.2 k events/s). Supervised networks for reference.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none">
            <a:spAutoFit/>
          </a:bodyPr>
          <a:lstStyle/>
          <a:p>
            <a:r>
              <a:rPr sz="2200" b="1"/>
              <a:t>Table S4</a:t>
            </a:r>
          </a:p>
        </p:txBody>
      </p:sp>
      <p:graphicFrame>
        <p:nvGraphicFramePr>
          <p:cNvPr id="3" name="Table 2"/>
          <p:cNvGraphicFramePr>
            <a:graphicFrameLocks noGrp="1"/>
          </p:cNvGraphicFramePr>
          <p:nvPr/>
        </p:nvGraphicFramePr>
        <p:xfrm>
          <a:off x="365760" y="822960"/>
          <a:ext cx="11430000" cy="2880360"/>
        </p:xfrm>
        <a:graphic>
          <a:graphicData uri="http://schemas.openxmlformats.org/drawingml/2006/table">
            <a:tbl>
              <a:tblPr firstRow="1" bandRow="1">
                <a:tableStyleId>{5C22544A-7EE6-4342-B048-85BDC9FD1C3A}</a:tableStyleId>
              </a:tblPr>
              <a:tblGrid>
                <a:gridCol w="1270000"/>
                <a:gridCol w="1270000"/>
                <a:gridCol w="1270000"/>
                <a:gridCol w="1270000"/>
                <a:gridCol w="1270000"/>
                <a:gridCol w="1270000"/>
                <a:gridCol w="1270000"/>
                <a:gridCol w="1270000"/>
                <a:gridCol w="1270000"/>
              </a:tblGrid>
              <a:tr h="320040">
                <a:tc>
                  <a:txBody>
                    <a:bodyPr/>
                    <a:lstStyle/>
                    <a:p>
                      <a:r>
                        <a:rPr sz="900" b="1"/>
                        <a:t>Method</a:t>
                      </a:r>
                    </a:p>
                  </a:txBody>
                  <a:tcPr/>
                </a:tc>
                <a:tc>
                  <a:txBody>
                    <a:bodyPr/>
                    <a:lstStyle/>
                    <a:p>
                      <a:r>
                        <a:rPr sz="900" b="1"/>
                        <a:t>Family</a:t>
                      </a:r>
                    </a:p>
                  </a:txBody>
                  <a:tcPr/>
                </a:tc>
                <a:tc>
                  <a:txBody>
                    <a:bodyPr/>
                    <a:lstStyle/>
                    <a:p>
                      <a:r>
                        <a:rPr sz="900" b="1"/>
                        <a:t>Exponent β</a:t>
                      </a:r>
                    </a:p>
                  </a:txBody>
                  <a:tcPr/>
                </a:tc>
                <a:tc>
                  <a:txBody>
                    <a:bodyPr/>
                    <a:lstStyle/>
                    <a:p>
                      <a:r>
                        <a:rPr sz="900" b="1"/>
                        <a:t>Time dense (ms)</a:t>
                      </a:r>
                    </a:p>
                  </a:txBody>
                  <a:tcPr/>
                </a:tc>
                <a:tc>
                  <a:txBody>
                    <a:bodyPr/>
                    <a:lstStyle/>
                    <a:p>
                      <a:r>
                        <a:rPr sz="900" b="1"/>
                        <a:t>Time sparse (ms)</a:t>
                      </a:r>
                    </a:p>
                  </a:txBody>
                  <a:tcPr/>
                </a:tc>
                <a:tc>
                  <a:txBody>
                    <a:bodyPr/>
                    <a:lstStyle/>
                    <a:p>
                      <a:r>
                        <a:rPr sz="900" b="1"/>
                        <a:t>ns/event dense</a:t>
                      </a:r>
                    </a:p>
                  </a:txBody>
                  <a:tcPr/>
                </a:tc>
                <a:tc>
                  <a:txBody>
                    <a:bodyPr/>
                    <a:lstStyle/>
                    <a:p>
                      <a:r>
                        <a:rPr sz="900" b="1"/>
                        <a:t>ns/event sparse</a:t>
                      </a:r>
                    </a:p>
                  </a:txBody>
                  <a:tcPr/>
                </a:tc>
                <a:tc>
                  <a:txBody>
                    <a:bodyPr/>
                    <a:lstStyle/>
                    <a:p>
                      <a:r>
                        <a:rPr sz="900" b="1"/>
                        <a:t>Memory dense (MB)</a:t>
                      </a:r>
                    </a:p>
                  </a:txBody>
                  <a:tcPr/>
                </a:tc>
                <a:tc>
                  <a:txBody>
                    <a:bodyPr/>
                    <a:lstStyle/>
                    <a:p>
                      <a:r>
                        <a:rPr sz="900" b="1"/>
                        <a:t>Memory sparse (MB)</a:t>
                      </a:r>
                    </a:p>
                  </a:txBody>
                  <a:tcPr/>
                </a:tc>
              </a:tr>
              <a:tr h="320040">
                <a:tc>
                  <a:txBody>
                    <a:bodyPr/>
                    <a:lstStyle/>
                    <a:p>
                      <a:r>
                        <a:rPr sz="900"/>
                        <a:t>Event-driven Poisson LR filter</a:t>
                      </a:r>
                    </a:p>
                  </a:txBody>
                  <a:tcPr/>
                </a:tc>
                <a:tc>
                  <a:txBody>
                    <a:bodyPr/>
                    <a:lstStyle/>
                    <a:p>
                      <a:r>
                        <a:rPr sz="900"/>
                        <a:t>event-driven</a:t>
                      </a:r>
                    </a:p>
                  </a:txBody>
                  <a:tcPr/>
                </a:tc>
                <a:tc>
                  <a:txBody>
                    <a:bodyPr/>
                    <a:lstStyle/>
                    <a:p>
                      <a:r>
                        <a:rPr sz="900"/>
                        <a:t>0.81 ± 0.05</a:t>
                      </a:r>
                    </a:p>
                  </a:txBody>
                  <a:tcPr/>
                </a:tc>
                <a:tc>
                  <a:txBody>
                    <a:bodyPr/>
                    <a:lstStyle/>
                    <a:p>
                      <a:r>
                        <a:rPr sz="900"/>
                        <a:t>52.8</a:t>
                      </a:r>
                    </a:p>
                  </a:txBody>
                  <a:tcPr/>
                </a:tc>
                <a:tc>
                  <a:txBody>
                    <a:bodyPr/>
                    <a:lstStyle/>
                    <a:p>
                      <a:r>
                        <a:rPr sz="900"/>
                        <a:t>1.39</a:t>
                      </a:r>
                    </a:p>
                  </a:txBody>
                  <a:tcPr/>
                </a:tc>
                <a:tc>
                  <a:txBody>
                    <a:bodyPr/>
                    <a:lstStyle/>
                    <a:p>
                      <a:r>
                        <a:rPr sz="900"/>
                        <a:t>264</a:t>
                      </a:r>
                    </a:p>
                  </a:txBody>
                  <a:tcPr/>
                </a:tc>
                <a:tc>
                  <a:txBody>
                    <a:bodyPr/>
                    <a:lstStyle/>
                    <a:p>
                      <a:r>
                        <a:rPr sz="900"/>
                        <a:t>696</a:t>
                      </a:r>
                    </a:p>
                  </a:txBody>
                  <a:tcPr/>
                </a:tc>
                <a:tc>
                  <a:txBody>
                    <a:bodyPr/>
                    <a:lstStyle/>
                    <a:p>
                      <a:r>
                        <a:rPr sz="900"/>
                        <a:t>12.9</a:t>
                      </a:r>
                    </a:p>
                  </a:txBody>
                  <a:tcPr/>
                </a:tc>
                <a:tc>
                  <a:txBody>
                    <a:bodyPr/>
                    <a:lstStyle/>
                    <a:p>
                      <a:r>
                        <a:rPr sz="900"/>
                        <a:t>1.90</a:t>
                      </a:r>
                    </a:p>
                  </a:txBody>
                  <a:tcPr/>
                </a:tc>
              </a:tr>
              <a:tr h="320040">
                <a:tc>
                  <a:txBody>
                    <a:bodyPr/>
                    <a:lstStyle/>
                    <a:p>
                      <a:r>
                        <a:rPr sz="900"/>
                        <a:t>Event-driven Poisson LR, zero-knowledge form</a:t>
                      </a:r>
                    </a:p>
                  </a:txBody>
                  <a:tcPr/>
                </a:tc>
                <a:tc>
                  <a:txBody>
                    <a:bodyPr/>
                    <a:lstStyle/>
                    <a:p>
                      <a:r>
                        <a:rPr sz="900"/>
                        <a:t>event-driven</a:t>
                      </a:r>
                    </a:p>
                  </a:txBody>
                  <a:tcPr/>
                </a:tc>
                <a:tc>
                  <a:txBody>
                    <a:bodyPr/>
                    <a:lstStyle/>
                    <a:p>
                      <a:r>
                        <a:rPr sz="900"/>
                        <a:t>0.74 ± 0.06</a:t>
                      </a:r>
                    </a:p>
                  </a:txBody>
                  <a:tcPr/>
                </a:tc>
                <a:tc>
                  <a:txBody>
                    <a:bodyPr/>
                    <a:lstStyle/>
                    <a:p>
                      <a:r>
                        <a:rPr sz="900"/>
                        <a:t>55.1</a:t>
                      </a:r>
                    </a:p>
                  </a:txBody>
                  <a:tcPr/>
                </a:tc>
                <a:tc>
                  <a:txBody>
                    <a:bodyPr/>
                    <a:lstStyle/>
                    <a:p>
                      <a:r>
                        <a:rPr sz="900"/>
                        <a:t>2.02</a:t>
                      </a:r>
                    </a:p>
                  </a:txBody>
                  <a:tcPr/>
                </a:tc>
                <a:tc>
                  <a:txBody>
                    <a:bodyPr/>
                    <a:lstStyle/>
                    <a:p>
                      <a:r>
                        <a:rPr sz="900"/>
                        <a:t>276</a:t>
                      </a:r>
                    </a:p>
                  </a:txBody>
                  <a:tcPr/>
                </a:tc>
                <a:tc>
                  <a:txBody>
                    <a:bodyPr/>
                    <a:lstStyle/>
                    <a:p>
                      <a:r>
                        <a:rPr sz="900"/>
                        <a:t>1008</a:t>
                      </a:r>
                    </a:p>
                  </a:txBody>
                  <a:tcPr/>
                </a:tc>
                <a:tc>
                  <a:txBody>
                    <a:bodyPr/>
                    <a:lstStyle/>
                    <a:p>
                      <a:r>
                        <a:rPr sz="900"/>
                        <a:t>14.9</a:t>
                      </a:r>
                    </a:p>
                  </a:txBody>
                  <a:tcPr/>
                </a:tc>
                <a:tc>
                  <a:txBody>
                    <a:bodyPr/>
                    <a:lstStyle/>
                    <a:p>
                      <a:r>
                        <a:rPr sz="900"/>
                        <a:t>2.34</a:t>
                      </a:r>
                    </a:p>
                  </a:txBody>
                  <a:tcPr/>
                </a:tc>
              </a:tr>
              <a:tr h="320040">
                <a:tc>
                  <a:txBody>
                    <a:bodyPr/>
                    <a:lstStyle/>
                    <a:p>
                      <a:r>
                        <a:rPr sz="900"/>
                        <a:t>Event bilateral filter (event-driven form)</a:t>
                      </a:r>
                    </a:p>
                  </a:txBody>
                  <a:tcPr/>
                </a:tc>
                <a:tc>
                  <a:txBody>
                    <a:bodyPr/>
                    <a:lstStyle/>
                    <a:p>
                      <a:r>
                        <a:rPr sz="900"/>
                        <a:t>event-driven</a:t>
                      </a:r>
                    </a:p>
                  </a:txBody>
                  <a:tcPr/>
                </a:tc>
                <a:tc>
                  <a:txBody>
                    <a:bodyPr/>
                    <a:lstStyle/>
                    <a:p>
                      <a:r>
                        <a:rPr sz="900"/>
                        <a:t>0.96 ± 0.01</a:t>
                      </a:r>
                    </a:p>
                  </a:txBody>
                  <a:tcPr/>
                </a:tc>
                <a:tc>
                  <a:txBody>
                    <a:bodyPr/>
                    <a:lstStyle/>
                    <a:p>
                      <a:r>
                        <a:rPr sz="900"/>
                        <a:t>58.2</a:t>
                      </a:r>
                    </a:p>
                  </a:txBody>
                  <a:tcPr/>
                </a:tc>
                <a:tc>
                  <a:txBody>
                    <a:bodyPr/>
                    <a:lstStyle/>
                    <a:p>
                      <a:r>
                        <a:rPr sz="900"/>
                        <a:t>0.68</a:t>
                      </a:r>
                    </a:p>
                  </a:txBody>
                  <a:tcPr/>
                </a:tc>
                <a:tc>
                  <a:txBody>
                    <a:bodyPr/>
                    <a:lstStyle/>
                    <a:p>
                      <a:r>
                        <a:rPr sz="900"/>
                        <a:t>291</a:t>
                      </a:r>
                    </a:p>
                  </a:txBody>
                  <a:tcPr/>
                </a:tc>
                <a:tc>
                  <a:txBody>
                    <a:bodyPr/>
                    <a:lstStyle/>
                    <a:p>
                      <a:r>
                        <a:rPr sz="900"/>
                        <a:t>341</a:t>
                      </a:r>
                    </a:p>
                  </a:txBody>
                  <a:tcPr/>
                </a:tc>
                <a:tc>
                  <a:txBody>
                    <a:bodyPr/>
                    <a:lstStyle/>
                    <a:p>
                      <a:r>
                        <a:rPr sz="900"/>
                        <a:t>7.0</a:t>
                      </a:r>
                    </a:p>
                  </a:txBody>
                  <a:tcPr/>
                </a:tc>
                <a:tc>
                  <a:txBody>
                    <a:bodyPr/>
                    <a:lstStyle/>
                    <a:p>
                      <a:r>
                        <a:rPr sz="900"/>
                        <a:t>0.49</a:t>
                      </a:r>
                    </a:p>
                  </a:txBody>
                  <a:tcPr/>
                </a:tc>
              </a:tr>
              <a:tr h="320040">
                <a:tc>
                  <a:txBody>
                    <a:bodyPr/>
                    <a:lstStyle/>
                    <a:p>
                      <a:r>
                        <a:rPr sz="900"/>
                        <a:t>YNoise</a:t>
                      </a:r>
                    </a:p>
                  </a:txBody>
                  <a:tcPr/>
                </a:tc>
                <a:tc>
                  <a:txBody>
                    <a:bodyPr/>
                    <a:lstStyle/>
                    <a:p>
                      <a:r>
                        <a:rPr sz="900"/>
                        <a:t>event-driven</a:t>
                      </a:r>
                    </a:p>
                  </a:txBody>
                  <a:tcPr/>
                </a:tc>
                <a:tc>
                  <a:txBody>
                    <a:bodyPr/>
                    <a:lstStyle/>
                    <a:p>
                      <a:r>
                        <a:rPr sz="900"/>
                        <a:t>1.00 ± 0.04</a:t>
                      </a:r>
                    </a:p>
                  </a:txBody>
                  <a:tcPr/>
                </a:tc>
                <a:tc>
                  <a:txBody>
                    <a:bodyPr/>
                    <a:lstStyle/>
                    <a:p>
                      <a:r>
                        <a:rPr sz="900"/>
                        <a:t>16.3</a:t>
                      </a:r>
                    </a:p>
                  </a:txBody>
                  <a:tcPr/>
                </a:tc>
                <a:tc>
                  <a:txBody>
                    <a:bodyPr/>
                    <a:lstStyle/>
                    <a:p>
                      <a:r>
                        <a:rPr sz="900"/>
                        <a:t>0.15</a:t>
                      </a:r>
                    </a:p>
                  </a:txBody>
                  <a:tcPr/>
                </a:tc>
                <a:tc>
                  <a:txBody>
                    <a:bodyPr/>
                    <a:lstStyle/>
                    <a:p>
                      <a:r>
                        <a:rPr sz="900"/>
                        <a:t>82</a:t>
                      </a:r>
                    </a:p>
                  </a:txBody>
                  <a:tcPr/>
                </a:tc>
                <a:tc>
                  <a:txBody>
                    <a:bodyPr/>
                    <a:lstStyle/>
                    <a:p>
                      <a:r>
                        <a:rPr sz="900"/>
                        <a:t>77</a:t>
                      </a:r>
                    </a:p>
                  </a:txBody>
                  <a:tcPr/>
                </a:tc>
                <a:tc>
                  <a:txBody>
                    <a:bodyPr/>
                    <a:lstStyle/>
                    <a:p>
                      <a:r>
                        <a:rPr sz="900"/>
                        <a:t>6.8</a:t>
                      </a:r>
                    </a:p>
                  </a:txBody>
                  <a:tcPr/>
                </a:tc>
                <a:tc>
                  <a:txBody>
                    <a:bodyPr/>
                    <a:lstStyle/>
                    <a:p>
                      <a:r>
                        <a:rPr sz="900"/>
                        <a:t>0.49</a:t>
                      </a:r>
                    </a:p>
                  </a:txBody>
                  <a:tcPr/>
                </a:tc>
              </a:tr>
              <a:tr h="320040">
                <a:tc>
                  <a:txBody>
                    <a:bodyPr/>
                    <a:lstStyle/>
                    <a:p>
                      <a:r>
                        <a:rPr sz="900"/>
                        <a:t>Recursive rate tracker (event-driven)</a:t>
                      </a:r>
                    </a:p>
                  </a:txBody>
                  <a:tcPr/>
                </a:tc>
                <a:tc>
                  <a:txBody>
                    <a:bodyPr/>
                    <a:lstStyle/>
                    <a:p>
                      <a:r>
                        <a:rPr sz="900"/>
                        <a:t>event-driven</a:t>
                      </a:r>
                    </a:p>
                  </a:txBody>
                  <a:tcPr/>
                </a:tc>
                <a:tc>
                  <a:txBody>
                    <a:bodyPr/>
                    <a:lstStyle/>
                    <a:p>
                      <a:r>
                        <a:rPr sz="900"/>
                        <a:t>1.02 ± 0.07</a:t>
                      </a:r>
                    </a:p>
                  </a:txBody>
                  <a:tcPr/>
                </a:tc>
                <a:tc>
                  <a:txBody>
                    <a:bodyPr/>
                    <a:lstStyle/>
                    <a:p>
                      <a:r>
                        <a:rPr sz="900"/>
                        <a:t>8.1</a:t>
                      </a:r>
                    </a:p>
                  </a:txBody>
                  <a:tcPr/>
                </a:tc>
                <a:tc>
                  <a:txBody>
                    <a:bodyPr/>
                    <a:lstStyle/>
                    <a:p>
                      <a:r>
                        <a:rPr sz="900"/>
                        <a:t>0.08</a:t>
                      </a:r>
                    </a:p>
                  </a:txBody>
                  <a:tcPr/>
                </a:tc>
                <a:tc>
                  <a:txBody>
                    <a:bodyPr/>
                    <a:lstStyle/>
                    <a:p>
                      <a:r>
                        <a:rPr sz="900"/>
                        <a:t>41</a:t>
                      </a:r>
                    </a:p>
                  </a:txBody>
                  <a:tcPr/>
                </a:tc>
                <a:tc>
                  <a:txBody>
                    <a:bodyPr/>
                    <a:lstStyle/>
                    <a:p>
                      <a:r>
                        <a:rPr sz="900"/>
                        <a:t>39</a:t>
                      </a:r>
                    </a:p>
                  </a:txBody>
                  <a:tcPr/>
                </a:tc>
                <a:tc>
                  <a:txBody>
                    <a:bodyPr/>
                    <a:lstStyle/>
                    <a:p>
                      <a:r>
                        <a:rPr sz="900"/>
                        <a:t>7.3</a:t>
                      </a:r>
                    </a:p>
                  </a:txBody>
                  <a:tcPr/>
                </a:tc>
                <a:tc>
                  <a:txBody>
                    <a:bodyPr/>
                    <a:lstStyle/>
                    <a:p>
                      <a:r>
                        <a:rPr sz="900"/>
                        <a:t>0.97</a:t>
                      </a:r>
                    </a:p>
                  </a:txBody>
                  <a:tcPr/>
                </a:tc>
              </a:tr>
              <a:tr h="320040">
                <a:tc>
                  <a:txBody>
                    <a:bodyPr/>
                    <a:lstStyle/>
                    <a:p>
                      <a:r>
                        <a:rPr sz="900"/>
                        <a:t>Voxelised Poisson LR filter</a:t>
                      </a:r>
                    </a:p>
                  </a:txBody>
                  <a:tcPr/>
                </a:tc>
                <a:tc>
                  <a:txBody>
                    <a:bodyPr/>
                    <a:lstStyle/>
                    <a:p>
                      <a:r>
                        <a:rPr sz="900"/>
                        <a:t>frame-based</a:t>
                      </a:r>
                    </a:p>
                  </a:txBody>
                  <a:tcPr/>
                </a:tc>
                <a:tc>
                  <a:txBody>
                    <a:bodyPr/>
                    <a:lstStyle/>
                    <a:p>
                      <a:r>
                        <a:rPr sz="900"/>
                        <a:t>0.02 ± 0.01</a:t>
                      </a:r>
                    </a:p>
                  </a:txBody>
                  <a:tcPr/>
                </a:tc>
                <a:tc>
                  <a:txBody>
                    <a:bodyPr/>
                    <a:lstStyle/>
                    <a:p>
                      <a:r>
                        <a:rPr sz="900"/>
                        <a:t>500.0</a:t>
                      </a:r>
                    </a:p>
                  </a:txBody>
                  <a:tcPr/>
                </a:tc>
                <a:tc>
                  <a:txBody>
                    <a:bodyPr/>
                    <a:lstStyle/>
                    <a:p>
                      <a:r>
                        <a:rPr sz="900"/>
                        <a:t>448.77</a:t>
                      </a:r>
                    </a:p>
                  </a:txBody>
                  <a:tcPr/>
                </a:tc>
                <a:tc>
                  <a:txBody>
                    <a:bodyPr/>
                    <a:lstStyle/>
                    <a:p>
                      <a:r>
                        <a:rPr sz="900"/>
                        <a:t>2500</a:t>
                      </a:r>
                    </a:p>
                  </a:txBody>
                  <a:tcPr/>
                </a:tc>
                <a:tc>
                  <a:txBody>
                    <a:bodyPr/>
                    <a:lstStyle/>
                    <a:p>
                      <a:r>
                        <a:rPr sz="900"/>
                        <a:t>224383</a:t>
                      </a:r>
                    </a:p>
                  </a:txBody>
                  <a:tcPr/>
                </a:tc>
                <a:tc>
                  <a:txBody>
                    <a:bodyPr/>
                    <a:lstStyle/>
                    <a:p>
                      <a:r>
                        <a:rPr sz="900"/>
                        <a:t>170.2</a:t>
                      </a:r>
                    </a:p>
                  </a:txBody>
                  <a:tcPr/>
                </a:tc>
                <a:tc>
                  <a:txBody>
                    <a:bodyPr/>
                    <a:lstStyle/>
                    <a:p>
                      <a:r>
                        <a:rPr sz="900"/>
                        <a:t>170.20</a:t>
                      </a:r>
                    </a:p>
                  </a:txBody>
                  <a:tcPr/>
                </a:tc>
              </a:tr>
              <a:tr h="320040">
                <a:tc>
                  <a:txBody>
                    <a:bodyPr/>
                    <a:lstStyle/>
                    <a:p>
                      <a:r>
                        <a:rPr sz="900"/>
                        <a:t>Event bilateral filter</a:t>
                      </a:r>
                    </a:p>
                  </a:txBody>
                  <a:tcPr/>
                </a:tc>
                <a:tc>
                  <a:txBody>
                    <a:bodyPr/>
                    <a:lstStyle/>
                    <a:p>
                      <a:r>
                        <a:rPr sz="900"/>
                        <a:t>frame-based</a:t>
                      </a:r>
                    </a:p>
                  </a:txBody>
                  <a:tcPr/>
                </a:tc>
                <a:tc>
                  <a:txBody>
                    <a:bodyPr/>
                    <a:lstStyle/>
                    <a:p>
                      <a:r>
                        <a:rPr sz="900"/>
                        <a:t>0.01 ± 0.00</a:t>
                      </a:r>
                    </a:p>
                  </a:txBody>
                  <a:tcPr/>
                </a:tc>
                <a:tc>
                  <a:txBody>
                    <a:bodyPr/>
                    <a:lstStyle/>
                    <a:p>
                      <a:r>
                        <a:rPr sz="900"/>
                        <a:t>461.4</a:t>
                      </a:r>
                    </a:p>
                  </a:txBody>
                  <a:tcPr/>
                </a:tc>
                <a:tc>
                  <a:txBody>
                    <a:bodyPr/>
                    <a:lstStyle/>
                    <a:p>
                      <a:r>
                        <a:rPr sz="900"/>
                        <a:t>444.95</a:t>
                      </a:r>
                    </a:p>
                  </a:txBody>
                  <a:tcPr/>
                </a:tc>
                <a:tc>
                  <a:txBody>
                    <a:bodyPr/>
                    <a:lstStyle/>
                    <a:p>
                      <a:r>
                        <a:rPr sz="900"/>
                        <a:t>2307</a:t>
                      </a:r>
                    </a:p>
                  </a:txBody>
                  <a:tcPr/>
                </a:tc>
                <a:tc>
                  <a:txBody>
                    <a:bodyPr/>
                    <a:lstStyle/>
                    <a:p>
                      <a:r>
                        <a:rPr sz="900"/>
                        <a:t>222477</a:t>
                      </a:r>
                    </a:p>
                  </a:txBody>
                  <a:tcPr/>
                </a:tc>
                <a:tc>
                  <a:txBody>
                    <a:bodyPr/>
                    <a:lstStyle/>
                    <a:p>
                      <a:r>
                        <a:rPr sz="900"/>
                        <a:t>48.1</a:t>
                      </a:r>
                    </a:p>
                  </a:txBody>
                  <a:tcPr/>
                </a:tc>
                <a:tc>
                  <a:txBody>
                    <a:bodyPr/>
                    <a:lstStyle/>
                    <a:p>
                      <a:r>
                        <a:rPr sz="900"/>
                        <a:t>42.56</a:t>
                      </a:r>
                    </a:p>
                  </a:txBody>
                  <a:tcPr/>
                </a:tc>
              </a:tr>
              <a:tr h="320040">
                <a:tc>
                  <a:txBody>
                    <a:bodyPr/>
                    <a:lstStyle/>
                    <a:p>
                      <a:r>
                        <a:rPr sz="900"/>
                        <a:t>Background-activity filter</a:t>
                      </a:r>
                    </a:p>
                  </a:txBody>
                  <a:tcPr/>
                </a:tc>
                <a:tc>
                  <a:txBody>
                    <a:bodyPr/>
                    <a:lstStyle/>
                    <a:p>
                      <a:r>
                        <a:rPr sz="900"/>
                        <a:t>frame-based</a:t>
                      </a:r>
                    </a:p>
                  </a:txBody>
                  <a:tcPr/>
                </a:tc>
                <a:tc>
                  <a:txBody>
                    <a:bodyPr/>
                    <a:lstStyle/>
                    <a:p>
                      <a:r>
                        <a:rPr sz="900"/>
                        <a:t>0.12 ± 0.01</a:t>
                      </a:r>
                    </a:p>
                  </a:txBody>
                  <a:tcPr/>
                </a:tc>
                <a:tc>
                  <a:txBody>
                    <a:bodyPr/>
                    <a:lstStyle/>
                    <a:p>
                      <a:r>
                        <a:rPr sz="900"/>
                        <a:t>55.5</a:t>
                      </a:r>
                    </a:p>
                  </a:txBody>
                  <a:tcPr/>
                </a:tc>
                <a:tc>
                  <a:txBody>
                    <a:bodyPr/>
                    <a:lstStyle/>
                    <a:p>
                      <a:r>
                        <a:rPr sz="900"/>
                        <a:t>29.81</a:t>
                      </a:r>
                    </a:p>
                  </a:txBody>
                  <a:tcPr/>
                </a:tc>
                <a:tc>
                  <a:txBody>
                    <a:bodyPr/>
                    <a:lstStyle/>
                    <a:p>
                      <a:r>
                        <a:rPr sz="900"/>
                        <a:t>278</a:t>
                      </a:r>
                    </a:p>
                  </a:txBody>
                  <a:tcPr/>
                </a:tc>
                <a:tc>
                  <a:txBody>
                    <a:bodyPr/>
                    <a:lstStyle/>
                    <a:p>
                      <a:r>
                        <a:rPr sz="900"/>
                        <a:t>14905</a:t>
                      </a:r>
                    </a:p>
                  </a:txBody>
                  <a:tcPr/>
                </a:tc>
                <a:tc>
                  <a:txBody>
                    <a:bodyPr/>
                    <a:lstStyle/>
                    <a:p>
                      <a:r>
                        <a:rPr sz="900"/>
                        <a:t>4.0</a:t>
                      </a:r>
                    </a:p>
                  </a:txBody>
                  <a:tcPr/>
                </a:tc>
                <a:tc>
                  <a:txBody>
                    <a:bodyPr/>
                    <a:lstStyle/>
                    <a:p>
                      <a:r>
                        <a:rPr sz="900"/>
                        <a:t>0.78</a:t>
                      </a:r>
                    </a:p>
                  </a:txBody>
                  <a:tcPr/>
                </a:tc>
              </a:tr>
            </a:tbl>
          </a:graphicData>
        </a:graphic>
      </p:graphicFrame>
      <p:sp>
        <p:nvSpPr>
          <p:cNvPr id="4" name="TextBox 3"/>
          <p:cNvSpPr txBox="1"/>
          <p:nvPr/>
        </p:nvSpPr>
        <p:spPr>
          <a:xfrm>
            <a:off x="365760" y="3840480"/>
            <a:ext cx="11430000" cy="2834639"/>
          </a:xfrm>
          <a:prstGeom prst="rect">
            <a:avLst/>
          </a:prstGeom>
          <a:noFill/>
        </p:spPr>
        <p:txBody>
          <a:bodyPr wrap="square">
            <a:spAutoFit/>
          </a:bodyPr>
          <a:lstStyle/>
          <a:p>
            <a:r>
              <a:rPr sz="1100"/>
              <a:t>Table S4. Cost-scaling summary from Fig. S1. Exponent: mean ± SD of β over repeats. Dense: all events; sparse: one percent of events. Memory is the peak Python-level allocation.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none">
            <a:spAutoFit/>
          </a:bodyPr>
          <a:lstStyle/>
          <a:p>
            <a:r>
              <a:rPr sz="2200" b="1"/>
              <a:t>Table S5</a:t>
            </a:r>
          </a:p>
        </p:txBody>
      </p:sp>
      <p:graphicFrame>
        <p:nvGraphicFramePr>
          <p:cNvPr id="3" name="Table 2"/>
          <p:cNvGraphicFramePr>
            <a:graphicFrameLocks noGrp="1"/>
          </p:cNvGraphicFramePr>
          <p:nvPr/>
        </p:nvGraphicFramePr>
        <p:xfrm>
          <a:off x="365760" y="822960"/>
          <a:ext cx="11430000" cy="3200400"/>
        </p:xfrm>
        <a:graphic>
          <a:graphicData uri="http://schemas.openxmlformats.org/drawingml/2006/table">
            <a:tbl>
              <a:tblPr firstRow="1" bandRow="1">
                <a:tableStyleId>{5C22544A-7EE6-4342-B048-85BDC9FD1C3A}</a:tableStyleId>
              </a:tblPr>
              <a:tblGrid>
                <a:gridCol w="2857500"/>
                <a:gridCol w="2857500"/>
                <a:gridCol w="2857500"/>
                <a:gridCol w="2857500"/>
              </a:tblGrid>
              <a:tr h="320040">
                <a:tc>
                  <a:txBody>
                    <a:bodyPr/>
                    <a:lstStyle/>
                    <a:p>
                      <a:r>
                        <a:rPr sz="900" b="1"/>
                        <a:t>Method</a:t>
                      </a:r>
                    </a:p>
                  </a:txBody>
                  <a:tcPr/>
                </a:tc>
                <a:tc>
                  <a:txBody>
                    <a:bodyPr/>
                    <a:lstStyle/>
                    <a:p>
                      <a:r>
                        <a:rPr sz="900" b="1"/>
                        <a:t>No tuning (all recordings)</a:t>
                      </a:r>
                    </a:p>
                  </a:txBody>
                  <a:tcPr/>
                </a:tc>
                <a:tc>
                  <a:txBody>
                    <a:bodyPr/>
                    <a:lstStyle/>
                    <a:p>
                      <a:r>
                        <a:rPr sz="900" b="1"/>
                        <a:t>Transfer 180 x 240 to 240 x 304</a:t>
                      </a:r>
                    </a:p>
                  </a:txBody>
                  <a:tcPr/>
                </a:tc>
                <a:tc>
                  <a:txBody>
                    <a:bodyPr/>
                    <a:lstStyle/>
                    <a:p>
                      <a:r>
                        <a:rPr sz="900" b="1"/>
                        <a:t>Transfer 240 x 304 to 180 x 240</a:t>
                      </a:r>
                    </a:p>
                  </a:txBody>
                  <a:tcPr/>
                </a:tc>
              </a:tr>
              <a:tr h="320040">
                <a:tc>
                  <a:txBody>
                    <a:bodyPr/>
                    <a:lstStyle/>
                    <a:p>
                      <a:r>
                        <a:rPr sz="900"/>
                        <a:t>Proposed, fixed window</a:t>
                      </a:r>
                    </a:p>
                  </a:txBody>
                  <a:tcPr/>
                </a:tc>
                <a:tc>
                  <a:txBody>
                    <a:bodyPr/>
                    <a:lstStyle/>
                    <a:p>
                      <a:r>
                        <a:rPr sz="900"/>
                        <a:t>0.754</a:t>
                      </a:r>
                    </a:p>
                  </a:txBody>
                  <a:tcPr/>
                </a:tc>
                <a:tc>
                  <a:txBody>
                    <a:bodyPr/>
                    <a:lstStyle/>
                    <a:p>
                      <a:r>
                        <a:rPr sz="900"/>
                        <a:t>0.632 (-0.081)</a:t>
                      </a:r>
                    </a:p>
                  </a:txBody>
                  <a:tcPr/>
                </a:tc>
                <a:tc>
                  <a:txBody>
                    <a:bodyPr/>
                    <a:lstStyle/>
                    <a:p>
                      <a:r>
                        <a:rPr sz="900"/>
                        <a:t>0.744 (-0.057)</a:t>
                      </a:r>
                    </a:p>
                  </a:txBody>
                  <a:tcPr/>
                </a:tc>
              </a:tr>
              <a:tr h="320040">
                <a:tc>
                  <a:txBody>
                    <a:bodyPr/>
                    <a:lstStyle/>
                    <a:p>
                      <a:r>
                        <a:rPr sz="900"/>
                        <a:t>Proposed, rate-adaptive window</a:t>
                      </a:r>
                    </a:p>
                  </a:txBody>
                  <a:tcPr/>
                </a:tc>
                <a:tc>
                  <a:txBody>
                    <a:bodyPr/>
                    <a:lstStyle/>
                    <a:p>
                      <a:r>
                        <a:rPr sz="900"/>
                        <a:t>0.781</a:t>
                      </a:r>
                    </a:p>
                  </a:txBody>
                  <a:tcPr/>
                </a:tc>
                <a:tc>
                  <a:txBody>
                    <a:bodyPr/>
                    <a:lstStyle/>
                    <a:p>
                      <a:r>
                        <a:rPr sz="900"/>
                        <a:t>0.685 (-0.009)</a:t>
                      </a:r>
                    </a:p>
                  </a:txBody>
                  <a:tcPr/>
                </a:tc>
                <a:tc>
                  <a:txBody>
                    <a:bodyPr/>
                    <a:lstStyle/>
                    <a:p>
                      <a:r>
                        <a:rPr sz="900"/>
                        <a:t>0.805 (-0.022)</a:t>
                      </a:r>
                    </a:p>
                  </a:txBody>
                  <a:tcPr/>
                </a:tc>
              </a:tr>
              <a:tr h="320040">
                <a:tc>
                  <a:txBody>
                    <a:bodyPr/>
                    <a:lstStyle/>
                    <a:p>
                      <a:r>
                        <a:rPr sz="900"/>
                        <a:t>YNoise</a:t>
                      </a:r>
                    </a:p>
                  </a:txBody>
                  <a:tcPr/>
                </a:tc>
                <a:tc>
                  <a:txBody>
                    <a:bodyPr/>
                    <a:lstStyle/>
                    <a:p>
                      <a:r>
                        <a:rPr sz="900"/>
                        <a:t>0.738</a:t>
                      </a:r>
                    </a:p>
                  </a:txBody>
                  <a:tcPr/>
                </a:tc>
                <a:tc>
                  <a:txBody>
                    <a:bodyPr/>
                    <a:lstStyle/>
                    <a:p>
                      <a:r>
                        <a:rPr sz="900"/>
                        <a:t>0.825 (-0.000)</a:t>
                      </a:r>
                    </a:p>
                  </a:txBody>
                  <a:tcPr/>
                </a:tc>
                <a:tc>
                  <a:txBody>
                    <a:bodyPr/>
                    <a:lstStyle/>
                    <a:p>
                      <a:r>
                        <a:rPr sz="900"/>
                        <a:t>0.853 (-0.000)</a:t>
                      </a:r>
                    </a:p>
                  </a:txBody>
                  <a:tcPr/>
                </a:tc>
              </a:tr>
              <a:tr h="320040">
                <a:tc>
                  <a:txBody>
                    <a:bodyPr/>
                    <a:lstStyle/>
                    <a:p>
                      <a:r>
                        <a:rPr sz="900"/>
                        <a:t>Event bilateral (frame-based)</a:t>
                      </a:r>
                    </a:p>
                  </a:txBody>
                  <a:tcPr/>
                </a:tc>
                <a:tc>
                  <a:txBody>
                    <a:bodyPr/>
                    <a:lstStyle/>
                    <a:p>
                      <a:r>
                        <a:rPr sz="900"/>
                        <a:t>0.774</a:t>
                      </a:r>
                    </a:p>
                  </a:txBody>
                  <a:tcPr/>
                </a:tc>
                <a:tc>
                  <a:txBody>
                    <a:bodyPr/>
                    <a:lstStyle/>
                    <a:p>
                      <a:r>
                        <a:rPr sz="900"/>
                        <a:t>0.721 (-0.000)</a:t>
                      </a:r>
                    </a:p>
                  </a:txBody>
                  <a:tcPr/>
                </a:tc>
                <a:tc>
                  <a:txBody>
                    <a:bodyPr/>
                    <a:lstStyle/>
                    <a:p>
                      <a:r>
                        <a:rPr sz="900"/>
                        <a:t>0.851 (-0.000)</a:t>
                      </a:r>
                    </a:p>
                  </a:txBody>
                  <a:tcPr/>
                </a:tc>
              </a:tr>
              <a:tr h="320040">
                <a:tc>
                  <a:txBody>
                    <a:bodyPr/>
                    <a:lstStyle/>
                    <a:p>
                      <a:r>
                        <a:rPr sz="900"/>
                        <a:t>Event bilateral (event-driven)</a:t>
                      </a:r>
                    </a:p>
                  </a:txBody>
                  <a:tcPr/>
                </a:tc>
                <a:tc>
                  <a:txBody>
                    <a:bodyPr/>
                    <a:lstStyle/>
                    <a:p>
                      <a:r>
                        <a:rPr sz="900"/>
                        <a:t>0.728</a:t>
                      </a:r>
                    </a:p>
                  </a:txBody>
                  <a:tcPr/>
                </a:tc>
                <a:tc>
                  <a:txBody>
                    <a:bodyPr/>
                    <a:lstStyle/>
                    <a:p>
                      <a:r>
                        <a:rPr sz="900"/>
                        <a:t>0.689 (-0.011)</a:t>
                      </a:r>
                    </a:p>
                  </a:txBody>
                  <a:tcPr/>
                </a:tc>
                <a:tc>
                  <a:txBody>
                    <a:bodyPr/>
                    <a:lstStyle/>
                    <a:p>
                      <a:r>
                        <a:rPr sz="900"/>
                        <a:t>0.787 (-0.028)</a:t>
                      </a:r>
                    </a:p>
                  </a:txBody>
                  <a:tcPr/>
                </a:tc>
              </a:tr>
              <a:tr h="320040">
                <a:tc>
                  <a:txBody>
                    <a:bodyPr/>
                    <a:lstStyle/>
                    <a:p>
                      <a:r>
                        <a:rPr sz="900"/>
                        <a:t>Double-window filter</a:t>
                      </a:r>
                    </a:p>
                  </a:txBody>
                  <a:tcPr/>
                </a:tc>
                <a:tc>
                  <a:txBody>
                    <a:bodyPr/>
                    <a:lstStyle/>
                    <a:p>
                      <a:r>
                        <a:rPr sz="900"/>
                        <a:t>0.667</a:t>
                      </a:r>
                    </a:p>
                  </a:txBody>
                  <a:tcPr/>
                </a:tc>
                <a:tc>
                  <a:txBody>
                    <a:bodyPr/>
                    <a:lstStyle/>
                    <a:p>
                      <a:r>
                        <a:rPr sz="900"/>
                        <a:t>0.700 (-0.000)</a:t>
                      </a:r>
                    </a:p>
                  </a:txBody>
                  <a:tcPr/>
                </a:tc>
                <a:tc>
                  <a:txBody>
                    <a:bodyPr/>
                    <a:lstStyle/>
                    <a:p>
                      <a:r>
                        <a:rPr sz="900"/>
                        <a:t>0.787 (-0.000)</a:t>
                      </a:r>
                    </a:p>
                  </a:txBody>
                  <a:tcPr/>
                </a:tc>
              </a:tr>
              <a:tr h="320040">
                <a:tc>
                  <a:txBody>
                    <a:bodyPr/>
                    <a:lstStyle/>
                    <a:p>
                      <a:r>
                        <a:rPr sz="900"/>
                        <a:t>kNoise</a:t>
                      </a:r>
                    </a:p>
                  </a:txBody>
                  <a:tcPr/>
                </a:tc>
                <a:tc>
                  <a:txBody>
                    <a:bodyPr/>
                    <a:lstStyle/>
                    <a:p>
                      <a:r>
                        <a:rPr sz="900"/>
                        <a:t>0.619</a:t>
                      </a:r>
                    </a:p>
                  </a:txBody>
                  <a:tcPr/>
                </a:tc>
                <a:tc>
                  <a:txBody>
                    <a:bodyPr/>
                    <a:lstStyle/>
                    <a:p>
                      <a:r>
                        <a:rPr sz="900"/>
                        <a:t>0.589 (-0.000)</a:t>
                      </a:r>
                    </a:p>
                  </a:txBody>
                  <a:tcPr/>
                </a:tc>
                <a:tc>
                  <a:txBody>
                    <a:bodyPr/>
                    <a:lstStyle/>
                    <a:p>
                      <a:r>
                        <a:rPr sz="900"/>
                        <a:t>0.633 (-0.006)</a:t>
                      </a:r>
                    </a:p>
                  </a:txBody>
                  <a:tcPr/>
                </a:tc>
              </a:tr>
              <a:tr h="320040">
                <a:tc>
                  <a:txBody>
                    <a:bodyPr/>
                    <a:lstStyle/>
                    <a:p>
                      <a:r>
                        <a:rPr sz="900"/>
                        <a:t>Background-activity filter</a:t>
                      </a:r>
                    </a:p>
                  </a:txBody>
                  <a:tcPr/>
                </a:tc>
                <a:tc>
                  <a:txBody>
                    <a:bodyPr/>
                    <a:lstStyle/>
                    <a:p>
                      <a:r>
                        <a:rPr sz="900"/>
                        <a:t>0.696</a:t>
                      </a:r>
                    </a:p>
                  </a:txBody>
                  <a:tcPr/>
                </a:tc>
                <a:tc>
                  <a:txBody>
                    <a:bodyPr/>
                    <a:lstStyle/>
                    <a:p>
                      <a:r>
                        <a:rPr sz="900"/>
                        <a:t>0.678 (-0.020)</a:t>
                      </a:r>
                    </a:p>
                  </a:txBody>
                  <a:tcPr/>
                </a:tc>
                <a:tc>
                  <a:txBody>
                    <a:bodyPr/>
                    <a:lstStyle/>
                    <a:p>
                      <a:r>
                        <a:rPr sz="900"/>
                        <a:t>0.694 (-0.012)</a:t>
                      </a:r>
                    </a:p>
                  </a:txBody>
                  <a:tcPr/>
                </a:tc>
              </a:tr>
              <a:tr h="320040">
                <a:tc>
                  <a:txBody>
                    <a:bodyPr/>
                    <a:lstStyle/>
                    <a:p>
                      <a:r>
                        <a:rPr sz="900"/>
                        <a:t>Voxelised Poisson LR</a:t>
                      </a:r>
                    </a:p>
                  </a:txBody>
                  <a:tcPr/>
                </a:tc>
                <a:tc>
                  <a:txBody>
                    <a:bodyPr/>
                    <a:lstStyle/>
                    <a:p>
                      <a:r>
                        <a:rPr sz="900"/>
                        <a:t>0.723</a:t>
                      </a:r>
                    </a:p>
                  </a:txBody>
                  <a:tcPr/>
                </a:tc>
                <a:tc>
                  <a:txBody>
                    <a:bodyPr/>
                    <a:lstStyle/>
                    <a:p>
                      <a:r>
                        <a:rPr sz="900"/>
                        <a:t>0.618 (-0.017)</a:t>
                      </a:r>
                    </a:p>
                  </a:txBody>
                  <a:tcPr/>
                </a:tc>
                <a:tc>
                  <a:txBody>
                    <a:bodyPr/>
                    <a:lstStyle/>
                    <a:p>
                      <a:r>
                        <a:rPr sz="900"/>
                        <a:t>0.794 (-0.003)</a:t>
                      </a:r>
                    </a:p>
                  </a:txBody>
                  <a:tcPr/>
                </a:tc>
              </a:tr>
            </a:tbl>
          </a:graphicData>
        </a:graphic>
      </p:graphicFrame>
      <p:sp>
        <p:nvSpPr>
          <p:cNvPr id="4" name="TextBox 3"/>
          <p:cNvSpPr txBox="1"/>
          <p:nvPr/>
        </p:nvSpPr>
        <p:spPr>
          <a:xfrm>
            <a:off x="365760" y="4160520"/>
            <a:ext cx="11430000" cy="2514599"/>
          </a:xfrm>
          <a:prstGeom prst="rect">
            <a:avLst/>
          </a:prstGeom>
          <a:noFill/>
        </p:spPr>
        <p:txBody>
          <a:bodyPr wrap="square">
            <a:spAutoFit/>
          </a:bodyPr>
          <a:lstStyle/>
          <a:p>
            <a:r>
              <a:rPr sz="1100"/>
              <a:t>Table S5. Zero-knowledge evaluation on EBSSA. No tuning: mean AUC over all 43 recordings at one fixed configuration (publication defaults for the comparators). Transfer: mean AUC on the target sensor with the configuration selected on the source sensor, and in parentheses the AUC lost relative to the best configuration on the target itself (negative values are losses).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none">
            <a:spAutoFit/>
          </a:bodyPr>
          <a:lstStyle/>
          <a:p>
            <a:r>
              <a:rPr sz="2200" b="1"/>
              <a:t>Table S6</a:t>
            </a:r>
          </a:p>
        </p:txBody>
      </p:sp>
      <p:graphicFrame>
        <p:nvGraphicFramePr>
          <p:cNvPr id="3" name="Table 2"/>
          <p:cNvGraphicFramePr>
            <a:graphicFrameLocks noGrp="1"/>
          </p:cNvGraphicFramePr>
          <p:nvPr/>
        </p:nvGraphicFramePr>
        <p:xfrm>
          <a:off x="365760" y="822960"/>
          <a:ext cx="11430000" cy="4754880"/>
        </p:xfrm>
        <a:graphic>
          <a:graphicData uri="http://schemas.openxmlformats.org/drawingml/2006/table">
            <a:tbl>
              <a:tblPr firstRow="1" bandRow="1">
                <a:tableStyleId>{5C22544A-7EE6-4342-B048-85BDC9FD1C3A}</a:tableStyleId>
              </a:tblPr>
              <a:tblGrid>
                <a:gridCol w="1143000"/>
                <a:gridCol w="1143000"/>
                <a:gridCol w="1143000"/>
                <a:gridCol w="1143000"/>
                <a:gridCol w="1143000"/>
                <a:gridCol w="1143000"/>
                <a:gridCol w="1143000"/>
                <a:gridCol w="1143000"/>
                <a:gridCol w="1143000"/>
                <a:gridCol w="1143000"/>
              </a:tblGrid>
              <a:tr h="250256">
                <a:tc>
                  <a:txBody>
                    <a:bodyPr/>
                    <a:lstStyle/>
                    <a:p>
                      <a:r>
                        <a:rPr sz="700" b="1"/>
                        <a:t>A</a:t>
                      </a:r>
                    </a:p>
                  </a:txBody>
                  <a:tcPr/>
                </a:tc>
                <a:tc>
                  <a:txBody>
                    <a:bodyPr/>
                    <a:lstStyle/>
                    <a:p>
                      <a:r>
                        <a:rPr sz="700" b="1"/>
                        <a:t>B</a:t>
                      </a:r>
                    </a:p>
                  </a:txBody>
                  <a:tcPr/>
                </a:tc>
                <a:tc>
                  <a:txBody>
                    <a:bodyPr/>
                    <a:lstStyle/>
                    <a:p>
                      <a:r>
                        <a:rPr sz="700" b="1"/>
                        <a:t>Mix. Δ</a:t>
                      </a:r>
                    </a:p>
                  </a:txBody>
                  <a:tcPr/>
                </a:tc>
                <a:tc>
                  <a:txBody>
                    <a:bodyPr/>
                    <a:lstStyle/>
                    <a:p>
                      <a:r>
                        <a:rPr sz="700" b="1"/>
                        <a:t>Mix. 95% CI</a:t>
                      </a:r>
                    </a:p>
                  </a:txBody>
                  <a:tcPr/>
                </a:tc>
                <a:tc>
                  <a:txBody>
                    <a:bodyPr/>
                    <a:lstStyle/>
                    <a:p>
                      <a:r>
                        <a:rPr sz="700" b="1"/>
                        <a:t>Mix. p</a:t>
                      </a:r>
                    </a:p>
                  </a:txBody>
                  <a:tcPr/>
                </a:tc>
                <a:tc>
                  <a:txBody>
                    <a:bodyPr/>
                    <a:lstStyle/>
                    <a:p>
                      <a:r>
                        <a:rPr sz="700" b="1"/>
                        <a:t>r</a:t>
                      </a:r>
                    </a:p>
                  </a:txBody>
                  <a:tcPr/>
                </a:tc>
                <a:tc>
                  <a:txBody>
                    <a:bodyPr/>
                    <a:lstStyle/>
                    <a:p>
                      <a:r>
                        <a:rPr sz="700" b="1"/>
                        <a:t>Seg. Δ</a:t>
                      </a:r>
                    </a:p>
                  </a:txBody>
                  <a:tcPr/>
                </a:tc>
                <a:tc>
                  <a:txBody>
                    <a:bodyPr/>
                    <a:lstStyle/>
                    <a:p>
                      <a:r>
                        <a:rPr sz="700" b="1"/>
                        <a:t>Seg. p</a:t>
                      </a:r>
                    </a:p>
                  </a:txBody>
                  <a:tcPr/>
                </a:tc>
                <a:tc>
                  <a:txBody>
                    <a:bodyPr/>
                    <a:lstStyle/>
                    <a:p>
                      <a:r>
                        <a:rPr sz="700" b="1"/>
                        <a:t>Seg. A ahead</a:t>
                      </a:r>
                    </a:p>
                  </a:txBody>
                  <a:tcPr/>
                </a:tc>
                <a:tc>
                  <a:txBody>
                    <a:bodyPr/>
                    <a:lstStyle/>
                    <a:p>
                      <a:r>
                        <a:rPr sz="700" b="1"/>
                        <a:t>Sources A ahead</a:t>
                      </a:r>
                    </a:p>
                  </a:txBody>
                  <a:tcPr/>
                </a:tc>
              </a:tr>
              <a:tr h="250256">
                <a:tc>
                  <a:txBody>
                    <a:bodyPr/>
                    <a:lstStyle/>
                    <a:p>
                      <a:r>
                        <a:rPr sz="700"/>
                        <a:t>edlr</a:t>
                      </a:r>
                    </a:p>
                  </a:txBody>
                  <a:tcPr/>
                </a:tc>
                <a:tc>
                  <a:txBody>
                    <a:bodyPr/>
                    <a:lstStyle/>
                    <a:p>
                      <a:r>
                        <a:rPr sz="700"/>
                        <a:t>edlr adaptive</a:t>
                      </a:r>
                    </a:p>
                  </a:txBody>
                  <a:tcPr/>
                </a:tc>
                <a:tc>
                  <a:txBody>
                    <a:bodyPr/>
                    <a:lstStyle/>
                    <a:p>
                      <a:r>
                        <a:rPr sz="700"/>
                        <a:t>-0.127</a:t>
                      </a:r>
                    </a:p>
                  </a:txBody>
                  <a:tcPr/>
                </a:tc>
                <a:tc>
                  <a:txBody>
                    <a:bodyPr/>
                    <a:lstStyle/>
                    <a:p>
                      <a:r>
                        <a:rPr sz="700"/>
                        <a:t>[-0.178, -0.062]</a:t>
                      </a:r>
                    </a:p>
                  </a:txBody>
                  <a:tcPr/>
                </a:tc>
                <a:tc>
                  <a:txBody>
                    <a:bodyPr/>
                    <a:lstStyle/>
                    <a:p>
                      <a:r>
                        <a:rPr sz="700"/>
                        <a:t>&lt; 0.001</a:t>
                      </a:r>
                    </a:p>
                  </a:txBody>
                  <a:tcPr/>
                </a:tc>
                <a:tc>
                  <a:txBody>
                    <a:bodyPr/>
                    <a:lstStyle/>
                    <a:p>
                      <a:r>
                        <a:rPr sz="700"/>
                        <a:t>-0.80</a:t>
                      </a:r>
                    </a:p>
                  </a:txBody>
                  <a:tcPr/>
                </a:tc>
                <a:tc>
                  <a:txBody>
                    <a:bodyPr/>
                    <a:lstStyle/>
                    <a:p>
                      <a:r>
                        <a:rPr sz="700"/>
                        <a:t>-0.127</a:t>
                      </a:r>
                    </a:p>
                  </a:txBody>
                  <a:tcPr/>
                </a:tc>
                <a:tc>
                  <a:txBody>
                    <a:bodyPr/>
                    <a:lstStyle/>
                    <a:p>
                      <a:r>
                        <a:rPr sz="700"/>
                        <a:t>= 0.003</a:t>
                      </a:r>
                    </a:p>
                  </a:txBody>
                  <a:tcPr/>
                </a:tc>
                <a:tc>
                  <a:txBody>
                    <a:bodyPr/>
                    <a:lstStyle/>
                    <a:p>
                      <a:r>
                        <a:rPr sz="700"/>
                        <a:t>1/16</a:t>
                      </a:r>
                    </a:p>
                  </a:txBody>
                  <a:tcPr/>
                </a:tc>
                <a:tc>
                  <a:txBody>
                    <a:bodyPr/>
                    <a:lstStyle/>
                    <a:p>
                      <a:r>
                        <a:rPr sz="700"/>
                        <a:t>1/4</a:t>
                      </a:r>
                    </a:p>
                  </a:txBody>
                  <a:tcPr/>
                </a:tc>
              </a:tr>
              <a:tr h="250256">
                <a:tc>
                  <a:txBody>
                    <a:bodyPr/>
                    <a:lstStyle/>
                    <a:p>
                      <a:r>
                        <a:rPr sz="700"/>
                        <a:t>edlr</a:t>
                      </a:r>
                    </a:p>
                  </a:txBody>
                  <a:tcPr/>
                </a:tc>
                <a:tc>
                  <a:txBody>
                    <a:bodyPr/>
                    <a:lstStyle/>
                    <a:p>
                      <a:r>
                        <a:rPr sz="700"/>
                        <a:t>ynoise</a:t>
                      </a:r>
                    </a:p>
                  </a:txBody>
                  <a:tcPr/>
                </a:tc>
                <a:tc>
                  <a:txBody>
                    <a:bodyPr/>
                    <a:lstStyle/>
                    <a:p>
                      <a:r>
                        <a:rPr sz="700"/>
                        <a:t>-0.291</a:t>
                      </a:r>
                    </a:p>
                  </a:txBody>
                  <a:tcPr/>
                </a:tc>
                <a:tc>
                  <a:txBody>
                    <a:bodyPr/>
                    <a:lstStyle/>
                    <a:p>
                      <a:r>
                        <a:rPr sz="700"/>
                        <a:t>[-0.316, -0.267]</a:t>
                      </a:r>
                    </a:p>
                  </a:txBody>
                  <a:tcPr/>
                </a:tc>
                <a:tc>
                  <a:txBody>
                    <a:bodyPr/>
                    <a:lstStyle/>
                    <a:p>
                      <a:r>
                        <a:rPr sz="700"/>
                        <a:t>&lt; 0.001</a:t>
                      </a:r>
                    </a:p>
                  </a:txBody>
                  <a:tcPr/>
                </a:tc>
                <a:tc>
                  <a:txBody>
                    <a:bodyPr/>
                    <a:lstStyle/>
                    <a:p>
                      <a:r>
                        <a:rPr sz="700"/>
                        <a:t>-1.00</a:t>
                      </a:r>
                    </a:p>
                  </a:txBody>
                  <a:tcPr/>
                </a:tc>
                <a:tc>
                  <a:txBody>
                    <a:bodyPr/>
                    <a:lstStyle/>
                    <a:p>
                      <a:r>
                        <a:rPr sz="700"/>
                        <a:t>-0.291</a:t>
                      </a:r>
                    </a:p>
                  </a:txBody>
                  <a:tcPr/>
                </a:tc>
                <a:tc>
                  <a:txBody>
                    <a:bodyPr/>
                    <a:lstStyle/>
                    <a:p>
                      <a:r>
                        <a:rPr sz="700"/>
                        <a:t>&lt; 0.001</a:t>
                      </a:r>
                    </a:p>
                  </a:txBody>
                  <a:tcPr/>
                </a:tc>
                <a:tc>
                  <a:txBody>
                    <a:bodyPr/>
                    <a:lstStyle/>
                    <a:p>
                      <a:r>
                        <a:rPr sz="700"/>
                        <a:t>0/16</a:t>
                      </a:r>
                    </a:p>
                  </a:txBody>
                  <a:tcPr/>
                </a:tc>
                <a:tc>
                  <a:txBody>
                    <a:bodyPr/>
                    <a:lstStyle/>
                    <a:p>
                      <a:r>
                        <a:rPr sz="700"/>
                        <a:t>0/4</a:t>
                      </a:r>
                    </a:p>
                  </a:txBody>
                  <a:tcPr/>
                </a:tc>
              </a:tr>
              <a:tr h="250256">
                <a:tc>
                  <a:txBody>
                    <a:bodyPr/>
                    <a:lstStyle/>
                    <a:p>
                      <a:r>
                        <a:rPr sz="700"/>
                        <a:t>edlr</a:t>
                      </a:r>
                    </a:p>
                  </a:txBody>
                  <a:tcPr/>
                </a:tc>
                <a:tc>
                  <a:txBody>
                    <a:bodyPr/>
                    <a:lstStyle/>
                    <a:p>
                      <a:r>
                        <a:rPr sz="700"/>
                        <a:t>bilateral</a:t>
                      </a:r>
                    </a:p>
                  </a:txBody>
                  <a:tcPr/>
                </a:tc>
                <a:tc>
                  <a:txBody>
                    <a:bodyPr/>
                    <a:lstStyle/>
                    <a:p>
                      <a:r>
                        <a:rPr sz="700"/>
                        <a:t>-0.270</a:t>
                      </a:r>
                    </a:p>
                  </a:txBody>
                  <a:tcPr/>
                </a:tc>
                <a:tc>
                  <a:txBody>
                    <a:bodyPr/>
                    <a:lstStyle/>
                    <a:p>
                      <a:r>
                        <a:rPr sz="700"/>
                        <a:t>[-0.303, -0.241]</a:t>
                      </a:r>
                    </a:p>
                  </a:txBody>
                  <a:tcPr/>
                </a:tc>
                <a:tc>
                  <a:txBody>
                    <a:bodyPr/>
                    <a:lstStyle/>
                    <a:p>
                      <a:r>
                        <a:rPr sz="700"/>
                        <a:t>&lt; 0.001</a:t>
                      </a:r>
                    </a:p>
                  </a:txBody>
                  <a:tcPr/>
                </a:tc>
                <a:tc>
                  <a:txBody>
                    <a:bodyPr/>
                    <a:lstStyle/>
                    <a:p>
                      <a:r>
                        <a:rPr sz="700"/>
                        <a:t>-1.00</a:t>
                      </a:r>
                    </a:p>
                  </a:txBody>
                  <a:tcPr/>
                </a:tc>
                <a:tc>
                  <a:txBody>
                    <a:bodyPr/>
                    <a:lstStyle/>
                    <a:p>
                      <a:r>
                        <a:rPr sz="700"/>
                        <a:t>-0.270</a:t>
                      </a:r>
                    </a:p>
                  </a:txBody>
                  <a:tcPr/>
                </a:tc>
                <a:tc>
                  <a:txBody>
                    <a:bodyPr/>
                    <a:lstStyle/>
                    <a:p>
                      <a:r>
                        <a:rPr sz="700"/>
                        <a:t>&lt; 0.001</a:t>
                      </a:r>
                    </a:p>
                  </a:txBody>
                  <a:tcPr/>
                </a:tc>
                <a:tc>
                  <a:txBody>
                    <a:bodyPr/>
                    <a:lstStyle/>
                    <a:p>
                      <a:r>
                        <a:rPr sz="700"/>
                        <a:t>0/16</a:t>
                      </a:r>
                    </a:p>
                  </a:txBody>
                  <a:tcPr/>
                </a:tc>
                <a:tc>
                  <a:txBody>
                    <a:bodyPr/>
                    <a:lstStyle/>
                    <a:p>
                      <a:r>
                        <a:rPr sz="700"/>
                        <a:t>0/4</a:t>
                      </a:r>
                    </a:p>
                  </a:txBody>
                  <a:tcPr/>
                </a:tc>
              </a:tr>
              <a:tr h="250256">
                <a:tc>
                  <a:txBody>
                    <a:bodyPr/>
                    <a:lstStyle/>
                    <a:p>
                      <a:r>
                        <a:rPr sz="700"/>
                        <a:t>edlr</a:t>
                      </a:r>
                    </a:p>
                  </a:txBody>
                  <a:tcPr/>
                </a:tc>
                <a:tc>
                  <a:txBody>
                    <a:bodyPr/>
                    <a:lstStyle/>
                    <a:p>
                      <a:r>
                        <a:rPr sz="700"/>
                        <a:t>pfd</a:t>
                      </a:r>
                    </a:p>
                  </a:txBody>
                  <a:tcPr/>
                </a:tc>
                <a:tc>
                  <a:txBody>
                    <a:bodyPr/>
                    <a:lstStyle/>
                    <a:p>
                      <a:r>
                        <a:rPr sz="700"/>
                        <a:t>-0.269</a:t>
                      </a:r>
                    </a:p>
                  </a:txBody>
                  <a:tcPr/>
                </a:tc>
                <a:tc>
                  <a:txBody>
                    <a:bodyPr/>
                    <a:lstStyle/>
                    <a:p>
                      <a:r>
                        <a:rPr sz="700"/>
                        <a:t>[-0.306, -0.230]</a:t>
                      </a:r>
                    </a:p>
                  </a:txBody>
                  <a:tcPr/>
                </a:tc>
                <a:tc>
                  <a:txBody>
                    <a:bodyPr/>
                    <a:lstStyle/>
                    <a:p>
                      <a:r>
                        <a:rPr sz="700"/>
                        <a:t>&lt; 0.001</a:t>
                      </a:r>
                    </a:p>
                  </a:txBody>
                  <a:tcPr/>
                </a:tc>
                <a:tc>
                  <a:txBody>
                    <a:bodyPr/>
                    <a:lstStyle/>
                    <a:p>
                      <a:r>
                        <a:rPr sz="700"/>
                        <a:t>-1.00</a:t>
                      </a:r>
                    </a:p>
                  </a:txBody>
                  <a:tcPr/>
                </a:tc>
                <a:tc>
                  <a:txBody>
                    <a:bodyPr/>
                    <a:lstStyle/>
                    <a:p>
                      <a:r>
                        <a:rPr sz="700"/>
                        <a:t>-0.269</a:t>
                      </a:r>
                    </a:p>
                  </a:txBody>
                  <a:tcPr/>
                </a:tc>
                <a:tc>
                  <a:txBody>
                    <a:bodyPr/>
                    <a:lstStyle/>
                    <a:p>
                      <a:r>
                        <a:rPr sz="700"/>
                        <a:t>&lt; 0.001</a:t>
                      </a:r>
                    </a:p>
                  </a:txBody>
                  <a:tcPr/>
                </a:tc>
                <a:tc>
                  <a:txBody>
                    <a:bodyPr/>
                    <a:lstStyle/>
                    <a:p>
                      <a:r>
                        <a:rPr sz="700"/>
                        <a:t>0/16</a:t>
                      </a:r>
                    </a:p>
                  </a:txBody>
                  <a:tcPr/>
                </a:tc>
                <a:tc>
                  <a:txBody>
                    <a:bodyPr/>
                    <a:lstStyle/>
                    <a:p>
                      <a:r>
                        <a:rPr sz="700"/>
                        <a:t>0/4</a:t>
                      </a:r>
                    </a:p>
                  </a:txBody>
                  <a:tcPr/>
                </a:tc>
              </a:tr>
              <a:tr h="250256">
                <a:tc>
                  <a:txBody>
                    <a:bodyPr/>
                    <a:lstStyle/>
                    <a:p>
                      <a:r>
                        <a:rPr sz="700"/>
                        <a:t>edlr</a:t>
                      </a:r>
                    </a:p>
                  </a:txBody>
                  <a:tcPr/>
                </a:tc>
                <a:tc>
                  <a:txBody>
                    <a:bodyPr/>
                    <a:lstStyle/>
                    <a:p>
                      <a:r>
                        <a:rPr sz="700"/>
                        <a:t>dwf</a:t>
                      </a:r>
                    </a:p>
                  </a:txBody>
                  <a:tcPr/>
                </a:tc>
                <a:tc>
                  <a:txBody>
                    <a:bodyPr/>
                    <a:lstStyle/>
                    <a:p>
                      <a:r>
                        <a:rPr sz="700"/>
                        <a:t>-0.250</a:t>
                      </a:r>
                    </a:p>
                  </a:txBody>
                  <a:tcPr/>
                </a:tc>
                <a:tc>
                  <a:txBody>
                    <a:bodyPr/>
                    <a:lstStyle/>
                    <a:p>
                      <a:r>
                        <a:rPr sz="700"/>
                        <a:t>[-0.277, -0.229]</a:t>
                      </a:r>
                    </a:p>
                  </a:txBody>
                  <a:tcPr/>
                </a:tc>
                <a:tc>
                  <a:txBody>
                    <a:bodyPr/>
                    <a:lstStyle/>
                    <a:p>
                      <a:r>
                        <a:rPr sz="700"/>
                        <a:t>&lt; 0.001</a:t>
                      </a:r>
                    </a:p>
                  </a:txBody>
                  <a:tcPr/>
                </a:tc>
                <a:tc>
                  <a:txBody>
                    <a:bodyPr/>
                    <a:lstStyle/>
                    <a:p>
                      <a:r>
                        <a:rPr sz="700"/>
                        <a:t>-1.00</a:t>
                      </a:r>
                    </a:p>
                  </a:txBody>
                  <a:tcPr/>
                </a:tc>
                <a:tc>
                  <a:txBody>
                    <a:bodyPr/>
                    <a:lstStyle/>
                    <a:p>
                      <a:r>
                        <a:rPr sz="700"/>
                        <a:t>-0.250</a:t>
                      </a:r>
                    </a:p>
                  </a:txBody>
                  <a:tcPr/>
                </a:tc>
                <a:tc>
                  <a:txBody>
                    <a:bodyPr/>
                    <a:lstStyle/>
                    <a:p>
                      <a:r>
                        <a:rPr sz="700"/>
                        <a:t>&lt; 0.001</a:t>
                      </a:r>
                    </a:p>
                  </a:txBody>
                  <a:tcPr/>
                </a:tc>
                <a:tc>
                  <a:txBody>
                    <a:bodyPr/>
                    <a:lstStyle/>
                    <a:p>
                      <a:r>
                        <a:rPr sz="700"/>
                        <a:t>0/16</a:t>
                      </a:r>
                    </a:p>
                  </a:txBody>
                  <a:tcPr/>
                </a:tc>
                <a:tc>
                  <a:txBody>
                    <a:bodyPr/>
                    <a:lstStyle/>
                    <a:p>
                      <a:r>
                        <a:rPr sz="700"/>
                        <a:t>0/4</a:t>
                      </a:r>
                    </a:p>
                  </a:txBody>
                  <a:tcPr/>
                </a:tc>
              </a:tr>
              <a:tr h="250256">
                <a:tc>
                  <a:txBody>
                    <a:bodyPr/>
                    <a:lstStyle/>
                    <a:p>
                      <a:r>
                        <a:rPr sz="700"/>
                        <a:t>edlr</a:t>
                      </a:r>
                    </a:p>
                  </a:txBody>
                  <a:tcPr/>
                </a:tc>
                <a:tc>
                  <a:txBody>
                    <a:bodyPr/>
                    <a:lstStyle/>
                    <a:p>
                      <a:r>
                        <a:rPr sz="700"/>
                        <a:t>knoise</a:t>
                      </a:r>
                    </a:p>
                  </a:txBody>
                  <a:tcPr/>
                </a:tc>
                <a:tc>
                  <a:txBody>
                    <a:bodyPr/>
                    <a:lstStyle/>
                    <a:p>
                      <a:r>
                        <a:rPr sz="700"/>
                        <a:t>-0.094</a:t>
                      </a:r>
                    </a:p>
                  </a:txBody>
                  <a:tcPr/>
                </a:tc>
                <a:tc>
                  <a:txBody>
                    <a:bodyPr/>
                    <a:lstStyle/>
                    <a:p>
                      <a:r>
                        <a:rPr sz="700"/>
                        <a:t>[-0.149, -0.042]</a:t>
                      </a:r>
                    </a:p>
                  </a:txBody>
                  <a:tcPr/>
                </a:tc>
                <a:tc>
                  <a:txBody>
                    <a:bodyPr/>
                    <a:lstStyle/>
                    <a:p>
                      <a:r>
                        <a:rPr sz="700"/>
                        <a:t>&lt; 0.001</a:t>
                      </a:r>
                    </a:p>
                  </a:txBody>
                  <a:tcPr/>
                </a:tc>
                <a:tc>
                  <a:txBody>
                    <a:bodyPr/>
                    <a:lstStyle/>
                    <a:p>
                      <a:r>
                        <a:rPr sz="700"/>
                        <a:t>-0.70</a:t>
                      </a:r>
                    </a:p>
                  </a:txBody>
                  <a:tcPr/>
                </a:tc>
                <a:tc>
                  <a:txBody>
                    <a:bodyPr/>
                    <a:lstStyle/>
                    <a:p>
                      <a:r>
                        <a:rPr sz="700"/>
                        <a:t>-0.094</a:t>
                      </a:r>
                    </a:p>
                  </a:txBody>
                  <a:tcPr/>
                </a:tc>
                <a:tc>
                  <a:txBody>
                    <a:bodyPr/>
                    <a:lstStyle/>
                    <a:p>
                      <a:r>
                        <a:rPr sz="700"/>
                        <a:t>= 0.003</a:t>
                      </a:r>
                    </a:p>
                  </a:txBody>
                  <a:tcPr/>
                </a:tc>
                <a:tc>
                  <a:txBody>
                    <a:bodyPr/>
                    <a:lstStyle/>
                    <a:p>
                      <a:r>
                        <a:rPr sz="700"/>
                        <a:t>3/16</a:t>
                      </a:r>
                    </a:p>
                  </a:txBody>
                  <a:tcPr/>
                </a:tc>
                <a:tc>
                  <a:txBody>
                    <a:bodyPr/>
                    <a:lstStyle/>
                    <a:p>
                      <a:r>
                        <a:rPr sz="700"/>
                        <a:t>1/4</a:t>
                      </a:r>
                    </a:p>
                  </a:txBody>
                  <a:tcPr/>
                </a:tc>
              </a:tr>
              <a:tr h="250256">
                <a:tc>
                  <a:txBody>
                    <a:bodyPr/>
                    <a:lstStyle/>
                    <a:p>
                      <a:r>
                        <a:rPr sz="700"/>
                        <a:t>edlr</a:t>
                      </a:r>
                    </a:p>
                  </a:txBody>
                  <a:tcPr/>
                </a:tc>
                <a:tc>
                  <a:txBody>
                    <a:bodyPr/>
                    <a:lstStyle/>
                    <a:p>
                      <a:r>
                        <a:rPr sz="700"/>
                        <a:t>temporal</a:t>
                      </a:r>
                    </a:p>
                  </a:txBody>
                  <a:tcPr/>
                </a:tc>
                <a:tc>
                  <a:txBody>
                    <a:bodyPr/>
                    <a:lstStyle/>
                    <a:p>
                      <a:r>
                        <a:rPr sz="700"/>
                        <a:t>-0.222</a:t>
                      </a:r>
                    </a:p>
                  </a:txBody>
                  <a:tcPr/>
                </a:tc>
                <a:tc>
                  <a:txBody>
                    <a:bodyPr/>
                    <a:lstStyle/>
                    <a:p>
                      <a:r>
                        <a:rPr sz="700"/>
                        <a:t>[-0.251, -0.193]</a:t>
                      </a:r>
                    </a:p>
                  </a:txBody>
                  <a:tcPr/>
                </a:tc>
                <a:tc>
                  <a:txBody>
                    <a:bodyPr/>
                    <a:lstStyle/>
                    <a:p>
                      <a:r>
                        <a:rPr sz="700"/>
                        <a:t>&lt; 0.001</a:t>
                      </a:r>
                    </a:p>
                  </a:txBody>
                  <a:tcPr/>
                </a:tc>
                <a:tc>
                  <a:txBody>
                    <a:bodyPr/>
                    <a:lstStyle/>
                    <a:p>
                      <a:r>
                        <a:rPr sz="700"/>
                        <a:t>-1.00</a:t>
                      </a:r>
                    </a:p>
                  </a:txBody>
                  <a:tcPr/>
                </a:tc>
                <a:tc>
                  <a:txBody>
                    <a:bodyPr/>
                    <a:lstStyle/>
                    <a:p>
                      <a:r>
                        <a:rPr sz="700"/>
                        <a:t>-0.222</a:t>
                      </a:r>
                    </a:p>
                  </a:txBody>
                  <a:tcPr/>
                </a:tc>
                <a:tc>
                  <a:txBody>
                    <a:bodyPr/>
                    <a:lstStyle/>
                    <a:p>
                      <a:r>
                        <a:rPr sz="700"/>
                        <a:t>&lt; 0.001</a:t>
                      </a:r>
                    </a:p>
                  </a:txBody>
                  <a:tcPr/>
                </a:tc>
                <a:tc>
                  <a:txBody>
                    <a:bodyPr/>
                    <a:lstStyle/>
                    <a:p>
                      <a:r>
                        <a:rPr sz="700"/>
                        <a:t>0/16</a:t>
                      </a:r>
                    </a:p>
                  </a:txBody>
                  <a:tcPr/>
                </a:tc>
                <a:tc>
                  <a:txBody>
                    <a:bodyPr/>
                    <a:lstStyle/>
                    <a:p>
                      <a:r>
                        <a:rPr sz="700"/>
                        <a:t>0/4</a:t>
                      </a:r>
                    </a:p>
                  </a:txBody>
                  <a:tcPr/>
                </a:tc>
              </a:tr>
              <a:tr h="250256">
                <a:tc>
                  <a:txBody>
                    <a:bodyPr/>
                    <a:lstStyle/>
                    <a:p>
                      <a:r>
                        <a:rPr sz="700"/>
                        <a:t>edlr</a:t>
                      </a:r>
                    </a:p>
                  </a:txBody>
                  <a:tcPr/>
                </a:tc>
                <a:tc>
                  <a:txBody>
                    <a:bodyPr/>
                    <a:lstStyle/>
                    <a:p>
                      <a:r>
                        <a:rPr sz="700"/>
                        <a:t>plr</a:t>
                      </a:r>
                    </a:p>
                  </a:txBody>
                  <a:tcPr/>
                </a:tc>
                <a:tc>
                  <a:txBody>
                    <a:bodyPr/>
                    <a:lstStyle/>
                    <a:p>
                      <a:r>
                        <a:rPr sz="700"/>
                        <a:t>-0.239</a:t>
                      </a:r>
                    </a:p>
                  </a:txBody>
                  <a:tcPr/>
                </a:tc>
                <a:tc>
                  <a:txBody>
                    <a:bodyPr/>
                    <a:lstStyle/>
                    <a:p>
                      <a:r>
                        <a:rPr sz="700"/>
                        <a:t>[-0.266, -0.215]</a:t>
                      </a:r>
                    </a:p>
                  </a:txBody>
                  <a:tcPr/>
                </a:tc>
                <a:tc>
                  <a:txBody>
                    <a:bodyPr/>
                    <a:lstStyle/>
                    <a:p>
                      <a:r>
                        <a:rPr sz="700"/>
                        <a:t>&lt; 0.001</a:t>
                      </a:r>
                    </a:p>
                  </a:txBody>
                  <a:tcPr/>
                </a:tc>
                <a:tc>
                  <a:txBody>
                    <a:bodyPr/>
                    <a:lstStyle/>
                    <a:p>
                      <a:r>
                        <a:rPr sz="700"/>
                        <a:t>-0.99</a:t>
                      </a:r>
                    </a:p>
                  </a:txBody>
                  <a:tcPr/>
                </a:tc>
                <a:tc>
                  <a:txBody>
                    <a:bodyPr/>
                    <a:lstStyle/>
                    <a:p>
                      <a:r>
                        <a:rPr sz="700"/>
                        <a:t>-0.239</a:t>
                      </a:r>
                    </a:p>
                  </a:txBody>
                  <a:tcPr/>
                </a:tc>
                <a:tc>
                  <a:txBody>
                    <a:bodyPr/>
                    <a:lstStyle/>
                    <a:p>
                      <a:r>
                        <a:rPr sz="700"/>
                        <a:t>&lt; 0.001</a:t>
                      </a:r>
                    </a:p>
                  </a:txBody>
                  <a:tcPr/>
                </a:tc>
                <a:tc>
                  <a:txBody>
                    <a:bodyPr/>
                    <a:lstStyle/>
                    <a:p>
                      <a:r>
                        <a:rPr sz="700"/>
                        <a:t>0/16</a:t>
                      </a:r>
                    </a:p>
                  </a:txBody>
                  <a:tcPr/>
                </a:tc>
                <a:tc>
                  <a:txBody>
                    <a:bodyPr/>
                    <a:lstStyle/>
                    <a:p>
                      <a:r>
                        <a:rPr sz="700"/>
                        <a:t>0/4</a:t>
                      </a:r>
                    </a:p>
                  </a:txBody>
                  <a:tcPr/>
                </a:tc>
              </a:tr>
              <a:tr h="250256">
                <a:tc>
                  <a:txBody>
                    <a:bodyPr/>
                    <a:lstStyle/>
                    <a:p>
                      <a:r>
                        <a:rPr sz="700"/>
                        <a:t>edlr</a:t>
                      </a:r>
                    </a:p>
                  </a:txBody>
                  <a:tcPr/>
                </a:tc>
                <a:tc>
                  <a:txBody>
                    <a:bodyPr/>
                    <a:lstStyle/>
                    <a:p>
                      <a:r>
                        <a:rPr sz="700"/>
                        <a:t>mlpf</a:t>
                      </a:r>
                    </a:p>
                  </a:txBody>
                  <a:tcPr/>
                </a:tc>
                <a:tc>
                  <a:txBody>
                    <a:bodyPr/>
                    <a:lstStyle/>
                    <a:p>
                      <a:r>
                        <a:rPr sz="700"/>
                        <a:t>-0.284</a:t>
                      </a:r>
                    </a:p>
                  </a:txBody>
                  <a:tcPr/>
                </a:tc>
                <a:tc>
                  <a:txBody>
                    <a:bodyPr/>
                    <a:lstStyle/>
                    <a:p>
                      <a:r>
                        <a:rPr sz="700"/>
                        <a:t>[-0.317, -0.250]</a:t>
                      </a:r>
                    </a:p>
                  </a:txBody>
                  <a:tcPr/>
                </a:tc>
                <a:tc>
                  <a:txBody>
                    <a:bodyPr/>
                    <a:lstStyle/>
                    <a:p>
                      <a:r>
                        <a:rPr sz="700"/>
                        <a:t>&lt; 0.001</a:t>
                      </a:r>
                    </a:p>
                  </a:txBody>
                  <a:tcPr/>
                </a:tc>
                <a:tc>
                  <a:txBody>
                    <a:bodyPr/>
                    <a:lstStyle/>
                    <a:p>
                      <a:r>
                        <a:rPr sz="700"/>
                        <a:t>-1.00</a:t>
                      </a:r>
                    </a:p>
                  </a:txBody>
                  <a:tcPr/>
                </a:tc>
                <a:tc>
                  <a:txBody>
                    <a:bodyPr/>
                    <a:lstStyle/>
                    <a:p>
                      <a:r>
                        <a:rPr sz="700"/>
                        <a:t>-0.284</a:t>
                      </a:r>
                    </a:p>
                  </a:txBody>
                  <a:tcPr/>
                </a:tc>
                <a:tc>
                  <a:txBody>
                    <a:bodyPr/>
                    <a:lstStyle/>
                    <a:p>
                      <a:r>
                        <a:rPr sz="700"/>
                        <a:t>&lt; 0.001</a:t>
                      </a:r>
                    </a:p>
                  </a:txBody>
                  <a:tcPr/>
                </a:tc>
                <a:tc>
                  <a:txBody>
                    <a:bodyPr/>
                    <a:lstStyle/>
                    <a:p>
                      <a:r>
                        <a:rPr sz="700"/>
                        <a:t>0/16</a:t>
                      </a:r>
                    </a:p>
                  </a:txBody>
                  <a:tcPr/>
                </a:tc>
                <a:tc>
                  <a:txBody>
                    <a:bodyPr/>
                    <a:lstStyle/>
                    <a:p>
                      <a:r>
                        <a:rPr sz="700"/>
                        <a:t>0/4</a:t>
                      </a:r>
                    </a:p>
                  </a:txBody>
                  <a:tcPr/>
                </a:tc>
              </a:tr>
              <a:tr h="250256">
                <a:tc>
                  <a:txBody>
                    <a:bodyPr/>
                    <a:lstStyle/>
                    <a:p>
                      <a:r>
                        <a:rPr sz="700"/>
                        <a:t>edlr</a:t>
                      </a:r>
                    </a:p>
                  </a:txBody>
                  <a:tcPr/>
                </a:tc>
                <a:tc>
                  <a:txBody>
                    <a:bodyPr/>
                    <a:lstStyle/>
                    <a:p>
                      <a:r>
                        <a:rPr sz="700"/>
                        <a:t>edncnn</a:t>
                      </a:r>
                    </a:p>
                  </a:txBody>
                  <a:tcPr/>
                </a:tc>
                <a:tc>
                  <a:txBody>
                    <a:bodyPr/>
                    <a:lstStyle/>
                    <a:p>
                      <a:r>
                        <a:rPr sz="700"/>
                        <a:t>-0.300</a:t>
                      </a:r>
                    </a:p>
                  </a:txBody>
                  <a:tcPr/>
                </a:tc>
                <a:tc>
                  <a:txBody>
                    <a:bodyPr/>
                    <a:lstStyle/>
                    <a:p>
                      <a:r>
                        <a:rPr sz="700"/>
                        <a:t>[-0.334, -0.266]</a:t>
                      </a:r>
                    </a:p>
                  </a:txBody>
                  <a:tcPr/>
                </a:tc>
                <a:tc>
                  <a:txBody>
                    <a:bodyPr/>
                    <a:lstStyle/>
                    <a:p>
                      <a:r>
                        <a:rPr sz="700"/>
                        <a:t>&lt; 0.001</a:t>
                      </a:r>
                    </a:p>
                  </a:txBody>
                  <a:tcPr/>
                </a:tc>
                <a:tc>
                  <a:txBody>
                    <a:bodyPr/>
                    <a:lstStyle/>
                    <a:p>
                      <a:r>
                        <a:rPr sz="700"/>
                        <a:t>-1.00</a:t>
                      </a:r>
                    </a:p>
                  </a:txBody>
                  <a:tcPr/>
                </a:tc>
                <a:tc>
                  <a:txBody>
                    <a:bodyPr/>
                    <a:lstStyle/>
                    <a:p>
                      <a:r>
                        <a:rPr sz="700"/>
                        <a:t>-0.300</a:t>
                      </a:r>
                    </a:p>
                  </a:txBody>
                  <a:tcPr/>
                </a:tc>
                <a:tc>
                  <a:txBody>
                    <a:bodyPr/>
                    <a:lstStyle/>
                    <a:p>
                      <a:r>
                        <a:rPr sz="700"/>
                        <a:t>&lt; 0.001</a:t>
                      </a:r>
                    </a:p>
                  </a:txBody>
                  <a:tcPr/>
                </a:tc>
                <a:tc>
                  <a:txBody>
                    <a:bodyPr/>
                    <a:lstStyle/>
                    <a:p>
                      <a:r>
                        <a:rPr sz="700"/>
                        <a:t>0/16</a:t>
                      </a:r>
                    </a:p>
                  </a:txBody>
                  <a:tcPr/>
                </a:tc>
                <a:tc>
                  <a:txBody>
                    <a:bodyPr/>
                    <a:lstStyle/>
                    <a:p>
                      <a:r>
                        <a:rPr sz="700"/>
                        <a:t>0/4</a:t>
                      </a:r>
                    </a:p>
                  </a:txBody>
                  <a:tcPr/>
                </a:tc>
              </a:tr>
              <a:tr h="250256">
                <a:tc>
                  <a:txBody>
                    <a:bodyPr/>
                    <a:lstStyle/>
                    <a:p>
                      <a:r>
                        <a:rPr sz="700"/>
                        <a:t>zero knowledge</a:t>
                      </a:r>
                    </a:p>
                  </a:txBody>
                  <a:tcPr/>
                </a:tc>
                <a:tc>
                  <a:txBody>
                    <a:bodyPr/>
                    <a:lstStyle/>
                    <a:p>
                      <a:r>
                        <a:rPr sz="700"/>
                        <a:t>edlr adaptive ebssa</a:t>
                      </a:r>
                    </a:p>
                  </a:txBody>
                  <a:tcPr/>
                </a:tc>
                <a:tc>
                  <a:txBody>
                    <a:bodyPr/>
                    <a:lstStyle/>
                    <a:p>
                      <a:r>
                        <a:rPr sz="700"/>
                        <a:t>+0.035</a:t>
                      </a:r>
                    </a:p>
                  </a:txBody>
                  <a:tcPr/>
                </a:tc>
                <a:tc>
                  <a:txBody>
                    <a:bodyPr/>
                    <a:lstStyle/>
                    <a:p>
                      <a:r>
                        <a:rPr sz="700"/>
                        <a:t>[-0.008, +0.078]</a:t>
                      </a:r>
                    </a:p>
                  </a:txBody>
                  <a:tcPr/>
                </a:tc>
                <a:tc>
                  <a:txBody>
                    <a:bodyPr/>
                    <a:lstStyle/>
                    <a:p>
                      <a:r>
                        <a:rPr sz="700"/>
                        <a:t>&lt; 0.001</a:t>
                      </a:r>
                    </a:p>
                  </a:txBody>
                  <a:tcPr/>
                </a:tc>
                <a:tc>
                  <a:txBody>
                    <a:bodyPr/>
                    <a:lstStyle/>
                    <a:p>
                      <a:r>
                        <a:rPr sz="700"/>
                        <a:t>+0.53</a:t>
                      </a:r>
                    </a:p>
                  </a:txBody>
                  <a:tcPr/>
                </a:tc>
                <a:tc>
                  <a:txBody>
                    <a:bodyPr/>
                    <a:lstStyle/>
                    <a:p>
                      <a:r>
                        <a:rPr sz="700"/>
                        <a:t>+0.035</a:t>
                      </a:r>
                    </a:p>
                  </a:txBody>
                  <a:tcPr/>
                </a:tc>
                <a:tc>
                  <a:txBody>
                    <a:bodyPr/>
                    <a:lstStyle/>
                    <a:p>
                      <a:r>
                        <a:rPr sz="700"/>
                        <a:t>= 0.144</a:t>
                      </a:r>
                    </a:p>
                  </a:txBody>
                  <a:tcPr/>
                </a:tc>
                <a:tc>
                  <a:txBody>
                    <a:bodyPr/>
                    <a:lstStyle/>
                    <a:p>
                      <a:r>
                        <a:rPr sz="700"/>
                        <a:t>11/16</a:t>
                      </a:r>
                    </a:p>
                  </a:txBody>
                  <a:tcPr/>
                </a:tc>
                <a:tc>
                  <a:txBody>
                    <a:bodyPr/>
                    <a:lstStyle/>
                    <a:p>
                      <a:r>
                        <a:rPr sz="700"/>
                        <a:t>3/4</a:t>
                      </a:r>
                    </a:p>
                  </a:txBody>
                  <a:tcPr/>
                </a:tc>
              </a:tr>
              <a:tr h="250256">
                <a:tc>
                  <a:txBody>
                    <a:bodyPr/>
                    <a:lstStyle/>
                    <a:p>
                      <a:r>
                        <a:rPr sz="700"/>
                        <a:t>zero knowledge</a:t>
                      </a:r>
                    </a:p>
                  </a:txBody>
                  <a:tcPr/>
                </a:tc>
                <a:tc>
                  <a:txBody>
                    <a:bodyPr/>
                    <a:lstStyle/>
                    <a:p>
                      <a:r>
                        <a:rPr sz="700"/>
                        <a:t>ynoise default</a:t>
                      </a:r>
                    </a:p>
                  </a:txBody>
                  <a:tcPr/>
                </a:tc>
                <a:tc>
                  <a:txBody>
                    <a:bodyPr/>
                    <a:lstStyle/>
                    <a:p>
                      <a:r>
                        <a:rPr sz="700"/>
                        <a:t>-0.132</a:t>
                      </a:r>
                    </a:p>
                  </a:txBody>
                  <a:tcPr/>
                </a:tc>
                <a:tc>
                  <a:txBody>
                    <a:bodyPr/>
                    <a:lstStyle/>
                    <a:p>
                      <a:r>
                        <a:rPr sz="700"/>
                        <a:t>[-0.165, -0.098]</a:t>
                      </a:r>
                    </a:p>
                  </a:txBody>
                  <a:tcPr/>
                </a:tc>
                <a:tc>
                  <a:txBody>
                    <a:bodyPr/>
                    <a:lstStyle/>
                    <a:p>
                      <a:r>
                        <a:rPr sz="700"/>
                        <a:t>&lt; 0.001</a:t>
                      </a:r>
                    </a:p>
                  </a:txBody>
                  <a:tcPr/>
                </a:tc>
                <a:tc>
                  <a:txBody>
                    <a:bodyPr/>
                    <a:lstStyle/>
                    <a:p>
                      <a:r>
                        <a:rPr sz="700"/>
                        <a:t>-0.87</a:t>
                      </a:r>
                    </a:p>
                  </a:txBody>
                  <a:tcPr/>
                </a:tc>
                <a:tc>
                  <a:txBody>
                    <a:bodyPr/>
                    <a:lstStyle/>
                    <a:p>
                      <a:r>
                        <a:rPr sz="700"/>
                        <a:t>-0.132</a:t>
                      </a:r>
                    </a:p>
                  </a:txBody>
                  <a:tcPr/>
                </a:tc>
                <a:tc>
                  <a:txBody>
                    <a:bodyPr/>
                    <a:lstStyle/>
                    <a:p>
                      <a:r>
                        <a:rPr sz="700"/>
                        <a:t>&lt; 0.001</a:t>
                      </a:r>
                    </a:p>
                  </a:txBody>
                  <a:tcPr/>
                </a:tc>
                <a:tc>
                  <a:txBody>
                    <a:bodyPr/>
                    <a:lstStyle/>
                    <a:p>
                      <a:r>
                        <a:rPr sz="700"/>
                        <a:t>1/16</a:t>
                      </a:r>
                    </a:p>
                  </a:txBody>
                  <a:tcPr/>
                </a:tc>
                <a:tc>
                  <a:txBody>
                    <a:bodyPr/>
                    <a:lstStyle/>
                    <a:p>
                      <a:r>
                        <a:rPr sz="700"/>
                        <a:t>1/4</a:t>
                      </a:r>
                    </a:p>
                  </a:txBody>
                  <a:tcPr/>
                </a:tc>
              </a:tr>
              <a:tr h="250256">
                <a:tc>
                  <a:txBody>
                    <a:bodyPr/>
                    <a:lstStyle/>
                    <a:p>
                      <a:r>
                        <a:rPr sz="700"/>
                        <a:t>zero knowledge</a:t>
                      </a:r>
                    </a:p>
                  </a:txBody>
                  <a:tcPr/>
                </a:tc>
                <a:tc>
                  <a:txBody>
                    <a:bodyPr/>
                    <a:lstStyle/>
                    <a:p>
                      <a:r>
                        <a:rPr sz="700"/>
                        <a:t>ynoise ebssa</a:t>
                      </a:r>
                    </a:p>
                  </a:txBody>
                  <a:tcPr/>
                </a:tc>
                <a:tc>
                  <a:txBody>
                    <a:bodyPr/>
                    <a:lstStyle/>
                    <a:p>
                      <a:r>
                        <a:rPr sz="700"/>
                        <a:t>-0.062</a:t>
                      </a:r>
                    </a:p>
                  </a:txBody>
                  <a:tcPr/>
                </a:tc>
                <a:tc>
                  <a:txBody>
                    <a:bodyPr/>
                    <a:lstStyle/>
                    <a:p>
                      <a:r>
                        <a:rPr sz="700"/>
                        <a:t>[-0.092, -0.031]</a:t>
                      </a:r>
                    </a:p>
                  </a:txBody>
                  <a:tcPr/>
                </a:tc>
                <a:tc>
                  <a:txBody>
                    <a:bodyPr/>
                    <a:lstStyle/>
                    <a:p>
                      <a:r>
                        <a:rPr sz="700"/>
                        <a:t>&lt; 0.001</a:t>
                      </a:r>
                    </a:p>
                  </a:txBody>
                  <a:tcPr/>
                </a:tc>
                <a:tc>
                  <a:txBody>
                    <a:bodyPr/>
                    <a:lstStyle/>
                    <a:p>
                      <a:r>
                        <a:rPr sz="700"/>
                        <a:t>-0.55</a:t>
                      </a:r>
                    </a:p>
                  </a:txBody>
                  <a:tcPr/>
                </a:tc>
                <a:tc>
                  <a:txBody>
                    <a:bodyPr/>
                    <a:lstStyle/>
                    <a:p>
                      <a:r>
                        <a:rPr sz="700"/>
                        <a:t>-0.062</a:t>
                      </a:r>
                    </a:p>
                  </a:txBody>
                  <a:tcPr/>
                </a:tc>
                <a:tc>
                  <a:txBody>
                    <a:bodyPr/>
                    <a:lstStyle/>
                    <a:p>
                      <a:r>
                        <a:rPr sz="700"/>
                        <a:t>= 0.002</a:t>
                      </a:r>
                    </a:p>
                  </a:txBody>
                  <a:tcPr/>
                </a:tc>
                <a:tc>
                  <a:txBody>
                    <a:bodyPr/>
                    <a:lstStyle/>
                    <a:p>
                      <a:r>
                        <a:rPr sz="700"/>
                        <a:t>3/16</a:t>
                      </a:r>
                    </a:p>
                  </a:txBody>
                  <a:tcPr/>
                </a:tc>
                <a:tc>
                  <a:txBody>
                    <a:bodyPr/>
                    <a:lstStyle/>
                    <a:p>
                      <a:r>
                        <a:rPr sz="700"/>
                        <a:t>1/4</a:t>
                      </a:r>
                    </a:p>
                  </a:txBody>
                  <a:tcPr/>
                </a:tc>
              </a:tr>
              <a:tr h="250256">
                <a:tc>
                  <a:txBody>
                    <a:bodyPr/>
                    <a:lstStyle/>
                    <a:p>
                      <a:r>
                        <a:rPr sz="700"/>
                        <a:t>zero knowledge</a:t>
                      </a:r>
                    </a:p>
                  </a:txBody>
                  <a:tcPr/>
                </a:tc>
                <a:tc>
                  <a:txBody>
                    <a:bodyPr/>
                    <a:lstStyle/>
                    <a:p>
                      <a:r>
                        <a:rPr sz="700"/>
                        <a:t>ynoise handoff</a:t>
                      </a:r>
                    </a:p>
                  </a:txBody>
                  <a:tcPr/>
                </a:tc>
                <a:tc>
                  <a:txBody>
                    <a:bodyPr/>
                    <a:lstStyle/>
                    <a:p>
                      <a:r>
                        <a:rPr sz="700"/>
                        <a:t>-0.130</a:t>
                      </a:r>
                    </a:p>
                  </a:txBody>
                  <a:tcPr/>
                </a:tc>
                <a:tc>
                  <a:txBody>
                    <a:bodyPr/>
                    <a:lstStyle/>
                    <a:p>
                      <a:r>
                        <a:rPr sz="700"/>
                        <a:t>[-0.166, -0.098]</a:t>
                      </a:r>
                    </a:p>
                  </a:txBody>
                  <a:tcPr/>
                </a:tc>
                <a:tc>
                  <a:txBody>
                    <a:bodyPr/>
                    <a:lstStyle/>
                    <a:p>
                      <a:r>
                        <a:rPr sz="700"/>
                        <a:t>&lt; 0.001</a:t>
                      </a:r>
                    </a:p>
                  </a:txBody>
                  <a:tcPr/>
                </a:tc>
                <a:tc>
                  <a:txBody>
                    <a:bodyPr/>
                    <a:lstStyle/>
                    <a:p>
                      <a:r>
                        <a:rPr sz="700"/>
                        <a:t>-0.95</a:t>
                      </a:r>
                    </a:p>
                  </a:txBody>
                  <a:tcPr/>
                </a:tc>
                <a:tc>
                  <a:txBody>
                    <a:bodyPr/>
                    <a:lstStyle/>
                    <a:p>
                      <a:r>
                        <a:rPr sz="700"/>
                        <a:t>-0.130</a:t>
                      </a:r>
                    </a:p>
                  </a:txBody>
                  <a:tcPr/>
                </a:tc>
                <a:tc>
                  <a:txBody>
                    <a:bodyPr/>
                    <a:lstStyle/>
                    <a:p>
                      <a:r>
                        <a:rPr sz="700"/>
                        <a:t>&lt; 0.001</a:t>
                      </a:r>
                    </a:p>
                  </a:txBody>
                  <a:tcPr/>
                </a:tc>
                <a:tc>
                  <a:txBody>
                    <a:bodyPr/>
                    <a:lstStyle/>
                    <a:p>
                      <a:r>
                        <a:rPr sz="700"/>
                        <a:t>0/16</a:t>
                      </a:r>
                    </a:p>
                  </a:txBody>
                  <a:tcPr/>
                </a:tc>
                <a:tc>
                  <a:txBody>
                    <a:bodyPr/>
                    <a:lstStyle/>
                    <a:p>
                      <a:r>
                        <a:rPr sz="700"/>
                        <a:t>0/4</a:t>
                      </a:r>
                    </a:p>
                  </a:txBody>
                  <a:tcPr/>
                </a:tc>
              </a:tr>
              <a:tr h="250256">
                <a:tc>
                  <a:txBody>
                    <a:bodyPr/>
                    <a:lstStyle/>
                    <a:p>
                      <a:r>
                        <a:rPr sz="700"/>
                        <a:t>zero knowledge</a:t>
                      </a:r>
                    </a:p>
                  </a:txBody>
                  <a:tcPr/>
                </a:tc>
                <a:tc>
                  <a:txBody>
                    <a:bodyPr/>
                    <a:lstStyle/>
                    <a:p>
                      <a:r>
                        <a:rPr sz="700"/>
                        <a:t>hybrid 0.1</a:t>
                      </a:r>
                    </a:p>
                  </a:txBody>
                  <a:tcPr/>
                </a:tc>
                <a:tc>
                  <a:txBody>
                    <a:bodyPr/>
                    <a:lstStyle/>
                    <a:p>
                      <a:r>
                        <a:rPr sz="700"/>
                        <a:t>+0.000</a:t>
                      </a:r>
                    </a:p>
                  </a:txBody>
                  <a:tcPr/>
                </a:tc>
                <a:tc>
                  <a:txBody>
                    <a:bodyPr/>
                    <a:lstStyle/>
                    <a:p>
                      <a:r>
                        <a:rPr sz="700"/>
                        <a:t>[-0.000, +0.001]</a:t>
                      </a:r>
                    </a:p>
                  </a:txBody>
                  <a:tcPr/>
                </a:tc>
                <a:tc>
                  <a:txBody>
                    <a:bodyPr/>
                    <a:lstStyle/>
                    <a:p>
                      <a:r>
                        <a:rPr sz="700"/>
                        <a:t>= 0.017</a:t>
                      </a:r>
                    </a:p>
                  </a:txBody>
                  <a:tcPr/>
                </a:tc>
                <a:tc>
                  <a:txBody>
                    <a:bodyPr/>
                    <a:lstStyle/>
                    <a:p>
                      <a:r>
                        <a:rPr sz="700"/>
                        <a:t>-0.31</a:t>
                      </a:r>
                    </a:p>
                  </a:txBody>
                  <a:tcPr/>
                </a:tc>
                <a:tc>
                  <a:txBody>
                    <a:bodyPr/>
                    <a:lstStyle/>
                    <a:p>
                      <a:r>
                        <a:rPr sz="700"/>
                        <a:t>+0.000</a:t>
                      </a:r>
                    </a:p>
                  </a:txBody>
                  <a:tcPr/>
                </a:tc>
                <a:tc>
                  <a:txBody>
                    <a:bodyPr/>
                    <a:lstStyle/>
                    <a:p>
                      <a:r>
                        <a:rPr sz="700"/>
                        <a:t>= 0.375</a:t>
                      </a:r>
                    </a:p>
                  </a:txBody>
                  <a:tcPr/>
                </a:tc>
                <a:tc>
                  <a:txBody>
                    <a:bodyPr/>
                    <a:lstStyle/>
                    <a:p>
                      <a:r>
                        <a:rPr sz="700"/>
                        <a:t>4/16</a:t>
                      </a:r>
                    </a:p>
                  </a:txBody>
                  <a:tcPr/>
                </a:tc>
                <a:tc>
                  <a:txBody>
                    <a:bodyPr/>
                    <a:lstStyle/>
                    <a:p>
                      <a:r>
                        <a:rPr sz="700"/>
                        <a:t>2/4</a:t>
                      </a:r>
                    </a:p>
                  </a:txBody>
                  <a:tcPr/>
                </a:tc>
              </a:tr>
              <a:tr h="250256">
                <a:tc>
                  <a:txBody>
                    <a:bodyPr/>
                    <a:lstStyle/>
                    <a:p>
                      <a:r>
                        <a:rPr sz="700"/>
                        <a:t>zero knowledge</a:t>
                      </a:r>
                    </a:p>
                  </a:txBody>
                  <a:tcPr/>
                </a:tc>
                <a:tc>
                  <a:txBody>
                    <a:bodyPr/>
                    <a:lstStyle/>
                    <a:p>
                      <a:r>
                        <a:rPr sz="700"/>
                        <a:t>hybrid 0.2</a:t>
                      </a:r>
                    </a:p>
                  </a:txBody>
                  <a:tcPr/>
                </a:tc>
                <a:tc>
                  <a:txBody>
                    <a:bodyPr/>
                    <a:lstStyle/>
                    <a:p>
                      <a:r>
                        <a:rPr sz="700"/>
                        <a:t>-0.003</a:t>
                      </a:r>
                    </a:p>
                  </a:txBody>
                  <a:tcPr/>
                </a:tc>
                <a:tc>
                  <a:txBody>
                    <a:bodyPr/>
                    <a:lstStyle/>
                    <a:p>
                      <a:r>
                        <a:rPr sz="700"/>
                        <a:t>[-0.008, +0.000]</a:t>
                      </a:r>
                    </a:p>
                  </a:txBody>
                  <a:tcPr/>
                </a:tc>
                <a:tc>
                  <a:txBody>
                    <a:bodyPr/>
                    <a:lstStyle/>
                    <a:p>
                      <a:r>
                        <a:rPr sz="700"/>
                        <a:t>&lt; 0.001</a:t>
                      </a:r>
                    </a:p>
                  </a:txBody>
                  <a:tcPr/>
                </a:tc>
                <a:tc>
                  <a:txBody>
                    <a:bodyPr/>
                    <a:lstStyle/>
                    <a:p>
                      <a:r>
                        <a:rPr sz="700"/>
                        <a:t>-0.58</a:t>
                      </a:r>
                    </a:p>
                  </a:txBody>
                  <a:tcPr/>
                </a:tc>
                <a:tc>
                  <a:txBody>
                    <a:bodyPr/>
                    <a:lstStyle/>
                    <a:p>
                      <a:r>
                        <a:rPr sz="700"/>
                        <a:t>-0.003</a:t>
                      </a:r>
                    </a:p>
                  </a:txBody>
                  <a:tcPr/>
                </a:tc>
                <a:tc>
                  <a:txBody>
                    <a:bodyPr/>
                    <a:lstStyle/>
                    <a:p>
                      <a:r>
                        <a:rPr sz="700"/>
                        <a:t>= 0.016</a:t>
                      </a:r>
                    </a:p>
                  </a:txBody>
                  <a:tcPr/>
                </a:tc>
                <a:tc>
                  <a:txBody>
                    <a:bodyPr/>
                    <a:lstStyle/>
                    <a:p>
                      <a:r>
                        <a:rPr sz="700"/>
                        <a:t>3/16</a:t>
                      </a:r>
                    </a:p>
                  </a:txBody>
                  <a:tcPr/>
                </a:tc>
                <a:tc>
                  <a:txBody>
                    <a:bodyPr/>
                    <a:lstStyle/>
                    <a:p>
                      <a:r>
                        <a:rPr sz="700"/>
                        <a:t>1/4</a:t>
                      </a:r>
                    </a:p>
                  </a:txBody>
                  <a:tcPr/>
                </a:tc>
              </a:tr>
              <a:tr h="250256">
                <a:tc>
                  <a:txBody>
                    <a:bodyPr/>
                    <a:lstStyle/>
                    <a:p>
                      <a:r>
                        <a:rPr sz="700"/>
                        <a:t>ynoise handoff</a:t>
                      </a:r>
                    </a:p>
                  </a:txBody>
                  <a:tcPr/>
                </a:tc>
                <a:tc>
                  <a:txBody>
                    <a:bodyPr/>
                    <a:lstStyle/>
                    <a:p>
                      <a:r>
                        <a:rPr sz="700"/>
                        <a:t>ynoise default</a:t>
                      </a:r>
                    </a:p>
                  </a:txBody>
                  <a:tcPr/>
                </a:tc>
                <a:tc>
                  <a:txBody>
                    <a:bodyPr/>
                    <a:lstStyle/>
                    <a:p>
                      <a:r>
                        <a:rPr sz="700"/>
                        <a:t>-0.003</a:t>
                      </a:r>
                    </a:p>
                  </a:txBody>
                  <a:tcPr/>
                </a:tc>
                <a:tc>
                  <a:txBody>
                    <a:bodyPr/>
                    <a:lstStyle/>
                    <a:p>
                      <a:r>
                        <a:rPr sz="700"/>
                        <a:t>[-0.024, +0.020]</a:t>
                      </a:r>
                    </a:p>
                  </a:txBody>
                  <a:tcPr/>
                </a:tc>
                <a:tc>
                  <a:txBody>
                    <a:bodyPr/>
                    <a:lstStyle/>
                    <a:p>
                      <a:r>
                        <a:rPr sz="700"/>
                        <a:t>= 0.034</a:t>
                      </a:r>
                    </a:p>
                  </a:txBody>
                  <a:tcPr/>
                </a:tc>
                <a:tc>
                  <a:txBody>
                    <a:bodyPr/>
                    <a:lstStyle/>
                    <a:p>
                      <a:r>
                        <a:rPr sz="700"/>
                        <a:t>-0.27</a:t>
                      </a:r>
                    </a:p>
                  </a:txBody>
                  <a:tcPr/>
                </a:tc>
                <a:tc>
                  <a:txBody>
                    <a:bodyPr/>
                    <a:lstStyle/>
                    <a:p>
                      <a:r>
                        <a:rPr sz="700"/>
                        <a:t>-0.003</a:t>
                      </a:r>
                    </a:p>
                  </a:txBody>
                  <a:tcPr/>
                </a:tc>
                <a:tc>
                  <a:txBody>
                    <a:bodyPr/>
                    <a:lstStyle/>
                    <a:p>
                      <a:r>
                        <a:rPr sz="700"/>
                        <a:t>= 0.706</a:t>
                      </a:r>
                    </a:p>
                  </a:txBody>
                  <a:tcPr/>
                </a:tc>
                <a:tc>
                  <a:txBody>
                    <a:bodyPr/>
                    <a:lstStyle/>
                    <a:p>
                      <a:r>
                        <a:rPr sz="700"/>
                        <a:t>6/16</a:t>
                      </a:r>
                    </a:p>
                  </a:txBody>
                  <a:tcPr/>
                </a:tc>
                <a:tc>
                  <a:txBody>
                    <a:bodyPr/>
                    <a:lstStyle/>
                    <a:p>
                      <a:r>
                        <a:rPr sz="700"/>
                        <a:t>2/4</a:t>
                      </a:r>
                    </a:p>
                  </a:txBody>
                  <a:tcPr/>
                </a:tc>
              </a:tr>
              <a:tr h="250272">
                <a:tc>
                  <a:txBody>
                    <a:bodyPr/>
                    <a:lstStyle/>
                    <a:p>
                      <a:r>
                        <a:rPr sz="700"/>
                        <a:t>edlr adaptive</a:t>
                      </a:r>
                    </a:p>
                  </a:txBody>
                  <a:tcPr/>
                </a:tc>
                <a:tc>
                  <a:txBody>
                    <a:bodyPr/>
                    <a:lstStyle/>
                    <a:p>
                      <a:r>
                        <a:rPr sz="700"/>
                        <a:t>edlr</a:t>
                      </a:r>
                    </a:p>
                  </a:txBody>
                  <a:tcPr/>
                </a:tc>
                <a:tc>
                  <a:txBody>
                    <a:bodyPr/>
                    <a:lstStyle/>
                    <a:p>
                      <a:r>
                        <a:rPr sz="700"/>
                        <a:t>+0.127</a:t>
                      </a:r>
                    </a:p>
                  </a:txBody>
                  <a:tcPr/>
                </a:tc>
                <a:tc>
                  <a:txBody>
                    <a:bodyPr/>
                    <a:lstStyle/>
                    <a:p>
                      <a:r>
                        <a:rPr sz="700"/>
                        <a:t>[+0.063, +0.178]</a:t>
                      </a:r>
                    </a:p>
                  </a:txBody>
                  <a:tcPr/>
                </a:tc>
                <a:tc>
                  <a:txBody>
                    <a:bodyPr/>
                    <a:lstStyle/>
                    <a:p>
                      <a:r>
                        <a:rPr sz="700"/>
                        <a:t>&lt; 0.001</a:t>
                      </a:r>
                    </a:p>
                  </a:txBody>
                  <a:tcPr/>
                </a:tc>
                <a:tc>
                  <a:txBody>
                    <a:bodyPr/>
                    <a:lstStyle/>
                    <a:p>
                      <a:r>
                        <a:rPr sz="700"/>
                        <a:t>+0.80</a:t>
                      </a:r>
                    </a:p>
                  </a:txBody>
                  <a:tcPr/>
                </a:tc>
                <a:tc>
                  <a:txBody>
                    <a:bodyPr/>
                    <a:lstStyle/>
                    <a:p>
                      <a:r>
                        <a:rPr sz="700"/>
                        <a:t>+0.127</a:t>
                      </a:r>
                    </a:p>
                  </a:txBody>
                  <a:tcPr/>
                </a:tc>
                <a:tc>
                  <a:txBody>
                    <a:bodyPr/>
                    <a:lstStyle/>
                    <a:p>
                      <a:r>
                        <a:rPr sz="700"/>
                        <a:t>= 0.003</a:t>
                      </a:r>
                    </a:p>
                  </a:txBody>
                  <a:tcPr/>
                </a:tc>
                <a:tc>
                  <a:txBody>
                    <a:bodyPr/>
                    <a:lstStyle/>
                    <a:p>
                      <a:r>
                        <a:rPr sz="700"/>
                        <a:t>15/16</a:t>
                      </a:r>
                    </a:p>
                  </a:txBody>
                  <a:tcPr/>
                </a:tc>
                <a:tc>
                  <a:txBody>
                    <a:bodyPr/>
                    <a:lstStyle/>
                    <a:p>
                      <a:r>
                        <a:rPr sz="700"/>
                        <a:t>3/4</a:t>
                      </a:r>
                    </a:p>
                  </a:txBody>
                  <a:tcPr/>
                </a:tc>
              </a:tr>
            </a:tbl>
          </a:graphicData>
        </a:graphic>
      </p:graphicFrame>
      <p:sp>
        <p:nvSpPr>
          <p:cNvPr id="4" name="TextBox 3"/>
          <p:cNvSpPr txBox="1"/>
          <p:nvPr/>
        </p:nvSpPr>
        <p:spPr>
          <a:xfrm>
            <a:off x="365760" y="5715000"/>
            <a:ext cx="11430000" cy="960119"/>
          </a:xfrm>
          <a:prstGeom prst="rect">
            <a:avLst/>
          </a:prstGeom>
          <a:noFill/>
        </p:spPr>
        <p:txBody>
          <a:bodyPr wrap="square">
            <a:spAutoFit/>
          </a:bodyPr>
          <a:lstStyle/>
          <a:p>
            <a:r>
              <a:rPr sz="1100"/>
              <a:t>Table S6. Dependence-aware sensitivity analysis on DND21. Mixture level: 80 mixtures, paired difference A minus B with cluster-bootstrap 95% CI over signal segments, unadjusted Wilcoxon p and rank-biserial r. Segment level: mean AUC over the noise conditions of each of the 16 signal segments, paired difference, Wilcoxon p and number of segments with A ahead. Source level: number of the 4 signal sources with A ahead (no test). Method keys as in the result files: edlr, nested-CV fixed-window proposal; edlr adaptive, nested-CV rate-adaptive proposal; zero knowledge, fixed-deployment proposal; ebssa suffix, configuration selected on EBSSA; hybrid f, two-stage cascade passing fraction 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1430000" cy="548640"/>
          </a:xfrm>
          <a:prstGeom prst="rect">
            <a:avLst/>
          </a:prstGeom>
          <a:noFill/>
        </p:spPr>
        <p:txBody>
          <a:bodyPr wrap="none">
            <a:spAutoFit/>
          </a:bodyPr>
          <a:lstStyle/>
          <a:p>
            <a:r>
              <a:rPr sz="2200" b="1"/>
              <a:t>Table S7</a:t>
            </a:r>
          </a:p>
        </p:txBody>
      </p:sp>
      <p:graphicFrame>
        <p:nvGraphicFramePr>
          <p:cNvPr id="3" name="Table 2"/>
          <p:cNvGraphicFramePr>
            <a:graphicFrameLocks noGrp="1"/>
          </p:cNvGraphicFramePr>
          <p:nvPr/>
        </p:nvGraphicFramePr>
        <p:xfrm>
          <a:off x="365760" y="822960"/>
          <a:ext cx="11430000" cy="4480559"/>
        </p:xfrm>
        <a:graphic>
          <a:graphicData uri="http://schemas.openxmlformats.org/drawingml/2006/table">
            <a:tbl>
              <a:tblPr firstRow="1" bandRow="1">
                <a:tableStyleId>{5C22544A-7EE6-4342-B048-85BDC9FD1C3A}</a:tableStyleId>
              </a:tblPr>
              <a:tblGrid>
                <a:gridCol w="1428750"/>
                <a:gridCol w="1428750"/>
                <a:gridCol w="1428750"/>
                <a:gridCol w="1428750"/>
                <a:gridCol w="1428750"/>
                <a:gridCol w="1428750"/>
                <a:gridCol w="1428750"/>
                <a:gridCol w="1428750"/>
              </a:tblGrid>
              <a:tr h="320039">
                <a:tc>
                  <a:txBody>
                    <a:bodyPr/>
                    <a:lstStyle/>
                    <a:p>
                      <a:r>
                        <a:rPr sz="700" b="1"/>
                        <a:t>Stratum</a:t>
                      </a:r>
                    </a:p>
                  </a:txBody>
                  <a:tcPr/>
                </a:tc>
                <a:tc>
                  <a:txBody>
                    <a:bodyPr/>
                    <a:lstStyle/>
                    <a:p>
                      <a:r>
                        <a:rPr sz="700" b="1"/>
                        <a:t>AEDNet (subset)</a:t>
                      </a:r>
                    </a:p>
                  </a:txBody>
                  <a:tcPr/>
                </a:tc>
                <a:tc>
                  <a:txBody>
                    <a:bodyPr/>
                    <a:lstStyle/>
                    <a:p>
                      <a:r>
                        <a:rPr sz="700" b="1"/>
                        <a:t>Proposal (subset)</a:t>
                      </a:r>
                    </a:p>
                  </a:txBody>
                  <a:tcPr/>
                </a:tc>
                <a:tc>
                  <a:txBody>
                    <a:bodyPr/>
                    <a:lstStyle/>
                    <a:p>
                      <a:r>
                        <a:rPr sz="700" b="1"/>
                        <a:t>YNoise default (subset)</a:t>
                      </a:r>
                    </a:p>
                  </a:txBody>
                  <a:tcPr/>
                </a:tc>
                <a:tc>
                  <a:txBody>
                    <a:bodyPr/>
                    <a:lstStyle/>
                    <a:p>
                      <a:r>
                        <a:rPr sz="700" b="1"/>
                        <a:t>Proposal (full)</a:t>
                      </a:r>
                    </a:p>
                  </a:txBody>
                  <a:tcPr/>
                </a:tc>
                <a:tc>
                  <a:txBody>
                    <a:bodyPr/>
                    <a:lstStyle/>
                    <a:p>
                      <a:r>
                        <a:rPr sz="700" b="1"/>
                        <a:t>YNoise default (full)</a:t>
                      </a:r>
                    </a:p>
                  </a:txBody>
                  <a:tcPr/>
                </a:tc>
                <a:tc>
                  <a:txBody>
                    <a:bodyPr/>
                    <a:lstStyle/>
                    <a:p>
                      <a:r>
                        <a:rPr sz="700" b="1"/>
                        <a:t>Events</a:t>
                      </a:r>
                    </a:p>
                  </a:txBody>
                  <a:tcPr/>
                </a:tc>
                <a:tc>
                  <a:txBody>
                    <a:bodyPr/>
                    <a:lstStyle/>
                    <a:p>
                      <a:r>
                        <a:rPr sz="700" b="1"/>
                        <a:t>n</a:t>
                      </a:r>
                    </a:p>
                  </a:txBody>
                  <a:tcPr/>
                </a:tc>
              </a:tr>
              <a:tr h="320039">
                <a:tc>
                  <a:txBody>
                    <a:bodyPr/>
                    <a:lstStyle/>
                    <a:p>
                      <a:r>
                        <a:rPr sz="700"/>
                        <a:t>EBSSA, 180 x 240-pixel sensor</a:t>
                      </a:r>
                    </a:p>
                  </a:txBody>
                  <a:tcPr/>
                </a:tc>
                <a:tc>
                  <a:txBody>
                    <a:bodyPr/>
                    <a:lstStyle/>
                    <a:p>
                      <a:r>
                        <a:rPr sz="700"/>
                        <a:t>0.697</a:t>
                      </a:r>
                    </a:p>
                  </a:txBody>
                  <a:tcPr/>
                </a:tc>
                <a:tc>
                  <a:txBody>
                    <a:bodyPr/>
                    <a:lstStyle/>
                    <a:p>
                      <a:r>
                        <a:rPr sz="700"/>
                        <a:t>0.830</a:t>
                      </a:r>
                    </a:p>
                  </a:txBody>
                  <a:tcPr/>
                </a:tc>
                <a:tc>
                  <a:txBody>
                    <a:bodyPr/>
                    <a:lstStyle/>
                    <a:p>
                      <a:r>
                        <a:rPr sz="700"/>
                        <a:t>0.734</a:t>
                      </a:r>
                    </a:p>
                  </a:txBody>
                  <a:tcPr/>
                </a:tc>
                <a:tc>
                  <a:txBody>
                    <a:bodyPr/>
                    <a:lstStyle/>
                    <a:p>
                      <a:r>
                        <a:rPr sz="700"/>
                        <a:t>0.828</a:t>
                      </a:r>
                    </a:p>
                  </a:txBody>
                  <a:tcPr/>
                </a:tc>
                <a:tc>
                  <a:txBody>
                    <a:bodyPr/>
                    <a:lstStyle/>
                    <a:p>
                      <a:r>
                        <a:rPr sz="700"/>
                        <a:t>0.732</a:t>
                      </a:r>
                    </a:p>
                  </a:txBody>
                  <a:tcPr/>
                </a:tc>
                <a:tc>
                  <a:txBody>
                    <a:bodyPr/>
                    <a:lstStyle/>
                    <a:p>
                      <a:r>
                        <a:rPr sz="700"/>
                        <a:t>2777</a:t>
                      </a:r>
                    </a:p>
                  </a:txBody>
                  <a:tcPr/>
                </a:tc>
                <a:tc>
                  <a:txBody>
                    <a:bodyPr/>
                    <a:lstStyle/>
                    <a:p>
                      <a:r>
                        <a:rPr sz="700"/>
                        <a:t>29</a:t>
                      </a:r>
                    </a:p>
                  </a:txBody>
                  <a:tcPr/>
                </a:tc>
              </a:tr>
              <a:tr h="320039">
                <a:tc>
                  <a:txBody>
                    <a:bodyPr/>
                    <a:lstStyle/>
                    <a:p>
                      <a:r>
                        <a:rPr sz="700"/>
                        <a:t>EBSSA, 240 x 304-pixel sensor</a:t>
                      </a:r>
                    </a:p>
                  </a:txBody>
                  <a:tcPr/>
                </a:tc>
                <a:tc>
                  <a:txBody>
                    <a:bodyPr/>
                    <a:lstStyle/>
                    <a:p>
                      <a:r>
                        <a:rPr sz="700"/>
                        <a:t>0.664</a:t>
                      </a:r>
                    </a:p>
                  </a:txBody>
                  <a:tcPr/>
                </a:tc>
                <a:tc>
                  <a:txBody>
                    <a:bodyPr/>
                    <a:lstStyle/>
                    <a:p>
                      <a:r>
                        <a:rPr sz="700"/>
                        <a:t>0.688</a:t>
                      </a:r>
                    </a:p>
                  </a:txBody>
                  <a:tcPr/>
                </a:tc>
                <a:tc>
                  <a:txBody>
                    <a:bodyPr/>
                    <a:lstStyle/>
                    <a:p>
                      <a:r>
                        <a:rPr sz="700"/>
                        <a:t>0.749</a:t>
                      </a:r>
                    </a:p>
                  </a:txBody>
                  <a:tcPr/>
                </a:tc>
                <a:tc>
                  <a:txBody>
                    <a:bodyPr/>
                    <a:lstStyle/>
                    <a:p>
                      <a:r>
                        <a:rPr sz="700"/>
                        <a:t>0.685</a:t>
                      </a:r>
                    </a:p>
                  </a:txBody>
                  <a:tcPr/>
                </a:tc>
                <a:tc>
                  <a:txBody>
                    <a:bodyPr/>
                    <a:lstStyle/>
                    <a:p>
                      <a:r>
                        <a:rPr sz="700"/>
                        <a:t>0.750</a:t>
                      </a:r>
                    </a:p>
                  </a:txBody>
                  <a:tcPr/>
                </a:tc>
                <a:tc>
                  <a:txBody>
                    <a:bodyPr/>
                    <a:lstStyle/>
                    <a:p>
                      <a:r>
                        <a:rPr sz="700"/>
                        <a:t>2540</a:t>
                      </a:r>
                    </a:p>
                  </a:txBody>
                  <a:tcPr/>
                </a:tc>
                <a:tc>
                  <a:txBody>
                    <a:bodyPr/>
                    <a:lstStyle/>
                    <a:p>
                      <a:r>
                        <a:rPr sz="700"/>
                        <a:t>14</a:t>
                      </a:r>
                    </a:p>
                  </a:txBody>
                  <a:tcPr/>
                </a:tc>
              </a:tr>
              <a:tr h="320039">
                <a:tc>
                  <a:txBody>
                    <a:bodyPr/>
                    <a:lstStyle/>
                    <a:p>
                      <a:r>
                        <a:rPr sz="700"/>
                        <a:t>EBSSA, all recordings</a:t>
                      </a:r>
                    </a:p>
                  </a:txBody>
                  <a:tcPr/>
                </a:tc>
                <a:tc>
                  <a:txBody>
                    <a:bodyPr/>
                    <a:lstStyle/>
                    <a:p>
                      <a:r>
                        <a:rPr sz="700"/>
                        <a:t>0.686</a:t>
                      </a:r>
                    </a:p>
                  </a:txBody>
                  <a:tcPr/>
                </a:tc>
                <a:tc>
                  <a:txBody>
                    <a:bodyPr/>
                    <a:lstStyle/>
                    <a:p>
                      <a:r>
                        <a:rPr sz="700"/>
                        <a:t>0.783</a:t>
                      </a:r>
                    </a:p>
                  </a:txBody>
                  <a:tcPr/>
                </a:tc>
                <a:tc>
                  <a:txBody>
                    <a:bodyPr/>
                    <a:lstStyle/>
                    <a:p>
                      <a:r>
                        <a:rPr sz="700"/>
                        <a:t>0.739</a:t>
                      </a:r>
                    </a:p>
                  </a:txBody>
                  <a:tcPr/>
                </a:tc>
                <a:tc>
                  <a:txBody>
                    <a:bodyPr/>
                    <a:lstStyle/>
                    <a:p>
                      <a:r>
                        <a:rPr sz="700"/>
                        <a:t>0.781</a:t>
                      </a:r>
                    </a:p>
                  </a:txBody>
                  <a:tcPr/>
                </a:tc>
                <a:tc>
                  <a:txBody>
                    <a:bodyPr/>
                    <a:lstStyle/>
                    <a:p>
                      <a:r>
                        <a:rPr sz="700"/>
                        <a:t>0.738</a:t>
                      </a:r>
                    </a:p>
                  </a:txBody>
                  <a:tcPr/>
                </a:tc>
                <a:tc>
                  <a:txBody>
                    <a:bodyPr/>
                    <a:lstStyle/>
                    <a:p>
                      <a:r>
                        <a:rPr sz="700"/>
                        <a:t>2700</a:t>
                      </a:r>
                    </a:p>
                  </a:txBody>
                  <a:tcPr/>
                </a:tc>
                <a:tc>
                  <a:txBody>
                    <a:bodyPr/>
                    <a:lstStyle/>
                    <a:p>
                      <a:r>
                        <a:rPr sz="700"/>
                        <a:t>43</a:t>
                      </a:r>
                    </a:p>
                  </a:txBody>
                  <a:tcPr/>
                </a:tc>
              </a:tr>
              <a:tr h="320039">
                <a:tc>
                  <a:txBody>
                    <a:bodyPr/>
                    <a:lstStyle/>
                    <a:p>
                      <a:r>
                        <a:rPr sz="700"/>
                        <a:t>DND21 scene: hotel_bar</a:t>
                      </a:r>
                    </a:p>
                  </a:txBody>
                  <a:tcPr/>
                </a:tc>
                <a:tc>
                  <a:txBody>
                    <a:bodyPr/>
                    <a:lstStyle/>
                    <a:p>
                      <a:r>
                        <a:rPr sz="700"/>
                        <a:t>0.855</a:t>
                      </a:r>
                    </a:p>
                  </a:txBody>
                  <a:tcPr/>
                </a:tc>
                <a:tc>
                  <a:txBody>
                    <a:bodyPr/>
                    <a:lstStyle/>
                    <a:p>
                      <a:r>
                        <a:rPr sz="700"/>
                        <a:t>0.827</a:t>
                      </a:r>
                    </a:p>
                  </a:txBody>
                  <a:tcPr/>
                </a:tc>
                <a:tc>
                  <a:txBody>
                    <a:bodyPr/>
                    <a:lstStyle/>
                    <a:p>
                      <a:r>
                        <a:rPr sz="700"/>
                        <a:t>0.968</a:t>
                      </a:r>
                    </a:p>
                  </a:txBody>
                  <a:tcPr/>
                </a:tc>
                <a:tc>
                  <a:txBody>
                    <a:bodyPr/>
                    <a:lstStyle/>
                    <a:p>
                      <a:r>
                        <a:rPr sz="700"/>
                        <a:t>0.828</a:t>
                      </a:r>
                    </a:p>
                  </a:txBody>
                  <a:tcPr/>
                </a:tc>
                <a:tc>
                  <a:txBody>
                    <a:bodyPr/>
                    <a:lstStyle/>
                    <a:p>
                      <a:r>
                        <a:rPr sz="700"/>
                        <a:t>0.969</a:t>
                      </a:r>
                    </a:p>
                  </a:txBody>
                  <a:tcPr/>
                </a:tc>
                <a:tc>
                  <a:txBody>
                    <a:bodyPr/>
                    <a:lstStyle/>
                    <a:p>
                      <a:r>
                        <a:rPr sz="700"/>
                        <a:t>3000</a:t>
                      </a:r>
                    </a:p>
                  </a:txBody>
                  <a:tcPr/>
                </a:tc>
                <a:tc>
                  <a:txBody>
                    <a:bodyPr/>
                    <a:lstStyle/>
                    <a:p>
                      <a:r>
                        <a:rPr sz="700"/>
                        <a:t>25</a:t>
                      </a:r>
                    </a:p>
                  </a:txBody>
                  <a:tcPr/>
                </a:tc>
              </a:tr>
              <a:tr h="320039">
                <a:tc>
                  <a:txBody>
                    <a:bodyPr/>
                    <a:lstStyle/>
                    <a:p>
                      <a:r>
                        <a:rPr sz="700"/>
                        <a:t>DND21 scene: driving</a:t>
                      </a:r>
                    </a:p>
                  </a:txBody>
                  <a:tcPr/>
                </a:tc>
                <a:tc>
                  <a:txBody>
                    <a:bodyPr/>
                    <a:lstStyle/>
                    <a:p>
                      <a:r>
                        <a:rPr sz="700"/>
                        <a:t>0.789</a:t>
                      </a:r>
                    </a:p>
                  </a:txBody>
                  <a:tcPr/>
                </a:tc>
                <a:tc>
                  <a:txBody>
                    <a:bodyPr/>
                    <a:lstStyle/>
                    <a:p>
                      <a:r>
                        <a:rPr sz="700"/>
                        <a:t>0.718</a:t>
                      </a:r>
                    </a:p>
                  </a:txBody>
                  <a:tcPr/>
                </a:tc>
                <a:tc>
                  <a:txBody>
                    <a:bodyPr/>
                    <a:lstStyle/>
                    <a:p>
                      <a:r>
                        <a:rPr sz="700"/>
                        <a:t>0.847</a:t>
                      </a:r>
                    </a:p>
                  </a:txBody>
                  <a:tcPr/>
                </a:tc>
                <a:tc>
                  <a:txBody>
                    <a:bodyPr/>
                    <a:lstStyle/>
                    <a:p>
                      <a:r>
                        <a:rPr sz="700"/>
                        <a:t>0.718</a:t>
                      </a:r>
                    </a:p>
                  </a:txBody>
                  <a:tcPr/>
                </a:tc>
                <a:tc>
                  <a:txBody>
                    <a:bodyPr/>
                    <a:lstStyle/>
                    <a:p>
                      <a:r>
                        <a:rPr sz="700"/>
                        <a:t>0.846</a:t>
                      </a:r>
                    </a:p>
                  </a:txBody>
                  <a:tcPr/>
                </a:tc>
                <a:tc>
                  <a:txBody>
                    <a:bodyPr/>
                    <a:lstStyle/>
                    <a:p>
                      <a:r>
                        <a:rPr sz="700"/>
                        <a:t>2978</a:t>
                      </a:r>
                    </a:p>
                  </a:txBody>
                  <a:tcPr/>
                </a:tc>
                <a:tc>
                  <a:txBody>
                    <a:bodyPr/>
                    <a:lstStyle/>
                    <a:p>
                      <a:r>
                        <a:rPr sz="700"/>
                        <a:t>25</a:t>
                      </a:r>
                    </a:p>
                  </a:txBody>
                  <a:tcPr/>
                </a:tc>
              </a:tr>
              <a:tr h="320039">
                <a:tc>
                  <a:txBody>
                    <a:bodyPr/>
                    <a:lstStyle/>
                    <a:p>
                      <a:r>
                        <a:rPr sz="700"/>
                        <a:t>DND21 scene: dots5</a:t>
                      </a:r>
                    </a:p>
                  </a:txBody>
                  <a:tcPr/>
                </a:tc>
                <a:tc>
                  <a:txBody>
                    <a:bodyPr/>
                    <a:lstStyle/>
                    <a:p>
                      <a:r>
                        <a:rPr sz="700"/>
                        <a:t>0.784</a:t>
                      </a:r>
                    </a:p>
                  </a:txBody>
                  <a:tcPr/>
                </a:tc>
                <a:tc>
                  <a:txBody>
                    <a:bodyPr/>
                    <a:lstStyle/>
                    <a:p>
                      <a:r>
                        <a:rPr sz="700"/>
                        <a:t>0.693</a:t>
                      </a:r>
                    </a:p>
                  </a:txBody>
                  <a:tcPr/>
                </a:tc>
                <a:tc>
                  <a:txBody>
                    <a:bodyPr/>
                    <a:lstStyle/>
                    <a:p>
                      <a:r>
                        <a:rPr sz="700"/>
                        <a:t>0.689</a:t>
                      </a:r>
                    </a:p>
                  </a:txBody>
                  <a:tcPr/>
                </a:tc>
                <a:tc>
                  <a:txBody>
                    <a:bodyPr/>
                    <a:lstStyle/>
                    <a:p>
                      <a:r>
                        <a:rPr sz="700"/>
                        <a:t>0.692</a:t>
                      </a:r>
                    </a:p>
                  </a:txBody>
                  <a:tcPr/>
                </a:tc>
                <a:tc>
                  <a:txBody>
                    <a:bodyPr/>
                    <a:lstStyle/>
                    <a:p>
                      <a:r>
                        <a:rPr sz="700"/>
                        <a:t>0.688</a:t>
                      </a:r>
                    </a:p>
                  </a:txBody>
                  <a:tcPr/>
                </a:tc>
                <a:tc>
                  <a:txBody>
                    <a:bodyPr/>
                    <a:lstStyle/>
                    <a:p>
                      <a:r>
                        <a:rPr sz="700"/>
                        <a:t>2612</a:t>
                      </a:r>
                    </a:p>
                  </a:txBody>
                  <a:tcPr/>
                </a:tc>
                <a:tc>
                  <a:txBody>
                    <a:bodyPr/>
                    <a:lstStyle/>
                    <a:p>
                      <a:r>
                        <a:rPr sz="700"/>
                        <a:t>10</a:t>
                      </a:r>
                    </a:p>
                  </a:txBody>
                  <a:tcPr/>
                </a:tc>
              </a:tr>
              <a:tr h="320039">
                <a:tc>
                  <a:txBody>
                    <a:bodyPr/>
                    <a:lstStyle/>
                    <a:p>
                      <a:r>
                        <a:rPr sz="700"/>
                        <a:t>DND21 scene: accel_dot</a:t>
                      </a:r>
                    </a:p>
                  </a:txBody>
                  <a:tcPr/>
                </a:tc>
                <a:tc>
                  <a:txBody>
                    <a:bodyPr/>
                    <a:lstStyle/>
                    <a:p>
                      <a:r>
                        <a:rPr sz="700"/>
                        <a:t>0.941</a:t>
                      </a:r>
                    </a:p>
                  </a:txBody>
                  <a:tcPr/>
                </a:tc>
                <a:tc>
                  <a:txBody>
                    <a:bodyPr/>
                    <a:lstStyle/>
                    <a:p>
                      <a:r>
                        <a:rPr sz="700"/>
                        <a:t>0.742</a:t>
                      </a:r>
                    </a:p>
                  </a:txBody>
                  <a:tcPr/>
                </a:tc>
                <a:tc>
                  <a:txBody>
                    <a:bodyPr/>
                    <a:lstStyle/>
                    <a:p>
                      <a:r>
                        <a:rPr sz="700"/>
                        <a:t>0.938</a:t>
                      </a:r>
                    </a:p>
                  </a:txBody>
                  <a:tcPr/>
                </a:tc>
                <a:tc>
                  <a:txBody>
                    <a:bodyPr/>
                    <a:lstStyle/>
                    <a:p>
                      <a:r>
                        <a:rPr sz="700"/>
                        <a:t>0.742</a:t>
                      </a:r>
                    </a:p>
                  </a:txBody>
                  <a:tcPr/>
                </a:tc>
                <a:tc>
                  <a:txBody>
                    <a:bodyPr/>
                    <a:lstStyle/>
                    <a:p>
                      <a:r>
                        <a:rPr sz="700"/>
                        <a:t>0.937</a:t>
                      </a:r>
                    </a:p>
                  </a:txBody>
                  <a:tcPr/>
                </a:tc>
                <a:tc>
                  <a:txBody>
                    <a:bodyPr/>
                    <a:lstStyle/>
                    <a:p>
                      <a:r>
                        <a:rPr sz="700"/>
                        <a:t>2826</a:t>
                      </a:r>
                    </a:p>
                  </a:txBody>
                  <a:tcPr/>
                </a:tc>
                <a:tc>
                  <a:txBody>
                    <a:bodyPr/>
                    <a:lstStyle/>
                    <a:p>
                      <a:r>
                        <a:rPr sz="700"/>
                        <a:t>20</a:t>
                      </a:r>
                    </a:p>
                  </a:txBody>
                  <a:tcPr/>
                </a:tc>
              </a:tr>
              <a:tr h="320039">
                <a:tc>
                  <a:txBody>
                    <a:bodyPr/>
                    <a:lstStyle/>
                    <a:p>
                      <a:r>
                        <a:rPr sz="700"/>
                        <a:t>DND21 condition: light native</a:t>
                      </a:r>
                    </a:p>
                  </a:txBody>
                  <a:tcPr/>
                </a:tc>
                <a:tc>
                  <a:txBody>
                    <a:bodyPr/>
                    <a:lstStyle/>
                    <a:p>
                      <a:r>
                        <a:rPr sz="700"/>
                        <a:t>0.883</a:t>
                      </a:r>
                    </a:p>
                  </a:txBody>
                  <a:tcPr/>
                </a:tc>
                <a:tc>
                  <a:txBody>
                    <a:bodyPr/>
                    <a:lstStyle/>
                    <a:p>
                      <a:r>
                        <a:rPr sz="700"/>
                        <a:t>0.794</a:t>
                      </a:r>
                    </a:p>
                  </a:txBody>
                  <a:tcPr/>
                </a:tc>
                <a:tc>
                  <a:txBody>
                    <a:bodyPr/>
                    <a:lstStyle/>
                    <a:p>
                      <a:r>
                        <a:rPr sz="700"/>
                        <a:t>0.919</a:t>
                      </a:r>
                    </a:p>
                  </a:txBody>
                  <a:tcPr/>
                </a:tc>
                <a:tc>
                  <a:txBody>
                    <a:bodyPr/>
                    <a:lstStyle/>
                    <a:p>
                      <a:r>
                        <a:rPr sz="700"/>
                        <a:t>0.792</a:t>
                      </a:r>
                    </a:p>
                  </a:txBody>
                  <a:tcPr/>
                </a:tc>
                <a:tc>
                  <a:txBody>
                    <a:bodyPr/>
                    <a:lstStyle/>
                    <a:p>
                      <a:r>
                        <a:rPr sz="700"/>
                        <a:t>0.918</a:t>
                      </a:r>
                    </a:p>
                  </a:txBody>
                  <a:tcPr/>
                </a:tc>
                <a:tc>
                  <a:txBody>
                    <a:bodyPr/>
                    <a:lstStyle/>
                    <a:p>
                      <a:r>
                        <a:rPr sz="700"/>
                        <a:t>2965</a:t>
                      </a:r>
                    </a:p>
                  </a:txBody>
                  <a:tcPr/>
                </a:tc>
                <a:tc>
                  <a:txBody>
                    <a:bodyPr/>
                    <a:lstStyle/>
                    <a:p>
                      <a:r>
                        <a:rPr sz="700"/>
                        <a:t>16</a:t>
                      </a:r>
                    </a:p>
                  </a:txBody>
                  <a:tcPr/>
                </a:tc>
              </a:tr>
              <a:tr h="320039">
                <a:tc>
                  <a:txBody>
                    <a:bodyPr/>
                    <a:lstStyle/>
                    <a:p>
                      <a:r>
                        <a:rPr sz="700"/>
                        <a:t>DND21 condition: dark 0.5 Hz</a:t>
                      </a:r>
                    </a:p>
                  </a:txBody>
                  <a:tcPr/>
                </a:tc>
                <a:tc>
                  <a:txBody>
                    <a:bodyPr/>
                    <a:lstStyle/>
                    <a:p>
                      <a:r>
                        <a:rPr sz="700"/>
                        <a:t>0.863</a:t>
                      </a:r>
                    </a:p>
                  </a:txBody>
                  <a:tcPr/>
                </a:tc>
                <a:tc>
                  <a:txBody>
                    <a:bodyPr/>
                    <a:lstStyle/>
                    <a:p>
                      <a:r>
                        <a:rPr sz="700"/>
                        <a:t>0.782</a:t>
                      </a:r>
                    </a:p>
                  </a:txBody>
                  <a:tcPr/>
                </a:tc>
                <a:tc>
                  <a:txBody>
                    <a:bodyPr/>
                    <a:lstStyle/>
                    <a:p>
                      <a:r>
                        <a:rPr sz="700"/>
                        <a:t>0.911</a:t>
                      </a:r>
                    </a:p>
                  </a:txBody>
                  <a:tcPr/>
                </a:tc>
                <a:tc>
                  <a:txBody>
                    <a:bodyPr/>
                    <a:lstStyle/>
                    <a:p>
                      <a:r>
                        <a:rPr sz="700"/>
                        <a:t>0.781</a:t>
                      </a:r>
                    </a:p>
                  </a:txBody>
                  <a:tcPr/>
                </a:tc>
                <a:tc>
                  <a:txBody>
                    <a:bodyPr/>
                    <a:lstStyle/>
                    <a:p>
                      <a:r>
                        <a:rPr sz="700"/>
                        <a:t>0.910</a:t>
                      </a:r>
                    </a:p>
                  </a:txBody>
                  <a:tcPr/>
                </a:tc>
                <a:tc>
                  <a:txBody>
                    <a:bodyPr/>
                    <a:lstStyle/>
                    <a:p>
                      <a:r>
                        <a:rPr sz="700"/>
                        <a:t>3000</a:t>
                      </a:r>
                    </a:p>
                  </a:txBody>
                  <a:tcPr/>
                </a:tc>
                <a:tc>
                  <a:txBody>
                    <a:bodyPr/>
                    <a:lstStyle/>
                    <a:p>
                      <a:r>
                        <a:rPr sz="700"/>
                        <a:t>16</a:t>
                      </a:r>
                    </a:p>
                  </a:txBody>
                  <a:tcPr/>
                </a:tc>
              </a:tr>
              <a:tr h="320039">
                <a:tc>
                  <a:txBody>
                    <a:bodyPr/>
                    <a:lstStyle/>
                    <a:p>
                      <a:r>
                        <a:rPr sz="700"/>
                        <a:t>DND21 condition: dark 1 Hz</a:t>
                      </a:r>
                    </a:p>
                  </a:txBody>
                  <a:tcPr/>
                </a:tc>
                <a:tc>
                  <a:txBody>
                    <a:bodyPr/>
                    <a:lstStyle/>
                    <a:p>
                      <a:r>
                        <a:rPr sz="700"/>
                        <a:t>0.848</a:t>
                      </a:r>
                    </a:p>
                  </a:txBody>
                  <a:tcPr/>
                </a:tc>
                <a:tc>
                  <a:txBody>
                    <a:bodyPr/>
                    <a:lstStyle/>
                    <a:p>
                      <a:r>
                        <a:rPr sz="700"/>
                        <a:t>0.786</a:t>
                      </a:r>
                    </a:p>
                  </a:txBody>
                  <a:tcPr/>
                </a:tc>
                <a:tc>
                  <a:txBody>
                    <a:bodyPr/>
                    <a:lstStyle/>
                    <a:p>
                      <a:r>
                        <a:rPr sz="700"/>
                        <a:t>0.902</a:t>
                      </a:r>
                    </a:p>
                  </a:txBody>
                  <a:tcPr/>
                </a:tc>
                <a:tc>
                  <a:txBody>
                    <a:bodyPr/>
                    <a:lstStyle/>
                    <a:p>
                      <a:r>
                        <a:rPr sz="700"/>
                        <a:t>0.787</a:t>
                      </a:r>
                    </a:p>
                  </a:txBody>
                  <a:tcPr/>
                </a:tc>
                <a:tc>
                  <a:txBody>
                    <a:bodyPr/>
                    <a:lstStyle/>
                    <a:p>
                      <a:r>
                        <a:rPr sz="700"/>
                        <a:t>0.902</a:t>
                      </a:r>
                    </a:p>
                  </a:txBody>
                  <a:tcPr/>
                </a:tc>
                <a:tc>
                  <a:txBody>
                    <a:bodyPr/>
                    <a:lstStyle/>
                    <a:p>
                      <a:r>
                        <a:rPr sz="700"/>
                        <a:t>3000</a:t>
                      </a:r>
                    </a:p>
                  </a:txBody>
                  <a:tcPr/>
                </a:tc>
                <a:tc>
                  <a:txBody>
                    <a:bodyPr/>
                    <a:lstStyle/>
                    <a:p>
                      <a:r>
                        <a:rPr sz="700"/>
                        <a:t>16</a:t>
                      </a:r>
                    </a:p>
                  </a:txBody>
                  <a:tcPr/>
                </a:tc>
              </a:tr>
              <a:tr h="320039">
                <a:tc>
                  <a:txBody>
                    <a:bodyPr/>
                    <a:lstStyle/>
                    <a:p>
                      <a:r>
                        <a:rPr sz="700"/>
                        <a:t>DND21 condition: dark 3 Hz</a:t>
                      </a:r>
                    </a:p>
                  </a:txBody>
                  <a:tcPr/>
                </a:tc>
                <a:tc>
                  <a:txBody>
                    <a:bodyPr/>
                    <a:lstStyle/>
                    <a:p>
                      <a:r>
                        <a:rPr sz="700"/>
                        <a:t>0.825</a:t>
                      </a:r>
                    </a:p>
                  </a:txBody>
                  <a:tcPr/>
                </a:tc>
                <a:tc>
                  <a:txBody>
                    <a:bodyPr/>
                    <a:lstStyle/>
                    <a:p>
                      <a:r>
                        <a:rPr sz="700"/>
                        <a:t>0.714</a:t>
                      </a:r>
                    </a:p>
                  </a:txBody>
                  <a:tcPr/>
                </a:tc>
                <a:tc>
                  <a:txBody>
                    <a:bodyPr/>
                    <a:lstStyle/>
                    <a:p>
                      <a:r>
                        <a:rPr sz="700"/>
                        <a:t>0.868</a:t>
                      </a:r>
                    </a:p>
                  </a:txBody>
                  <a:tcPr/>
                </a:tc>
                <a:tc>
                  <a:txBody>
                    <a:bodyPr/>
                    <a:lstStyle/>
                    <a:p>
                      <a:r>
                        <a:rPr sz="700"/>
                        <a:t>0.718</a:t>
                      </a:r>
                    </a:p>
                  </a:txBody>
                  <a:tcPr/>
                </a:tc>
                <a:tc>
                  <a:txBody>
                    <a:bodyPr/>
                    <a:lstStyle/>
                    <a:p>
                      <a:r>
                        <a:rPr sz="700"/>
                        <a:t>0.869</a:t>
                      </a:r>
                    </a:p>
                  </a:txBody>
                  <a:tcPr/>
                </a:tc>
                <a:tc>
                  <a:txBody>
                    <a:bodyPr/>
                    <a:lstStyle/>
                    <a:p>
                      <a:r>
                        <a:rPr sz="700"/>
                        <a:t>2808</a:t>
                      </a:r>
                    </a:p>
                  </a:txBody>
                  <a:tcPr/>
                </a:tc>
                <a:tc>
                  <a:txBody>
                    <a:bodyPr/>
                    <a:lstStyle/>
                    <a:p>
                      <a:r>
                        <a:rPr sz="700"/>
                        <a:t>16</a:t>
                      </a:r>
                    </a:p>
                  </a:txBody>
                  <a:tcPr/>
                </a:tc>
              </a:tr>
              <a:tr h="320039">
                <a:tc>
                  <a:txBody>
                    <a:bodyPr/>
                    <a:lstStyle/>
                    <a:p>
                      <a:r>
                        <a:rPr sz="700"/>
                        <a:t>DND21 condition: dark 5 Hz</a:t>
                      </a:r>
                    </a:p>
                  </a:txBody>
                  <a:tcPr/>
                </a:tc>
                <a:tc>
                  <a:txBody>
                    <a:bodyPr/>
                    <a:lstStyle/>
                    <a:p>
                      <a:r>
                        <a:rPr sz="700"/>
                        <a:t>0.815</a:t>
                      </a:r>
                    </a:p>
                  </a:txBody>
                  <a:tcPr/>
                </a:tc>
                <a:tc>
                  <a:txBody>
                    <a:bodyPr/>
                    <a:lstStyle/>
                    <a:p>
                      <a:r>
                        <a:rPr sz="700"/>
                        <a:t>0.698</a:t>
                      </a:r>
                    </a:p>
                  </a:txBody>
                  <a:tcPr/>
                </a:tc>
                <a:tc>
                  <a:txBody>
                    <a:bodyPr/>
                    <a:lstStyle/>
                    <a:p>
                      <a:r>
                        <a:rPr sz="700"/>
                        <a:t>0.840</a:t>
                      </a:r>
                    </a:p>
                  </a:txBody>
                  <a:tcPr/>
                </a:tc>
                <a:tc>
                  <a:txBody>
                    <a:bodyPr/>
                    <a:lstStyle/>
                    <a:p>
                      <a:r>
                        <a:rPr sz="700"/>
                        <a:t>0.698</a:t>
                      </a:r>
                    </a:p>
                  </a:txBody>
                  <a:tcPr/>
                </a:tc>
                <a:tc>
                  <a:txBody>
                    <a:bodyPr/>
                    <a:lstStyle/>
                    <a:p>
                      <a:r>
                        <a:rPr sz="700"/>
                        <a:t>0.839</a:t>
                      </a:r>
                    </a:p>
                  </a:txBody>
                  <a:tcPr/>
                </a:tc>
                <a:tc>
                  <a:txBody>
                    <a:bodyPr/>
                    <a:lstStyle/>
                    <a:p>
                      <a:r>
                        <a:rPr sz="700"/>
                        <a:t>2732</a:t>
                      </a:r>
                    </a:p>
                  </a:txBody>
                  <a:tcPr/>
                </a:tc>
                <a:tc>
                  <a:txBody>
                    <a:bodyPr/>
                    <a:lstStyle/>
                    <a:p>
                      <a:r>
                        <a:rPr sz="700"/>
                        <a:t>16</a:t>
                      </a:r>
                    </a:p>
                  </a:txBody>
                  <a:tcPr/>
                </a:tc>
              </a:tr>
              <a:tr h="320052">
                <a:tc>
                  <a:txBody>
                    <a:bodyPr/>
                    <a:lstStyle/>
                    <a:p>
                      <a:r>
                        <a:rPr sz="700"/>
                        <a:t>DND21, all mixtures</a:t>
                      </a:r>
                    </a:p>
                  </a:txBody>
                  <a:tcPr/>
                </a:tc>
                <a:tc>
                  <a:txBody>
                    <a:bodyPr/>
                    <a:lstStyle/>
                    <a:p>
                      <a:r>
                        <a:rPr sz="700"/>
                        <a:t>0.847</a:t>
                      </a:r>
                    </a:p>
                  </a:txBody>
                  <a:tcPr/>
                </a:tc>
                <a:tc>
                  <a:txBody>
                    <a:bodyPr/>
                    <a:lstStyle/>
                    <a:p>
                      <a:r>
                        <a:rPr sz="700"/>
                        <a:t>0.755</a:t>
                      </a:r>
                    </a:p>
                  </a:txBody>
                  <a:tcPr/>
                </a:tc>
                <a:tc>
                  <a:txBody>
                    <a:bodyPr/>
                    <a:lstStyle/>
                    <a:p>
                      <a:r>
                        <a:rPr sz="700"/>
                        <a:t>0.888</a:t>
                      </a:r>
                    </a:p>
                  </a:txBody>
                  <a:tcPr/>
                </a:tc>
                <a:tc>
                  <a:txBody>
                    <a:bodyPr/>
                    <a:lstStyle/>
                    <a:p>
                      <a:r>
                        <a:rPr sz="700"/>
                        <a:t>0.755</a:t>
                      </a:r>
                    </a:p>
                  </a:txBody>
                  <a:tcPr/>
                </a:tc>
                <a:tc>
                  <a:txBody>
                    <a:bodyPr/>
                    <a:lstStyle/>
                    <a:p>
                      <a:r>
                        <a:rPr sz="700"/>
                        <a:t>0.888</a:t>
                      </a:r>
                    </a:p>
                  </a:txBody>
                  <a:tcPr/>
                </a:tc>
                <a:tc>
                  <a:txBody>
                    <a:bodyPr/>
                    <a:lstStyle/>
                    <a:p>
                      <a:r>
                        <a:rPr sz="700"/>
                        <a:t>2901</a:t>
                      </a:r>
                    </a:p>
                  </a:txBody>
                  <a:tcPr/>
                </a:tc>
                <a:tc>
                  <a:txBody>
                    <a:bodyPr/>
                    <a:lstStyle/>
                    <a:p>
                      <a:r>
                        <a:rPr sz="700"/>
                        <a:t>80</a:t>
                      </a:r>
                    </a:p>
                  </a:txBody>
                  <a:tcPr/>
                </a:tc>
              </a:tr>
            </a:tbl>
          </a:graphicData>
        </a:graphic>
      </p:graphicFrame>
      <p:sp>
        <p:nvSpPr>
          <p:cNvPr id="4" name="TextBox 3"/>
          <p:cNvSpPr txBox="1"/>
          <p:nvPr/>
        </p:nvSpPr>
        <p:spPr>
          <a:xfrm>
            <a:off x="365760" y="5440680"/>
            <a:ext cx="11430000" cy="1234439"/>
          </a:xfrm>
          <a:prstGeom prst="rect">
            <a:avLst/>
          </a:prstGeom>
          <a:noFill/>
        </p:spPr>
        <p:txBody>
          <a:bodyPr wrap="square">
            <a:spAutoFit/>
          </a:bodyPr>
          <a:lstStyle/>
          <a:p>
            <a:r>
              <a:rPr sz="1100"/>
              <a:t>Table S7. Zero-shot transfer of the released AEDNet weights to EBSSA and DND21 (Section 4.3): mean ROC-AUC on stratified subsets of at most 1,500 signal and 1,500 background events per recording, next to the untuned proposal and YNoise at its published default on the same subsets and on the full streams. Rows: EBSSA by sensor and overall; DND21 by signal scene, by noise condition and overall. Events: mean number of scored events per recording. n: number of recordings or mixtures. Adaptations from the published protocol: CPU inference (official test_net.py is CUDA-only); sensor frame set to the recording sensor; 25x15 px neighbourhood kept; whole recording as one shape (official: 100000-event chunks); softmax noise probability used as a ranking score for ROC-AUC; stratified subset of &lt;= 1500 signal + 1500 noise events per recording. Environment: PyTorch 2.13.0+cpu, CUDA not available. Code https://github.com/Fanghuachen/AEDNet at commit 4fca5c5; weights SHA-256 e20c3da6c43345b8905380b62bc7f9ce4535fc2b135eb0f60096701651583e30.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