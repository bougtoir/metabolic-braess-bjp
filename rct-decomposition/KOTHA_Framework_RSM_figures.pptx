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/>
            </a:pPr>
            <a:r>
              <a:t>Fig. 1: Overview of the KOTHA Framework. Module K (Counterfactual Power Simulation) uses retrospective cohort data to quantify risk-profile shift and estimate power under counterfactual enrollment scenarios. Module T (Bayesian Evidence Integration) combines RCT and observational evidence using hierarchical models with power-prior discounting. Module H (Guideline Interpreter) synthesizes outputs from Modules K and T into a structured GRADE-compatible assessment for guideline committees. Arrows indicate data flow between modules.</a:t>
            </a:r>
          </a:p>
        </p:txBody>
      </p:sp>
      <p:pic>
        <p:nvPicPr>
          <p:cNvPr id="3" name="Picture 2" descr="fig1_framework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7295" cy="79295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/>
            </a:pPr>
            <a:r>
              <a:t>Fig. 2: Risk-profile shift in the magnesium-in-AMI case. (A) Control-group mortality rates over time, with bubble size proportional to study sample size. Colors indicate era classification. (B) Weighted mean control mortality by era, showing the decline from pre-thrombolysis to thrombolysis era.</a:t>
            </a:r>
          </a:p>
        </p:txBody>
      </p:sp>
      <p:pic>
        <p:nvPicPr>
          <p:cNvPr id="3" name="Picture 2" descr="fig2_risk_profile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7295" cy="46268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/>
            </a:pPr>
            <a:r>
              <a:t>Fig. 3: Estimated power by enrollment scenario and true effect size. (A) Magnesium in AMI at the ISIS-4 sample size (N = 58,050). (B) Statins in HF at the combined RCT sample size (N = 9,585). Horizontal dashed lines indicate 80% power threshold. S1 = real-world/observational event rate; S2 = RCT event rate; S3 = intermediate/enriched rate.</a:t>
            </a:r>
          </a:p>
        </p:txBody>
      </p:sp>
      <p:pic>
        <p:nvPicPr>
          <p:cNvPr id="3" name="Picture 2" descr="fig3_powe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7295" cy="47025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/>
            </a:pPr>
            <a:r>
              <a:t>Fig. 4: Forest plot for magnesium in AMI. Individual study odds ratios are shown with 95% confidence intervals, color-coded by era. Pooled estimates include frequentist random-effects (pre-ISIS-4 and all trials) and Bayesian integrated estimates at selected discounting levels (alpha = 0.3, 0.5, 1.0).</a:t>
            </a:r>
          </a:p>
        </p:txBody>
      </p:sp>
      <p:pic>
        <p:nvPicPr>
          <p:cNvPr id="3" name="Picture 2" descr="fig4_forest_plot_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7295" cy="118616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/>
            </a:pPr>
            <a:r>
              <a:t>Fig. 5: Sensitivity analysis of Bayesian integration to the discounting parameter alpha. (A) Magnesium in AMI. (B) Statins in HF. Three posterior probability thresholds are shown: P(effect &lt; 1.0), P(effect &lt; 0.90), and P(effect &lt; 0.80). Horizontal dashed line indicates 95% probability threshold.</a:t>
            </a:r>
          </a:p>
        </p:txBody>
      </p:sp>
      <p:pic>
        <p:nvPicPr>
          <p:cNvPr id="3" name="Picture 2" descr="fig7_sensitivity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7295" cy="46268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/>
            </a:pPr>
            <a:r>
              <a:t>Fig. 6: Forest plot for statins in heart failure. Individual study hazard ratios are shown with 95% confidence intervals, grouped by design (RCT vs. observational). Pooled estimates include design-specific frequentist pooling and KOTHA-integrated estimates at selected discounting levels (alpha = 0.1, 0.3, 0.5).</a:t>
            </a:r>
          </a:p>
        </p:txBody>
      </p:sp>
      <p:pic>
        <p:nvPicPr>
          <p:cNvPr id="3" name="Picture 2" descr="fig6_forest_stat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7295" cy="98491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/>
            </a:pPr>
            <a:r>
              <a:t>Fig. 7: Trial sequential analysis for magnesium in AMI. The cumulative Z-curve is plotted against cumulative events. Vertical dashed line indicates the optimal information size (OIS). Curved lines show O'Brien-Fleming monitoring boundaries. Key studies (LIMIT-2, ISIS-4) are annotated.</a:t>
            </a:r>
          </a:p>
        </p:txBody>
      </p:sp>
      <p:pic>
        <p:nvPicPr>
          <p:cNvPr id="3" name="Picture 2" descr="fig5_tsa_magnes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7295" cy="67456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/>
            </a:pPr>
            <a:r>
              <a:t>Fig. 8: Module H assessment comparison: standard GRADE vs. KOTHA-enhanced evaluation for both illustrative cases. Color coding indicates severity of concern (green = no concern, yellow = moderate, red = serious).</a:t>
            </a:r>
          </a:p>
        </p:txBody>
      </p:sp>
      <p:pic>
        <p:nvPicPr>
          <p:cNvPr id="3" name="Picture 2" descr="fig8_module_h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77295" cy="60899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