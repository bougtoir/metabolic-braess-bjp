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</a:t>
            </a:r>
          </a:p>
        </p:txBody>
      </p:sp>
      <p:pic>
        <p:nvPicPr>
          <p:cNvPr id="3" name="Picture 2" descr="capacity_utilis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831770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Capacity utilisation (%) for CT, MRI, endoscopy, specialist and primary care visits as the follow-up rate increases. Values above 100% indicate demand exceeding the illustrative annual capacity available for a direct-to-consumer screening wave.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</a:t>
            </a:r>
          </a:p>
        </p:txBody>
      </p:sp>
      <p:pic>
        <p:nvPicPr>
          <p:cNvPr id="3" name="Picture 2" descr="ppv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8865481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Age-specific positive predictive value for each cancer among adults aged 20 years and over, assuming sensitivity 0.70 and specificity 0.990 and using 2023 age-specific incidence as the prevalence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S1</a:t>
            </a:r>
          </a:p>
        </p:txBody>
      </p:sp>
      <p:pic>
        <p:nvPicPr>
          <p:cNvPr id="3" name="Picture 2" descr="total_visits_by_follow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8300836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Total downstream diagnostic, primary care and specialist visits generated by a blood-based MCED screening wave of 100,000 persons, by follow-up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S2</a:t>
            </a:r>
          </a:p>
        </p:txBody>
      </p:sp>
      <p:pic>
        <p:nvPicPr>
          <p:cNvPr id="3" name="Picture 2" descr="specificity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831770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False positives and total downstream visits per 100,000 screened across test specificity values (0.950-0.999) at a 50% follow-up 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S3</a:t>
            </a:r>
          </a:p>
        </p:txBody>
      </p:sp>
      <p:pic>
        <p:nvPicPr>
          <p:cNvPr id="3" name="Picture 2" descr="tornado_max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90228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Tornado diagram showing the effect of varying specificity, follow-up rate, available capacity share and sensitivity on maximum capacity utilisation (base case = 50% follow-up, 0.990 specificity, 0.70 sensitivity, 20% capacity share). Parameters are ordered by the width of their effect.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S4</a:t>
            </a:r>
          </a:p>
        </p:txBody>
      </p:sp>
      <p:pic>
        <p:nvPicPr>
          <p:cNvPr id="3" name="Picture 2" descr="tornad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902283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Tornado diagram showing the effect of the same four parameters on aggregate positive predictive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Supplementary Figure S5</a:t>
            </a:r>
          </a:p>
        </p:txBody>
      </p:sp>
      <p:pic>
        <p:nvPicPr>
          <p:cNvPr id="3" name="Picture 2" descr="age_scenario_pp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822960"/>
            <a:ext cx="944060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Aggregate positive predictive value for each cancer type under the 2023 national total-population distribution and four hypothetical direct-to-consumer purchaser age profiles.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